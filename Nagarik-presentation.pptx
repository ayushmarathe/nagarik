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3D5559"/>
                </a:solidFill>
                <a:latin typeface="Calibri"/>
              </a:defRPr>
            </a:pPr>
            <a:r>
              <a:rPr lang="en-US" sz="1000" b="0" i="0" u="none" strike="noStrike">
                <a:solidFill>
                  <a:srgbClr val="3D5559"/>
                </a:solidFill>
                <a:latin typeface="Calibri"/>
              </a:rPr>
              <a:t>Seeded reports by state — every state is populated</a:t>
            </a:r>
          </a:p>
        </c:rich>
      </c:tx>
      <c:overlay val="0"/>
    </c:title>
    <c:autoTitleDeleted val="0"/>
    <c:plotArea>
      <c:layout/>
      <c:barChart>
        <c:barDir val="bar"/>
        <c:grouping val="clustered"/>
        <c:varyColors val="0"/>
        <c:ser>
          <c:idx val="0"/>
          <c:order val="0"/>
          <c:tx>
            <c:strRef>
              <c:f>Sheet1!$B$1</c:f>
              <c:strCache>
                <c:ptCount val="1"/>
                <c:pt idx="0">
                  <c:v>Seeded reports</c:v>
                </c:pt>
              </c:strCache>
            </c:strRef>
          </c:tx>
          <c:spPr>
            <a:solidFill>
              <a:srgbClr val="0F7C8A"/>
            </a:solidFill>
            <a:effectLst/>
          </c:spPr>
          <c:invertIfNegative val="0"/>
          <c:dLbls>
            <c:numFmt formatCode="#,##0" sourceLinked="0"/>
            <c:spPr>
              <a:noFill/>
              <a:ln>
                <a:noFill/>
              </a:ln>
              <a:effectLst/>
            </c:spPr>
            <c:txPr>
              <a:bodyPr/>
              <a:lstStyle/>
              <a:p>
                <a:pPr>
                  <a:defRPr sz="900" b="0" i="0" u="none" strike="noStrike">
                    <a:solidFill>
                      <a:srgbClr val="3D555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Fixed</c:v>
                </c:pt>
                <c:pt idx="1">
                  <c:v>Still not fixed</c:v>
                </c:pt>
                <c:pt idx="2">
                  <c:v>Checking the fix</c:v>
                </c:pt>
                <c:pt idx="3">
                  <c:v>Work started</c:v>
                </c:pt>
                <c:pt idx="4">
                  <c:v>Acknowledged</c:v>
                </c:pt>
                <c:pt idx="5">
                  <c:v>Reported</c:v>
                </c:pt>
              </c:strCache>
            </c:strRef>
          </c:cat>
          <c:val>
            <c:numRef>
              <c:f>Sheet1!$B$2:$B$7</c:f>
              <c:numCache>
                <c:formatCode>General</c:formatCode>
                <c:ptCount val="6"/>
                <c:pt idx="0">
                  <c:v>2</c:v>
                </c:pt>
                <c:pt idx="1">
                  <c:v>1</c:v>
                </c:pt>
                <c:pt idx="2">
                  <c:v>2</c:v>
                </c:pt>
                <c:pt idx="3">
                  <c:v>2</c:v>
                </c:pt>
                <c:pt idx="4">
                  <c:v>2</c:v>
                </c:pt>
                <c:pt idx="5">
                  <c:v>5</c:v>
                </c:pt>
              </c:numCache>
            </c:numRef>
          </c:val>
          <c:extLst>
            <c:ext xmlns:c16="http://schemas.microsoft.com/office/drawing/2014/chart" uri="{C3380CC4-5D6E-409C-BE32-E72D297353CC}">
              <c16:uniqueId val="{00000000-2BDE-4C78-BBCA-ECB1BD62520D}"/>
            </c:ext>
          </c:extLst>
        </c:ser>
        <c:dLbls>
          <c:showLegendKey val="0"/>
          <c:showVal val="1"/>
          <c:showCatName val="0"/>
          <c:showSerName val="0"/>
          <c:showPercent val="0"/>
          <c:showBubbleSize val="0"/>
        </c:dLbls>
        <c:gapWidth val="44"/>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60" b="0" i="0" u="none" strike="noStrike">
                <a:solidFill>
                  <a:srgbClr val="3D5559"/>
                </a:solidFill>
                <a:latin typeface="Calibri"/>
              </a:defRPr>
            </a:pPr>
            <a:endParaRPr lang="en-US"/>
          </a:p>
        </c:txPr>
        <c:crossAx val="2094734552"/>
        <c:crosses val="autoZero"/>
        <c:auto val="1"/>
        <c:lblAlgn val="ctr"/>
        <c:lblOffset val="100"/>
        <c:noMultiLvlLbl val="1"/>
      </c:catAx>
      <c:valAx>
        <c:axId val="2094734552"/>
        <c:scaling>
          <c:orientation val="minMax"/>
          <c:max val="6"/>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1030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Nagarik is a civic issue board, but the thing that makes it different is the last step - after the ward marks a repair done, it goes to the people who reported it and they vote on whether it actually got fixed. Nagarik means citizen. Mention the stack in one breath and move on; there is a dedicated slide for it. Fill in your name and your guide name on the blank line before the viva.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to land here. First, backing is deliberately one-per-account and enforced by a unique constraint on the vote table, so the number means people, not clicks - that matters because the whole queue is ordered by it. Second, marking work done does not close a report. That is the design decision the whole project is built around, and the next few slides explain why. The four numbers on the right are from DataSeeder, which runs only when the issue table is empty.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most of your time on the dark panel at the bottom - it is the thesis of the project. The three cards above are the symptoms; the panel is the cause. If an examiner pushes on the third card, the honest framing is that the person who did the work is not a neutral judge of whether it worked, and no amount of good intent fixes that - it needs a different party to confirm. That different party is the people who backed the report, and that is exactly what the verification window implements.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six things that had to be true, not as a feature list. The fourth one is the novel objective; the other five exist to make it possible. The fifth is worth flagging as a design principle: role checks live in the Spring Security filter chain AND are re-checked inside IssueService, because hiding a button is not access control. If asked which objective was hardest, say the fourth - deciding what happens when nobody answers, or when the vote ties, is where most of the design time went.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to frame this honestly: this is general practice, not a comparison against one named product you benchmarked. If an examiner asks "which existing system did you study", say you looked at the common routes a complaint takes rather than a specific portal, and that the gap you targeted is structural - it is present in all four routes. The right-hand list is the specification for the proposed system, so the two slides read as problem and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Walk the four boxes left to right, then point at the strip underneath - the loop is what makes it a system rather than a form. Note that step four is the only one coloured in the accent: that is deliberate, it is the contribution. Expect the question "what stops a resident voting no forever to keep a report open". Answer: the window is time-boxed to seven days, only backers can vote, it is one vote per person and changeable, and if nobody reaches a majority the deadline resolves it in the ward’s favour.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Two things are worth calling out as deliberate choices rather than defaults. One: there are two separate single-page apps, not one app with a route - the dashboard is a second Vite entry point with its own stylesheet, because a reading feed and a dense worklist want opposite layouts. Two: JwtAuthFilter re-loads the user from the database on every request instead of trusting the role inside the token. That costs one primary-key lookup, and buys you a deleted account failing immediately and a role change taking effect on the next click rather than at token expiry. The API is stateless - no server session - so the token is the session.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here reward a follow-up question. The unique constraint on backing is the right answer to "how do you stop vote stuffing" - it is a database guarantee, so it holds even if someone calls the endpoint directly in a loop. And the quorum being min(5, backers) rather than a flat 5 matters: a report with three backers can never collect five answers, so a flat threshold would mean its window could never settle early and would always wait the full week. The verification module is highlighted because it is the original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reason ready for each choice rather than listing versions. The strongest honest answers: relational database because the integrity rules are uniqueness constraints and they belong where they cannot be bypassed; JWT because the API is stateless, which also means it does not care which instance a request lands on; plain CSS because the project has a specific visual identity - a nine-step type scale and category colours - and a component kit would have had to be overridden everywhere. If asked why not TypeScript: honest answer is scope, and that the API surface is small enough to hold in your head.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two UNIQUE constraints - they are the answer to most integrity questions. One on (issue, user) in vote means one backing per person; the same on confirmation means one verification answer per person, and because it is a row rather than a counter it can be changed while the window is open. Expect "why store confirmed_count on issue if you can count the rows". Honest answer: the dashboard sorts and filters on it, and counting rows per issue on every read of a paged list is a join you pay for on every request. The trade-off is that the tally has to be maintained in the same transaction as the row. app_user appears twice on issue - once as author, once as acknowledged_by.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an examiner will dig into, so know the three rules cold. Why a tie resolves in the ward’s favour: the alternative is that silence reopens work that may well have been done, and the report can still be reopened later by anyone who finds otherwise - so the cost of being wrong in that direction is lower. Why sweep-on-read instead of @Scheduled: no scheduler to run, nothing to coordinate if you ever run two instances, and a window that has expired cannot be observed as still open because the sweep runs before any read returns. The 30-second throttle stops a burst of traffic sweeping on every request. Also mention that the transitions are named methods - acknowledge, reschedule, startWork, markDone, reopen - rather than a setStatus, so there is no way to write an illegal jump like Reported straight to Fixed.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replace both panels with real screenshots before you present. Open preview.html and admin-preview.html from the project folder in any browser, screenshot them, and paste over these two groups - everything here is drawn to the real colours and real seeded content, but a live screenshot is always stronger in a viva. When you talk to it: point out that the backing count is the loudest thing on the resident card and the only place the accent colour is used, which is deliberate - it is the number the whole product turns on. On the dashboard side, point out that the five cards are filters, not decoration: clicking one jumps to that queue.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six. Pick the first one, say it in your own words, and offer the others if asked. The strongest single sentence is: the party that did the work cannot close the report alone. If you want one technical advantage to show depth, use the security one - default-deny means the failure mode of forgetting to secure a new endpoint is that it stops working, not that it leaks.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and do not oversell it. The most useful thing you can do here is be straight about the third card: email verification and password reset were consciously left out of this version, not forgotten, and you know they are required before real users. Examiners respond well to a student who can name a limitation precisely. The last card is a good note to end on because it is a consequence of a design decision you already made - a stateless token API needs no change to serve a mobile client.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sentence: the contribution is the verification step. Then stop talking and invite questions.
LIKELY VIVA QUESTIONS — short answers:
1. Why can only backers verify? They are the people who live with the problem and can actually see whether it was fixed. Checked live against the vote table, not a snapshot.
2. What if nobody votes? The seven-day deadline settles it, and silence counts in the ward’s favour; the report can still be reopened later.
3. What if the vote ties? It never settles early on a tie - the next answer breaks it. On the deadline a tie goes to the ward.
4. How do you stop one person backing many times? A UNIQUE constraint on (issue_id, user_id) in the vote table. Database-level, so calling the API directly does not help.
5. Why JWT and not sessions? The API is stateless; the token is the session. Also means no sticky sessions behind a load balancer.
6. Is the role inside the token trusted? No. JwtAuthFilter verifies the signature then loads the account by primary key, so a role change or a deletion takes effect on the next request.
7. Why two separate frontends? A feed built for reading and a worklist built for clearing want opposite layouts. Two Vite entry points, shared design tokens.
8. How are passwords stored? BCrypt at strength 10. A failed sign-in returns the same message whether the email is unknown or the password is wrong, and the unknown-email path still performs a comparison so the two take similar time.
9. Biggest limitation? No notifications and no password reset, so a resident has to return to the site to see progress.
10. What would you do differently? Add the ER constraints and the lifecycle test suite earlier - the transition rules were easy to get subtly wrong before they were named methods.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229"/>
        </a:solidFill>
        <a:effectLst/>
      </p:bgPr>
    </p:bg>
    <p:spTree>
      <p:nvGrpSpPr>
        <p:cNvPr id="1" name=""/>
        <p:cNvGrpSpPr/>
        <p:nvPr/>
      </p:nvGrpSpPr>
      <p:grpSpPr>
        <a:xfrm>
          <a:off x="0" y="0"/>
          <a:ext cx="0" cy="0"/>
          <a:chOff x="0" y="0"/>
          <a:chExt cx="0" cy="0"/>
        </a:xfrm>
      </p:grpSpPr>
      <p:sp>
        <p:nvSpPr>
          <p:cNvPr id="2" name="Shape 0"/>
          <p:cNvSpPr/>
          <p:nvPr/>
        </p:nvSpPr>
        <p:spPr>
          <a:xfrm>
            <a:off x="566928" y="1481328"/>
            <a:ext cx="786384" cy="786384"/>
          </a:xfrm>
          <a:prstGeom prst="ellipse">
            <a:avLst/>
          </a:prstGeom>
          <a:solidFill>
            <a:srgbClr val="0F7C8A"/>
          </a:solidFill>
          <a:ln/>
        </p:spPr>
      </p:sp>
      <p:pic>
        <p:nvPicPr>
          <p:cNvPr id="3" name="Image 0" descr="preencoded.png"/>
          <p:cNvPicPr>
            <a:picLocks noChangeAspect="1"/>
          </p:cNvPicPr>
          <p:nvPr/>
        </p:nvPicPr>
        <p:blipFill>
          <a:blip r:embed="rId3"/>
          <a:stretch>
            <a:fillRect/>
          </a:stretch>
        </p:blipFill>
        <p:spPr>
          <a:xfrm>
            <a:off x="749808" y="1664208"/>
            <a:ext cx="420624" cy="420624"/>
          </a:xfrm>
          <a:prstGeom prst="rect">
            <a:avLst/>
          </a:prstGeom>
        </p:spPr>
      </p:pic>
      <p:sp>
        <p:nvSpPr>
          <p:cNvPr id="4" name="Text 1"/>
          <p:cNvSpPr txBox="1"/>
          <p:nvPr/>
        </p:nvSpPr>
        <p:spPr>
          <a:xfrm>
            <a:off x="566928" y="2395728"/>
            <a:ext cx="11057839" cy="1060704"/>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Nagarik</a:t>
            </a:r>
            <a:endParaRPr lang="en-US" sz="6200" dirty="0"/>
          </a:p>
        </p:txBody>
      </p:sp>
      <p:sp>
        <p:nvSpPr>
          <p:cNvPr id="5" name="Text 2"/>
          <p:cNvSpPr txBox="1"/>
          <p:nvPr/>
        </p:nvSpPr>
        <p:spPr>
          <a:xfrm>
            <a:off x="566928" y="3511296"/>
            <a:ext cx="8686800" cy="768096"/>
          </a:xfrm>
          <a:prstGeom prst="rect">
            <a:avLst/>
          </a:prstGeom>
          <a:noFill/>
          <a:ln/>
        </p:spPr>
        <p:txBody>
          <a:bodyPr wrap="square" lIns="0" tIns="0" rIns="0" bIns="0" rtlCol="0" anchor="ctr"/>
          <a:lstStyle/>
          <a:p>
            <a:pPr marL="0" indent="0">
              <a:lnSpc>
                <a:spcPct val="120000"/>
              </a:lnSpc>
              <a:buNone/>
            </a:pPr>
            <a:r>
              <a:rPr lang="en-US" sz="1700" dirty="0">
                <a:solidFill>
                  <a:srgbClr val="9FBDC1"/>
                </a:solidFill>
                <a:latin typeface="Calibri" pitchFamily="34" charset="0"/>
                <a:ea typeface="Calibri" pitchFamily="34" charset="-122"/>
                <a:cs typeface="Calibri" pitchFamily="34" charset="-120"/>
              </a:rPr>
              <a:t>A neighbourhood issue board where a repair is not finished until the people who reported it say so</a:t>
            </a:r>
            <a:endParaRPr lang="en-US" sz="1700" dirty="0"/>
          </a:p>
        </p:txBody>
      </p:sp>
      <p:sp>
        <p:nvSpPr>
          <p:cNvPr id="6" name="Text 3"/>
          <p:cNvSpPr txBox="1"/>
          <p:nvPr/>
        </p:nvSpPr>
        <p:spPr>
          <a:xfrm>
            <a:off x="566928" y="4498848"/>
            <a:ext cx="11057839" cy="274320"/>
          </a:xfrm>
          <a:prstGeom prst="rect">
            <a:avLst/>
          </a:prstGeom>
          <a:noFill/>
          <a:ln/>
        </p:spPr>
        <p:txBody>
          <a:bodyPr wrap="square" lIns="0" tIns="0" rIns="0" bIns="0" rtlCol="0" anchor="ctr"/>
          <a:lstStyle/>
          <a:p>
            <a:pPr marL="0" indent="0">
              <a:buNone/>
            </a:pPr>
            <a:r>
              <a:rPr lang="en-US" sz="1250" b="1" dirty="0">
                <a:solidFill>
                  <a:srgbClr val="17A2AC"/>
                </a:solidFill>
                <a:latin typeface="Calibri" pitchFamily="34" charset="0"/>
                <a:ea typeface="Calibri" pitchFamily="34" charset="-122"/>
                <a:cs typeface="Calibri" pitchFamily="34" charset="-120"/>
              </a:rPr>
              <a:t>Spring Boot 3.2.5   ·   React 18   ·   PostgreSQL 16   ·   JWT + BCrypt</a:t>
            </a:r>
            <a:endParaRPr lang="en-US" sz="1250" dirty="0"/>
          </a:p>
        </p:txBody>
      </p:sp>
      <p:sp>
        <p:nvSpPr>
          <p:cNvPr id="7" name="Shape 4"/>
          <p:cNvSpPr/>
          <p:nvPr/>
        </p:nvSpPr>
        <p:spPr>
          <a:xfrm>
            <a:off x="566928" y="5138928"/>
            <a:ext cx="3840480" cy="0"/>
          </a:xfrm>
          <a:prstGeom prst="line">
            <a:avLst/>
          </a:prstGeom>
          <a:noFill/>
          <a:ln w="12700">
            <a:solidFill>
              <a:srgbClr val="1E474F"/>
            </a:solidFill>
            <a:prstDash val="solid"/>
          </a:ln>
        </p:spPr>
      </p:sp>
      <p:sp>
        <p:nvSpPr>
          <p:cNvPr id="8" name="Text 5"/>
          <p:cNvSpPr txBox="1"/>
          <p:nvPr/>
        </p:nvSpPr>
        <p:spPr>
          <a:xfrm>
            <a:off x="566928" y="5285232"/>
            <a:ext cx="11057839" cy="274320"/>
          </a:xfrm>
          <a:prstGeom prst="rect">
            <a:avLst/>
          </a:prstGeom>
          <a:noFill/>
          <a:ln/>
        </p:spPr>
        <p:txBody>
          <a:bodyPr wrap="square" lIns="0" tIns="0" rIns="0" bIns="0" rtlCol="0" anchor="ctr"/>
          <a:lstStyle/>
          <a:p>
            <a:pPr marL="0" indent="0">
              <a:buNone/>
            </a:pPr>
            <a:r>
              <a:rPr lang="en-US" sz="1100" dirty="0">
                <a:solidFill>
                  <a:srgbClr val="9FBDC1"/>
                </a:solidFill>
                <a:latin typeface="Calibri" pitchFamily="34" charset="0"/>
                <a:ea typeface="Calibri" pitchFamily="34" charset="-122"/>
                <a:cs typeface="Calibri" pitchFamily="34" charset="-120"/>
              </a:rPr>
              <a:t>Submitted by</a:t>
            </a:r>
            <a:r>
              <a:rPr lang="en-US" sz="1100" dirty="0">
                <a:solidFill>
                  <a:srgbClr val="000000"/>
                </a:solidFill>
                <a:latin typeface="Calibri" pitchFamily="34" charset="0"/>
                <a:ea typeface="Calibri" pitchFamily="34" charset="-122"/>
                <a:cs typeface="Calibri" pitchFamily="34" charset="-120"/>
              </a:rPr>
              <a:t>      </a:t>
            </a:r>
            <a:r>
              <a:rPr lang="en-US" sz="1100" dirty="0">
                <a:solidFill>
                  <a:srgbClr val="9FBDC1"/>
                </a:solidFill>
                <a:latin typeface="Calibri" pitchFamily="34" charset="0"/>
                <a:ea typeface="Calibri" pitchFamily="34" charset="-122"/>
                <a:cs typeface="Calibri" pitchFamily="34" charset="-120"/>
              </a:rPr>
              <a:t>Guide</a:t>
            </a:r>
            <a:endParaRPr lang="en-US" sz="1100" dirty="0"/>
          </a:p>
        </p:txBody>
      </p:sp>
      <p:sp>
        <p:nvSpPr>
          <p:cNvPr id="9" name="Text 6"/>
          <p:cNvSpPr txBox="1"/>
          <p:nvPr/>
        </p:nvSpPr>
        <p:spPr>
          <a:xfrm>
            <a:off x="566928" y="5596128"/>
            <a:ext cx="11057839" cy="274320"/>
          </a:xfrm>
          <a:prstGeom prst="rect">
            <a:avLst/>
          </a:prstGeom>
          <a:noFill/>
          <a:ln/>
        </p:spPr>
        <p:txBody>
          <a:bodyPr wrap="square" lIns="0" tIns="0" rIns="0" bIns="0" rtlCol="0" anchor="ctr"/>
          <a:lstStyle/>
          <a:p>
            <a:pPr marL="0" indent="0">
              <a:buNone/>
            </a:pPr>
            <a:r>
              <a:rPr lang="en-US" sz="1100" dirty="0">
                <a:solidFill>
                  <a:srgbClr val="6E9196"/>
                </a:solidFill>
                <a:latin typeface="Calibri" pitchFamily="34" charset="0"/>
                <a:ea typeface="Calibri" pitchFamily="34" charset="-122"/>
                <a:cs typeface="Calibri" pitchFamily="34" charset="-120"/>
              </a:rPr>
              <a:t>Department of Computer Science and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Introduction</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A board for local problems, with a verification step at the end of it.</a:t>
            </a:r>
            <a:endParaRPr lang="en-US" sz="1350" dirty="0"/>
          </a:p>
        </p:txBody>
      </p:sp>
      <p:sp>
        <p:nvSpPr>
          <p:cNvPr id="4" name="Text 2"/>
          <p:cNvSpPr txBox="1"/>
          <p:nvPr/>
        </p:nvSpPr>
        <p:spPr>
          <a:xfrm>
            <a:off x="566928" y="1627632"/>
            <a:ext cx="6400800" cy="1188720"/>
          </a:xfrm>
          <a:prstGeom prst="rect">
            <a:avLst/>
          </a:prstGeom>
          <a:noFill/>
          <a:ln/>
        </p:spPr>
        <p:txBody>
          <a:bodyPr wrap="square" lIns="0" tIns="0" rIns="0" bIns="0" rtlCol="0" anchor="ctr"/>
          <a:lstStyle/>
          <a:p>
            <a:pPr marL="0" indent="0">
              <a:lnSpc>
                <a:spcPct val="126000"/>
              </a:lnSpc>
              <a:buNone/>
            </a:pPr>
            <a:r>
              <a:rPr lang="en-US" sz="1350" dirty="0">
                <a:solidFill>
                  <a:srgbClr val="3D5559"/>
                </a:solidFill>
                <a:latin typeface="Calibri" pitchFamily="34" charset="0"/>
                <a:ea typeface="Calibri" pitchFamily="34" charset="-122"/>
                <a:cs typeface="Calibri" pitchFamily="34" charset="-120"/>
              </a:rPr>
              <a:t>Residents post a local problem - a dead street light, a week without water, a pothole at a school crossing - and other people in the same locality back it and discuss it. Backing is the signal: one account, one backing, so a count is a count of people rather than of clicks.</a:t>
            </a:r>
            <a:endParaRPr lang="en-US" sz="1350" dirty="0"/>
          </a:p>
        </p:txBody>
      </p:sp>
      <p:sp>
        <p:nvSpPr>
          <p:cNvPr id="5" name="Text 3"/>
          <p:cNvSpPr txBox="1"/>
          <p:nvPr/>
        </p:nvSpPr>
        <p:spPr>
          <a:xfrm>
            <a:off x="566928" y="2926080"/>
            <a:ext cx="6400800" cy="1280160"/>
          </a:xfrm>
          <a:prstGeom prst="rect">
            <a:avLst/>
          </a:prstGeom>
          <a:noFill/>
          <a:ln/>
        </p:spPr>
        <p:txBody>
          <a:bodyPr wrap="square" lIns="0" tIns="0" rIns="0" bIns="0" rtlCol="0" anchor="ctr"/>
          <a:lstStyle/>
          <a:p>
            <a:pPr marL="0" indent="0">
              <a:lnSpc>
                <a:spcPct val="126000"/>
              </a:lnSpc>
              <a:buNone/>
            </a:pPr>
            <a:r>
              <a:rPr lang="en-US" sz="1350" dirty="0">
                <a:solidFill>
                  <a:srgbClr val="3D5559"/>
                </a:solidFill>
                <a:latin typeface="Calibri" pitchFamily="34" charset="0"/>
                <a:ea typeface="Calibri" pitchFamily="34" charset="-122"/>
                <a:cs typeface="Calibri" pitchFamily="34" charset="-120"/>
              </a:rPr>
              <a:t>A ward moderator picks a report up and publishes a date the work will be done by. When the work is marked done, the report does not close - it moves into a seven-day window where only the people who backed it can say whether the fix held. The majority decides, and a rejected fix goes back on the moderator’s queue.</a:t>
            </a:r>
            <a:endParaRPr lang="en-US" sz="1350" dirty="0"/>
          </a:p>
        </p:txBody>
      </p:sp>
      <p:sp>
        <p:nvSpPr>
          <p:cNvPr id="6" name="Shape 4"/>
          <p:cNvSpPr/>
          <p:nvPr/>
        </p:nvSpPr>
        <p:spPr>
          <a:xfrm>
            <a:off x="7269480" y="1627632"/>
            <a:ext cx="4355287" cy="3931920"/>
          </a:xfrm>
          <a:prstGeom prst="roundRect">
            <a:avLst>
              <a:gd name="adj" fmla="val 2791"/>
            </a:avLst>
          </a:prstGeom>
          <a:solidFill>
            <a:srgbClr val="EDF4F4"/>
          </a:solidFill>
          <a:ln w="12700">
            <a:solidFill>
              <a:srgbClr val="D5E3E4"/>
            </a:solidFill>
            <a:prstDash val="solid"/>
          </a:ln>
        </p:spPr>
      </p:sp>
      <p:sp>
        <p:nvSpPr>
          <p:cNvPr id="7" name="Text 5"/>
          <p:cNvSpPr txBox="1"/>
          <p:nvPr/>
        </p:nvSpPr>
        <p:spPr>
          <a:xfrm>
            <a:off x="7543800" y="1828800"/>
            <a:ext cx="1939900" cy="566928"/>
          </a:xfrm>
          <a:prstGeom prst="rect">
            <a:avLst/>
          </a:prstGeom>
          <a:noFill/>
          <a:ln/>
        </p:spPr>
        <p:txBody>
          <a:bodyPr wrap="square" lIns="0" tIns="0" rIns="0" bIns="0" rtlCol="0" anchor="b"/>
          <a:lstStyle/>
          <a:p>
            <a:pPr marL="0" indent="0" algn="l">
              <a:buNone/>
            </a:pPr>
            <a:r>
              <a:rPr lang="en-US" sz="3800" b="1" dirty="0">
                <a:solidFill>
                  <a:srgbClr val="D98A1F"/>
                </a:solidFill>
                <a:latin typeface="Cambria" pitchFamily="34" charset="0"/>
                <a:ea typeface="Cambria" pitchFamily="34" charset="-122"/>
                <a:cs typeface="Cambria" pitchFamily="34" charset="-120"/>
              </a:rPr>
              <a:t>6</a:t>
            </a:r>
            <a:endParaRPr lang="en-US" sz="3800" dirty="0"/>
          </a:p>
        </p:txBody>
      </p:sp>
      <p:sp>
        <p:nvSpPr>
          <p:cNvPr id="8" name="Text 6"/>
          <p:cNvSpPr txBox="1"/>
          <p:nvPr/>
        </p:nvSpPr>
        <p:spPr>
          <a:xfrm>
            <a:off x="7543800" y="2414016"/>
            <a:ext cx="1939900" cy="402336"/>
          </a:xfrm>
          <a:prstGeom prst="rect">
            <a:avLst/>
          </a:prstGeom>
          <a:noFill/>
          <a:ln/>
        </p:spPr>
        <p:txBody>
          <a:bodyPr wrap="square" lIns="0" tIns="0" rIns="0" bIns="0" rtlCol="0" anchor="t"/>
          <a:lstStyle/>
          <a:p>
            <a:pPr marL="0" indent="0" algn="l">
              <a:buNone/>
            </a:pPr>
            <a:r>
              <a:rPr lang="en-US" sz="1050" dirty="0">
                <a:solidFill>
                  <a:srgbClr val="6D8589"/>
                </a:solidFill>
                <a:latin typeface="Calibri" pitchFamily="34" charset="0"/>
                <a:ea typeface="Calibri" pitchFamily="34" charset="-122"/>
                <a:cs typeface="Calibri" pitchFamily="34" charset="-120"/>
              </a:rPr>
              <a:t>lifecycle states a report</a:t>
            </a:r>
            <a:endParaRPr lang="en-US" sz="1050" dirty="0"/>
          </a:p>
          <a:p>
            <a:pPr marL="0" indent="0" algn="l">
              <a:buNone/>
            </a:pPr>
            <a:r>
              <a:rPr lang="en-US" sz="1050" dirty="0">
                <a:solidFill>
                  <a:srgbClr val="6D8589"/>
                </a:solidFill>
                <a:latin typeface="Calibri" pitchFamily="34" charset="0"/>
                <a:ea typeface="Calibri" pitchFamily="34" charset="-122"/>
                <a:cs typeface="Calibri" pitchFamily="34" charset="-120"/>
              </a:rPr>
              <a:t>can be in</a:t>
            </a:r>
            <a:endParaRPr lang="en-US" sz="1050" dirty="0"/>
          </a:p>
        </p:txBody>
      </p:sp>
      <p:sp>
        <p:nvSpPr>
          <p:cNvPr id="9" name="Text 7"/>
          <p:cNvSpPr txBox="1"/>
          <p:nvPr/>
        </p:nvSpPr>
        <p:spPr>
          <a:xfrm>
            <a:off x="9684868" y="1828800"/>
            <a:ext cx="1939900" cy="566928"/>
          </a:xfrm>
          <a:prstGeom prst="rect">
            <a:avLst/>
          </a:prstGeom>
          <a:noFill/>
          <a:ln/>
        </p:spPr>
        <p:txBody>
          <a:bodyPr wrap="square" lIns="0" tIns="0" rIns="0" bIns="0" rtlCol="0" anchor="b"/>
          <a:lstStyle/>
          <a:p>
            <a:pPr marL="0" indent="0" algn="l">
              <a:buNone/>
            </a:pPr>
            <a:r>
              <a:rPr lang="en-US" sz="3800" b="1" dirty="0">
                <a:solidFill>
                  <a:srgbClr val="D98A1F"/>
                </a:solidFill>
                <a:latin typeface="Cambria" pitchFamily="34" charset="0"/>
                <a:ea typeface="Cambria" pitchFamily="34" charset="-122"/>
                <a:cs typeface="Cambria" pitchFamily="34" charset="-120"/>
              </a:rPr>
              <a:t>7</a:t>
            </a:r>
            <a:endParaRPr lang="en-US" sz="3800" dirty="0"/>
          </a:p>
        </p:txBody>
      </p:sp>
      <p:sp>
        <p:nvSpPr>
          <p:cNvPr id="10" name="Text 8"/>
          <p:cNvSpPr txBox="1"/>
          <p:nvPr/>
        </p:nvSpPr>
        <p:spPr>
          <a:xfrm>
            <a:off x="9684868" y="2414016"/>
            <a:ext cx="1939900" cy="402336"/>
          </a:xfrm>
          <a:prstGeom prst="rect">
            <a:avLst/>
          </a:prstGeom>
          <a:noFill/>
          <a:ln/>
        </p:spPr>
        <p:txBody>
          <a:bodyPr wrap="square" lIns="0" tIns="0" rIns="0" bIns="0" rtlCol="0" anchor="t"/>
          <a:lstStyle/>
          <a:p>
            <a:pPr marL="0" indent="0" algn="l">
              <a:buNone/>
            </a:pPr>
            <a:r>
              <a:rPr lang="en-US" sz="1050" dirty="0">
                <a:solidFill>
                  <a:srgbClr val="6D8589"/>
                </a:solidFill>
                <a:latin typeface="Calibri" pitchFamily="34" charset="0"/>
                <a:ea typeface="Calibri" pitchFamily="34" charset="-122"/>
                <a:cs typeface="Calibri" pitchFamily="34" charset="-120"/>
              </a:rPr>
              <a:t>problem categories</a:t>
            </a:r>
            <a:endParaRPr lang="en-US" sz="1050" dirty="0"/>
          </a:p>
        </p:txBody>
      </p:sp>
      <p:sp>
        <p:nvSpPr>
          <p:cNvPr id="11" name="Text 9"/>
          <p:cNvSpPr txBox="1"/>
          <p:nvPr/>
        </p:nvSpPr>
        <p:spPr>
          <a:xfrm>
            <a:off x="7543800" y="3127248"/>
            <a:ext cx="1939900" cy="566928"/>
          </a:xfrm>
          <a:prstGeom prst="rect">
            <a:avLst/>
          </a:prstGeom>
          <a:noFill/>
          <a:ln/>
        </p:spPr>
        <p:txBody>
          <a:bodyPr wrap="square" lIns="0" tIns="0" rIns="0" bIns="0" rtlCol="0" anchor="b"/>
          <a:lstStyle/>
          <a:p>
            <a:pPr marL="0" indent="0" algn="l">
              <a:buNone/>
            </a:pPr>
            <a:r>
              <a:rPr lang="en-US" sz="3800" b="1" dirty="0">
                <a:solidFill>
                  <a:srgbClr val="D98A1F"/>
                </a:solidFill>
                <a:latin typeface="Cambria" pitchFamily="34" charset="0"/>
                <a:ea typeface="Cambria" pitchFamily="34" charset="-122"/>
                <a:cs typeface="Cambria" pitchFamily="34" charset="-120"/>
              </a:rPr>
              <a:t>14</a:t>
            </a:r>
            <a:endParaRPr lang="en-US" sz="3800" dirty="0"/>
          </a:p>
        </p:txBody>
      </p:sp>
      <p:sp>
        <p:nvSpPr>
          <p:cNvPr id="12" name="Text 10"/>
          <p:cNvSpPr txBox="1"/>
          <p:nvPr/>
        </p:nvSpPr>
        <p:spPr>
          <a:xfrm>
            <a:off x="7543800" y="3712464"/>
            <a:ext cx="1939900" cy="402336"/>
          </a:xfrm>
          <a:prstGeom prst="rect">
            <a:avLst/>
          </a:prstGeom>
          <a:noFill/>
          <a:ln/>
        </p:spPr>
        <p:txBody>
          <a:bodyPr wrap="square" lIns="0" tIns="0" rIns="0" bIns="0" rtlCol="0" anchor="t"/>
          <a:lstStyle/>
          <a:p>
            <a:pPr marL="0" indent="0" algn="l">
              <a:buNone/>
            </a:pPr>
            <a:r>
              <a:rPr lang="en-US" sz="1050" dirty="0">
                <a:solidFill>
                  <a:srgbClr val="6D8589"/>
                </a:solidFill>
                <a:latin typeface="Calibri" pitchFamily="34" charset="0"/>
                <a:ea typeface="Calibri" pitchFamily="34" charset="-122"/>
                <a:cs typeface="Calibri" pitchFamily="34" charset="-120"/>
              </a:rPr>
              <a:t>seeded reports, one in</a:t>
            </a:r>
            <a:endParaRPr lang="en-US" sz="1050" dirty="0"/>
          </a:p>
          <a:p>
            <a:pPr marL="0" indent="0" algn="l">
              <a:buNone/>
            </a:pPr>
            <a:r>
              <a:rPr lang="en-US" sz="1050" dirty="0">
                <a:solidFill>
                  <a:srgbClr val="6D8589"/>
                </a:solidFill>
                <a:latin typeface="Calibri" pitchFamily="34" charset="0"/>
                <a:ea typeface="Calibri" pitchFamily="34" charset="-122"/>
                <a:cs typeface="Calibri" pitchFamily="34" charset="-120"/>
              </a:rPr>
              <a:t>every state</a:t>
            </a:r>
            <a:endParaRPr lang="en-US" sz="1050" dirty="0"/>
          </a:p>
        </p:txBody>
      </p:sp>
      <p:sp>
        <p:nvSpPr>
          <p:cNvPr id="13" name="Text 11"/>
          <p:cNvSpPr txBox="1"/>
          <p:nvPr/>
        </p:nvSpPr>
        <p:spPr>
          <a:xfrm>
            <a:off x="9684868" y="3127248"/>
            <a:ext cx="1939900" cy="566928"/>
          </a:xfrm>
          <a:prstGeom prst="rect">
            <a:avLst/>
          </a:prstGeom>
          <a:noFill/>
          <a:ln/>
        </p:spPr>
        <p:txBody>
          <a:bodyPr wrap="square" lIns="0" tIns="0" rIns="0" bIns="0" rtlCol="0" anchor="b"/>
          <a:lstStyle/>
          <a:p>
            <a:pPr marL="0" indent="0" algn="l">
              <a:buNone/>
            </a:pPr>
            <a:r>
              <a:rPr lang="en-US" sz="3800" b="1" dirty="0">
                <a:solidFill>
                  <a:srgbClr val="D98A1F"/>
                </a:solidFill>
                <a:latin typeface="Cambria" pitchFamily="34" charset="0"/>
                <a:ea typeface="Cambria" pitchFamily="34" charset="-122"/>
                <a:cs typeface="Cambria" pitchFamily="34" charset="-120"/>
              </a:rPr>
              <a:t>151</a:t>
            </a:r>
            <a:endParaRPr lang="en-US" sz="3800" dirty="0"/>
          </a:p>
        </p:txBody>
      </p:sp>
      <p:sp>
        <p:nvSpPr>
          <p:cNvPr id="14" name="Text 12"/>
          <p:cNvSpPr txBox="1"/>
          <p:nvPr/>
        </p:nvSpPr>
        <p:spPr>
          <a:xfrm>
            <a:off x="9684868" y="3712464"/>
            <a:ext cx="1939900" cy="402336"/>
          </a:xfrm>
          <a:prstGeom prst="rect">
            <a:avLst/>
          </a:prstGeom>
          <a:noFill/>
          <a:ln/>
        </p:spPr>
        <p:txBody>
          <a:bodyPr wrap="square" lIns="0" tIns="0" rIns="0" bIns="0" rtlCol="0" anchor="t"/>
          <a:lstStyle/>
          <a:p>
            <a:pPr marL="0" indent="0" algn="l">
              <a:buNone/>
            </a:pPr>
            <a:r>
              <a:rPr lang="en-US" sz="1050" dirty="0">
                <a:solidFill>
                  <a:srgbClr val="6D8589"/>
                </a:solidFill>
                <a:latin typeface="Calibri" pitchFamily="34" charset="0"/>
                <a:ea typeface="Calibri" pitchFamily="34" charset="-122"/>
                <a:cs typeface="Calibri" pitchFamily="34" charset="-120"/>
              </a:rPr>
              <a:t>seeded accounts</a:t>
            </a:r>
            <a:endParaRPr lang="en-US" sz="1050" dirty="0"/>
          </a:p>
          <a:p>
            <a:pPr marL="0" indent="0" algn="l">
              <a:buNone/>
            </a:pPr>
            <a:r>
              <a:rPr lang="en-US" sz="1050" dirty="0">
                <a:solidFill>
                  <a:srgbClr val="6D8589"/>
                </a:solidFill>
                <a:latin typeface="Calibri" pitchFamily="34" charset="0"/>
                <a:ea typeface="Calibri" pitchFamily="34" charset="-122"/>
                <a:cs typeface="Calibri" pitchFamily="34" charset="-120"/>
              </a:rPr>
              <a:t>(150 + a moderator)</a:t>
            </a:r>
            <a:endParaRPr lang="en-US" sz="1050" dirty="0"/>
          </a:p>
        </p:txBody>
      </p:sp>
      <p:sp>
        <p:nvSpPr>
          <p:cNvPr id="15" name="Text 13"/>
          <p:cNvSpPr txBox="1"/>
          <p:nvPr/>
        </p:nvSpPr>
        <p:spPr>
          <a:xfrm>
            <a:off x="7543800" y="5047488"/>
            <a:ext cx="3806647" cy="420624"/>
          </a:xfrm>
          <a:prstGeom prst="rect">
            <a:avLst/>
          </a:prstGeom>
          <a:noFill/>
          <a:ln/>
        </p:spPr>
        <p:txBody>
          <a:bodyPr wrap="square" lIns="0" tIns="0" rIns="0" bIns="0" rtlCol="0" anchor="ctr"/>
          <a:lstStyle/>
          <a:p>
            <a:pPr marL="0" indent="0">
              <a:lnSpc>
                <a:spcPct val="110000"/>
              </a:lnSpc>
              <a:buNone/>
            </a:pPr>
            <a:r>
              <a:rPr lang="en-US" sz="1000" i="1" dirty="0">
                <a:solidFill>
                  <a:srgbClr val="6D8589"/>
                </a:solidFill>
                <a:latin typeface="Calibri" pitchFamily="34" charset="0"/>
                <a:ea typeface="Calibri" pitchFamily="34" charset="-122"/>
                <a:cs typeface="Calibri" pitchFamily="34" charset="-120"/>
              </a:rPr>
              <a:t>Seed data ships with the app so every screen has something real in it on first run.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Problem statement</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Reporting a local problem is easy. Finding out what happened to it is not.</a:t>
            </a:r>
            <a:endParaRPr lang="en-US" sz="1350" dirty="0"/>
          </a:p>
        </p:txBody>
      </p:sp>
      <p:sp>
        <p:nvSpPr>
          <p:cNvPr id="4" name="Shape 2"/>
          <p:cNvSpPr/>
          <p:nvPr/>
        </p:nvSpPr>
        <p:spPr>
          <a:xfrm>
            <a:off x="566928" y="1645920"/>
            <a:ext cx="3533546" cy="1920240"/>
          </a:xfrm>
          <a:prstGeom prst="roundRect">
            <a:avLst>
              <a:gd name="adj" fmla="val 4762"/>
            </a:avLst>
          </a:prstGeom>
          <a:solidFill>
            <a:srgbClr val="EDF4F4"/>
          </a:solidFill>
          <a:ln w="12700">
            <a:solidFill>
              <a:srgbClr val="D5E3E4"/>
            </a:solidFill>
            <a:prstDash val="solid"/>
          </a:ln>
        </p:spPr>
      </p:sp>
      <p:sp>
        <p:nvSpPr>
          <p:cNvPr id="5" name="Shape 3"/>
          <p:cNvSpPr/>
          <p:nvPr/>
        </p:nvSpPr>
        <p:spPr>
          <a:xfrm>
            <a:off x="804672" y="1883664"/>
            <a:ext cx="420624" cy="420624"/>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03519" y="1982511"/>
            <a:ext cx="222931" cy="222931"/>
          </a:xfrm>
          <a:prstGeom prst="rect">
            <a:avLst/>
          </a:prstGeom>
        </p:spPr>
      </p:pic>
      <p:sp>
        <p:nvSpPr>
          <p:cNvPr id="7" name="Text 4"/>
          <p:cNvSpPr txBox="1"/>
          <p:nvPr/>
        </p:nvSpPr>
        <p:spPr>
          <a:xfrm>
            <a:off x="1353312" y="1856232"/>
            <a:ext cx="2509418" cy="457200"/>
          </a:xfrm>
          <a:prstGeom prst="rect">
            <a:avLst/>
          </a:prstGeom>
          <a:noFill/>
          <a:ln/>
        </p:spPr>
        <p:txBody>
          <a:bodyPr wrap="square" lIns="0" tIns="0" rIns="0" bIns="0" rtlCol="0" anchor="ctr"/>
          <a:lstStyle/>
          <a:p>
            <a:pPr marL="0" indent="0">
              <a:buNone/>
            </a:pPr>
            <a:r>
              <a:rPr lang="en-US" sz="1450" b="1" dirty="0">
                <a:solidFill>
                  <a:srgbClr val="0B1F22"/>
                </a:solidFill>
                <a:latin typeface="Cambria" pitchFamily="34" charset="0"/>
                <a:ea typeface="Cambria" pitchFamily="34" charset="-122"/>
                <a:cs typeface="Cambria" pitchFamily="34" charset="-120"/>
              </a:rPr>
              <a:t>No way to follow it</a:t>
            </a:r>
            <a:endParaRPr lang="en-US" sz="1450" dirty="0"/>
          </a:p>
        </p:txBody>
      </p:sp>
      <p:sp>
        <p:nvSpPr>
          <p:cNvPr id="8" name="Text 5"/>
          <p:cNvSpPr txBox="1"/>
          <p:nvPr/>
        </p:nvSpPr>
        <p:spPr>
          <a:xfrm>
            <a:off x="804672" y="2395728"/>
            <a:ext cx="3058058" cy="932688"/>
          </a:xfrm>
          <a:prstGeom prst="rect">
            <a:avLst/>
          </a:prstGeom>
          <a:noFill/>
          <a:ln/>
        </p:spPr>
        <p:txBody>
          <a:bodyPr wrap="square" lIns="0" tIns="0" rIns="0" bIns="0" rtlCol="0" anchor="t"/>
          <a:lstStyle/>
          <a:p>
            <a:pPr marL="0" indent="0">
              <a:lnSpc>
                <a:spcPct val="116000"/>
              </a:lnSpc>
              <a:buNone/>
            </a:pPr>
            <a:r>
              <a:rPr lang="en-US" sz="1150" dirty="0">
                <a:solidFill>
                  <a:srgbClr val="3D5559"/>
                </a:solidFill>
                <a:latin typeface="Calibri" pitchFamily="34" charset="0"/>
                <a:ea typeface="Calibri" pitchFamily="34" charset="-122"/>
                <a:cs typeface="Calibri" pitchFamily="34" charset="-120"/>
              </a:rPr>
              <a:t>A complaint made by phone or on paper leaves the resident with nothing to check. There is no reference to return to and no status to read, so the only way to find out is to ask again.</a:t>
            </a:r>
            <a:endParaRPr lang="en-US" sz="1150" dirty="0"/>
          </a:p>
        </p:txBody>
      </p:sp>
      <p:sp>
        <p:nvSpPr>
          <p:cNvPr id="9" name="Shape 6"/>
          <p:cNvSpPr/>
          <p:nvPr/>
        </p:nvSpPr>
        <p:spPr>
          <a:xfrm>
            <a:off x="4329074" y="1645920"/>
            <a:ext cx="3533546" cy="1920240"/>
          </a:xfrm>
          <a:prstGeom prst="roundRect">
            <a:avLst>
              <a:gd name="adj" fmla="val 4762"/>
            </a:avLst>
          </a:prstGeom>
          <a:solidFill>
            <a:srgbClr val="EDF4F4"/>
          </a:solidFill>
          <a:ln w="12700">
            <a:solidFill>
              <a:srgbClr val="D5E3E4"/>
            </a:solidFill>
            <a:prstDash val="solid"/>
          </a:ln>
        </p:spPr>
      </p:sp>
      <p:sp>
        <p:nvSpPr>
          <p:cNvPr id="10" name="Shape 7"/>
          <p:cNvSpPr/>
          <p:nvPr/>
        </p:nvSpPr>
        <p:spPr>
          <a:xfrm>
            <a:off x="4566818" y="1883664"/>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4665665" y="1982511"/>
            <a:ext cx="222931" cy="222931"/>
          </a:xfrm>
          <a:prstGeom prst="rect">
            <a:avLst/>
          </a:prstGeom>
        </p:spPr>
      </p:pic>
      <p:sp>
        <p:nvSpPr>
          <p:cNvPr id="12" name="Text 8"/>
          <p:cNvSpPr txBox="1"/>
          <p:nvPr/>
        </p:nvSpPr>
        <p:spPr>
          <a:xfrm>
            <a:off x="5115458" y="1856232"/>
            <a:ext cx="2509418" cy="457200"/>
          </a:xfrm>
          <a:prstGeom prst="rect">
            <a:avLst/>
          </a:prstGeom>
          <a:noFill/>
          <a:ln/>
        </p:spPr>
        <p:txBody>
          <a:bodyPr wrap="square" lIns="0" tIns="0" rIns="0" bIns="0" rtlCol="0" anchor="ctr"/>
          <a:lstStyle/>
          <a:p>
            <a:pPr marL="0" indent="0">
              <a:buNone/>
            </a:pPr>
            <a:r>
              <a:rPr lang="en-US" sz="1450" b="1" dirty="0">
                <a:solidFill>
                  <a:srgbClr val="0B1F22"/>
                </a:solidFill>
                <a:latin typeface="Cambria" pitchFamily="34" charset="0"/>
                <a:ea typeface="Cambria" pitchFamily="34" charset="-122"/>
                <a:cs typeface="Cambria" pitchFamily="34" charset="-120"/>
              </a:rPr>
              <a:t>No shared picture</a:t>
            </a:r>
            <a:endParaRPr lang="en-US" sz="1450" dirty="0"/>
          </a:p>
        </p:txBody>
      </p:sp>
      <p:sp>
        <p:nvSpPr>
          <p:cNvPr id="13" name="Text 9"/>
          <p:cNvSpPr txBox="1"/>
          <p:nvPr/>
        </p:nvSpPr>
        <p:spPr>
          <a:xfrm>
            <a:off x="4566818" y="2395728"/>
            <a:ext cx="3058058" cy="932688"/>
          </a:xfrm>
          <a:prstGeom prst="rect">
            <a:avLst/>
          </a:prstGeom>
          <a:noFill/>
          <a:ln/>
        </p:spPr>
        <p:txBody>
          <a:bodyPr wrap="square" lIns="0" tIns="0" rIns="0" bIns="0" rtlCol="0" anchor="t"/>
          <a:lstStyle/>
          <a:p>
            <a:pPr marL="0" indent="0">
              <a:lnSpc>
                <a:spcPct val="116000"/>
              </a:lnSpc>
              <a:buNone/>
            </a:pPr>
            <a:r>
              <a:rPr lang="en-US" sz="1150" dirty="0">
                <a:solidFill>
                  <a:srgbClr val="3D5559"/>
                </a:solidFill>
                <a:latin typeface="Calibri" pitchFamily="34" charset="0"/>
                <a:ea typeface="Calibri" pitchFamily="34" charset="-122"/>
                <a:cs typeface="Calibri" pitchFamily="34" charset="-120"/>
              </a:rPr>
              <a:t>One neighbour calling is an anecdote. Thirty neighbours reporting the same junction is evidence - but scattered calls and separate social media posts never add up into that number.</a:t>
            </a:r>
            <a:endParaRPr lang="en-US" sz="1150" dirty="0"/>
          </a:p>
        </p:txBody>
      </p:sp>
      <p:sp>
        <p:nvSpPr>
          <p:cNvPr id="14" name="Shape 10"/>
          <p:cNvSpPr/>
          <p:nvPr/>
        </p:nvSpPr>
        <p:spPr>
          <a:xfrm>
            <a:off x="8091221" y="1645920"/>
            <a:ext cx="3533546" cy="1920240"/>
          </a:xfrm>
          <a:prstGeom prst="roundRect">
            <a:avLst>
              <a:gd name="adj" fmla="val 4762"/>
            </a:avLst>
          </a:prstGeom>
          <a:solidFill>
            <a:srgbClr val="EDF4F4"/>
          </a:solidFill>
          <a:ln w="12700">
            <a:solidFill>
              <a:srgbClr val="D5E3E4"/>
            </a:solidFill>
            <a:prstDash val="solid"/>
          </a:ln>
        </p:spPr>
      </p:sp>
      <p:sp>
        <p:nvSpPr>
          <p:cNvPr id="15" name="Shape 11"/>
          <p:cNvSpPr/>
          <p:nvPr/>
        </p:nvSpPr>
        <p:spPr>
          <a:xfrm>
            <a:off x="8328965" y="1883664"/>
            <a:ext cx="420624" cy="420624"/>
          </a:xfrm>
          <a:prstGeom prst="ellipse">
            <a:avLst/>
          </a:prstGeom>
          <a:solidFill>
            <a:srgbClr val="BB3B32"/>
          </a:solidFill>
          <a:ln/>
        </p:spPr>
      </p:sp>
      <p:pic>
        <p:nvPicPr>
          <p:cNvPr id="16" name="Image 2" descr="preencoded.png"/>
          <p:cNvPicPr>
            <a:picLocks noChangeAspect="1"/>
          </p:cNvPicPr>
          <p:nvPr/>
        </p:nvPicPr>
        <p:blipFill>
          <a:blip r:embed="rId5"/>
          <a:stretch>
            <a:fillRect/>
          </a:stretch>
        </p:blipFill>
        <p:spPr>
          <a:xfrm>
            <a:off x="8427811" y="1982511"/>
            <a:ext cx="222931" cy="222931"/>
          </a:xfrm>
          <a:prstGeom prst="rect">
            <a:avLst/>
          </a:prstGeom>
        </p:spPr>
      </p:pic>
      <p:sp>
        <p:nvSpPr>
          <p:cNvPr id="17" name="Text 12"/>
          <p:cNvSpPr txBox="1"/>
          <p:nvPr/>
        </p:nvSpPr>
        <p:spPr>
          <a:xfrm>
            <a:off x="8877605" y="1856232"/>
            <a:ext cx="2509418" cy="457200"/>
          </a:xfrm>
          <a:prstGeom prst="rect">
            <a:avLst/>
          </a:prstGeom>
          <a:noFill/>
          <a:ln/>
        </p:spPr>
        <p:txBody>
          <a:bodyPr wrap="square" lIns="0" tIns="0" rIns="0" bIns="0" rtlCol="0" anchor="ctr"/>
          <a:lstStyle/>
          <a:p>
            <a:pPr marL="0" indent="0">
              <a:buNone/>
            </a:pPr>
            <a:r>
              <a:rPr lang="en-US" sz="1450" b="1" dirty="0">
                <a:solidFill>
                  <a:srgbClr val="0B1F22"/>
                </a:solidFill>
                <a:latin typeface="Cambria" pitchFamily="34" charset="0"/>
                <a:ea typeface="Cambria" pitchFamily="34" charset="-122"/>
                <a:cs typeface="Cambria" pitchFamily="34" charset="-120"/>
              </a:rPr>
              <a:t>Done is self-declared</a:t>
            </a:r>
            <a:endParaRPr lang="en-US" sz="1450" dirty="0"/>
          </a:p>
        </p:txBody>
      </p:sp>
      <p:sp>
        <p:nvSpPr>
          <p:cNvPr id="18" name="Text 13"/>
          <p:cNvSpPr txBox="1"/>
          <p:nvPr/>
        </p:nvSpPr>
        <p:spPr>
          <a:xfrm>
            <a:off x="8328965" y="2395728"/>
            <a:ext cx="3058058" cy="932688"/>
          </a:xfrm>
          <a:prstGeom prst="rect">
            <a:avLst/>
          </a:prstGeom>
          <a:noFill/>
          <a:ln/>
        </p:spPr>
        <p:txBody>
          <a:bodyPr wrap="square" lIns="0" tIns="0" rIns="0" bIns="0" rtlCol="0" anchor="t"/>
          <a:lstStyle/>
          <a:p>
            <a:pPr marL="0" indent="0">
              <a:lnSpc>
                <a:spcPct val="116000"/>
              </a:lnSpc>
              <a:buNone/>
            </a:pPr>
            <a:r>
              <a:rPr lang="en-US" sz="1150" dirty="0">
                <a:solidFill>
                  <a:srgbClr val="3D5559"/>
                </a:solidFill>
                <a:latin typeface="Calibri" pitchFamily="34" charset="0"/>
                <a:ea typeface="Calibri" pitchFamily="34" charset="-122"/>
                <a:cs typeface="Calibri" pitchFamily="34" charset="-120"/>
              </a:rPr>
              <a:t>Whoever did the work also decides it is finished. Nobody asks the people who raised it, so a bin emptied but not the spill, or a light that still flickers, is recorded as resolved.</a:t>
            </a:r>
            <a:endParaRPr lang="en-US" sz="1150" dirty="0"/>
          </a:p>
        </p:txBody>
      </p:sp>
      <p:sp>
        <p:nvSpPr>
          <p:cNvPr id="19" name="Shape 14"/>
          <p:cNvSpPr/>
          <p:nvPr/>
        </p:nvSpPr>
        <p:spPr>
          <a:xfrm>
            <a:off x="566928" y="3858768"/>
            <a:ext cx="11057839" cy="1609344"/>
          </a:xfrm>
          <a:prstGeom prst="roundRect">
            <a:avLst>
              <a:gd name="adj" fmla="val 7955"/>
            </a:avLst>
          </a:prstGeom>
          <a:solidFill>
            <a:srgbClr val="062229"/>
          </a:solidFill>
          <a:ln/>
        </p:spPr>
      </p:sp>
      <p:sp>
        <p:nvSpPr>
          <p:cNvPr id="20" name="Shape 15"/>
          <p:cNvSpPr/>
          <p:nvPr/>
        </p:nvSpPr>
        <p:spPr>
          <a:xfrm>
            <a:off x="950976" y="4242816"/>
            <a:ext cx="512064" cy="512064"/>
          </a:xfrm>
          <a:prstGeom prst="ellipse">
            <a:avLst/>
          </a:prstGeom>
          <a:solidFill>
            <a:srgbClr val="D98A1F"/>
          </a:solidFill>
          <a:ln/>
        </p:spPr>
      </p:sp>
      <p:pic>
        <p:nvPicPr>
          <p:cNvPr id="21" name="Image 3" descr="preencoded.png"/>
          <p:cNvPicPr>
            <a:picLocks noChangeAspect="1"/>
          </p:cNvPicPr>
          <p:nvPr/>
        </p:nvPicPr>
        <p:blipFill>
          <a:blip r:embed="rId6"/>
          <a:stretch>
            <a:fillRect/>
          </a:stretch>
        </p:blipFill>
        <p:spPr>
          <a:xfrm>
            <a:off x="1071311" y="4363151"/>
            <a:ext cx="271394" cy="271394"/>
          </a:xfrm>
          <a:prstGeom prst="rect">
            <a:avLst/>
          </a:prstGeom>
        </p:spPr>
      </p:pic>
      <p:sp>
        <p:nvSpPr>
          <p:cNvPr id="22" name="Text 16"/>
          <p:cNvSpPr txBox="1"/>
          <p:nvPr/>
        </p:nvSpPr>
        <p:spPr>
          <a:xfrm>
            <a:off x="1627632" y="4206240"/>
            <a:ext cx="9594799" cy="310896"/>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gap this project addresses</a:t>
            </a:r>
            <a:endParaRPr lang="en-US" sz="1500" dirty="0"/>
          </a:p>
        </p:txBody>
      </p:sp>
      <p:sp>
        <p:nvSpPr>
          <p:cNvPr id="23" name="Text 17"/>
          <p:cNvSpPr txBox="1"/>
          <p:nvPr/>
        </p:nvSpPr>
        <p:spPr>
          <a:xfrm>
            <a:off x="1627632" y="4553712"/>
            <a:ext cx="9503359" cy="731520"/>
          </a:xfrm>
          <a:prstGeom prst="rect">
            <a:avLst/>
          </a:prstGeom>
          <a:noFill/>
          <a:ln/>
        </p:spPr>
        <p:txBody>
          <a:bodyPr wrap="square" lIns="0" tIns="0" rIns="0" bIns="0" rtlCol="0" anchor="ctr"/>
          <a:lstStyle/>
          <a:p>
            <a:pPr marL="0" indent="0">
              <a:lnSpc>
                <a:spcPct val="120000"/>
              </a:lnSpc>
              <a:buNone/>
            </a:pPr>
            <a:r>
              <a:rPr lang="en-US" sz="1300" dirty="0">
                <a:solidFill>
                  <a:srgbClr val="9FBDC1"/>
                </a:solidFill>
                <a:latin typeface="Calibri" pitchFamily="34" charset="0"/>
                <a:ea typeface="Calibri" pitchFamily="34" charset="-122"/>
                <a:cs typeface="Calibri" pitchFamily="34" charset="-120"/>
              </a:rPr>
              <a:t>There is no step between "the ward says it is fixed" and "it is closed" in which the people who live with the problem get to disagree. Without that step, a completion rate measures paperwork rather than repairs.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Objectives</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What the system has to do for the idea to work.</a:t>
            </a:r>
            <a:endParaRPr lang="en-US" sz="1350" dirty="0"/>
          </a:p>
        </p:txBody>
      </p:sp>
      <p:sp>
        <p:nvSpPr>
          <p:cNvPr id="4" name="Shape 2"/>
          <p:cNvSpPr/>
          <p:nvPr/>
        </p:nvSpPr>
        <p:spPr>
          <a:xfrm>
            <a:off x="566928" y="1645920"/>
            <a:ext cx="3533546" cy="1755648"/>
          </a:xfrm>
          <a:prstGeom prst="roundRect">
            <a:avLst>
              <a:gd name="adj" fmla="val 5208"/>
            </a:avLst>
          </a:prstGeom>
          <a:solidFill>
            <a:srgbClr val="EDF4F4"/>
          </a:solidFill>
          <a:ln w="12700">
            <a:solidFill>
              <a:srgbClr val="D5E3E4"/>
            </a:solidFill>
            <a:prstDash val="solid"/>
          </a:ln>
        </p:spPr>
      </p:sp>
      <p:sp>
        <p:nvSpPr>
          <p:cNvPr id="5" name="Shape 3"/>
          <p:cNvSpPr/>
          <p:nvPr/>
        </p:nvSpPr>
        <p:spPr>
          <a:xfrm>
            <a:off x="804672" y="1883664"/>
            <a:ext cx="420624" cy="420624"/>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03519" y="1982511"/>
            <a:ext cx="222931" cy="222931"/>
          </a:xfrm>
          <a:prstGeom prst="rect">
            <a:avLst/>
          </a:prstGeom>
        </p:spPr>
      </p:pic>
      <p:sp>
        <p:nvSpPr>
          <p:cNvPr id="7" name="Text 4"/>
          <p:cNvSpPr txBox="1"/>
          <p:nvPr/>
        </p:nvSpPr>
        <p:spPr>
          <a:xfrm>
            <a:off x="1353312" y="185623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Collect reports in one place</a:t>
            </a:r>
            <a:endParaRPr lang="en-US" sz="1350" dirty="0"/>
          </a:p>
        </p:txBody>
      </p:sp>
      <p:sp>
        <p:nvSpPr>
          <p:cNvPr id="8" name="Text 5"/>
          <p:cNvSpPr txBox="1"/>
          <p:nvPr/>
        </p:nvSpPr>
        <p:spPr>
          <a:xfrm>
            <a:off x="804672" y="2395728"/>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Let any resident post a problem under a fixed set of categories with a locality, so related reports are findable rather than scattered.</a:t>
            </a:r>
            <a:endParaRPr lang="en-US" sz="1100" dirty="0"/>
          </a:p>
        </p:txBody>
      </p:sp>
      <p:sp>
        <p:nvSpPr>
          <p:cNvPr id="9" name="Shape 6"/>
          <p:cNvSpPr/>
          <p:nvPr/>
        </p:nvSpPr>
        <p:spPr>
          <a:xfrm>
            <a:off x="4329074" y="1645920"/>
            <a:ext cx="3533546" cy="1755648"/>
          </a:xfrm>
          <a:prstGeom prst="roundRect">
            <a:avLst>
              <a:gd name="adj" fmla="val 5208"/>
            </a:avLst>
          </a:prstGeom>
          <a:solidFill>
            <a:srgbClr val="EDF4F4"/>
          </a:solidFill>
          <a:ln w="12700">
            <a:solidFill>
              <a:srgbClr val="D5E3E4"/>
            </a:solidFill>
            <a:prstDash val="solid"/>
          </a:ln>
        </p:spPr>
      </p:sp>
      <p:sp>
        <p:nvSpPr>
          <p:cNvPr id="10" name="Shape 7"/>
          <p:cNvSpPr/>
          <p:nvPr/>
        </p:nvSpPr>
        <p:spPr>
          <a:xfrm>
            <a:off x="4566818" y="1883664"/>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4665665" y="1982511"/>
            <a:ext cx="222931" cy="222931"/>
          </a:xfrm>
          <a:prstGeom prst="rect">
            <a:avLst/>
          </a:prstGeom>
        </p:spPr>
      </p:pic>
      <p:sp>
        <p:nvSpPr>
          <p:cNvPr id="12" name="Text 8"/>
          <p:cNvSpPr txBox="1"/>
          <p:nvPr/>
        </p:nvSpPr>
        <p:spPr>
          <a:xfrm>
            <a:off x="5115458" y="185623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Make scale visible</a:t>
            </a:r>
            <a:endParaRPr lang="en-US" sz="1350" dirty="0"/>
          </a:p>
        </p:txBody>
      </p:sp>
      <p:sp>
        <p:nvSpPr>
          <p:cNvPr id="13" name="Text 9"/>
          <p:cNvSpPr txBox="1"/>
          <p:nvPr/>
        </p:nvSpPr>
        <p:spPr>
          <a:xfrm>
            <a:off x="4566818" y="2395728"/>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Let others back a report, one per account, and order the board by that count so the most widely felt problems surface on their own.</a:t>
            </a:r>
            <a:endParaRPr lang="en-US" sz="1100" dirty="0"/>
          </a:p>
        </p:txBody>
      </p:sp>
      <p:sp>
        <p:nvSpPr>
          <p:cNvPr id="14" name="Shape 10"/>
          <p:cNvSpPr/>
          <p:nvPr/>
        </p:nvSpPr>
        <p:spPr>
          <a:xfrm>
            <a:off x="8091221" y="1645920"/>
            <a:ext cx="3533546" cy="1755648"/>
          </a:xfrm>
          <a:prstGeom prst="roundRect">
            <a:avLst>
              <a:gd name="adj" fmla="val 5208"/>
            </a:avLst>
          </a:prstGeom>
          <a:solidFill>
            <a:srgbClr val="EDF4F4"/>
          </a:solidFill>
          <a:ln w="12700">
            <a:solidFill>
              <a:srgbClr val="D5E3E4"/>
            </a:solidFill>
            <a:prstDash val="solid"/>
          </a:ln>
        </p:spPr>
      </p:sp>
      <p:sp>
        <p:nvSpPr>
          <p:cNvPr id="15" name="Shape 11"/>
          <p:cNvSpPr/>
          <p:nvPr/>
        </p:nvSpPr>
        <p:spPr>
          <a:xfrm>
            <a:off x="8328965" y="1883664"/>
            <a:ext cx="420624" cy="420624"/>
          </a:xfrm>
          <a:prstGeom prst="ellipse">
            <a:avLst/>
          </a:prstGeom>
          <a:solidFill>
            <a:srgbClr val="0F7C8A"/>
          </a:solidFill>
          <a:ln/>
        </p:spPr>
      </p:sp>
      <p:pic>
        <p:nvPicPr>
          <p:cNvPr id="16" name="Image 2" descr="preencoded.png"/>
          <p:cNvPicPr>
            <a:picLocks noChangeAspect="1"/>
          </p:cNvPicPr>
          <p:nvPr/>
        </p:nvPicPr>
        <p:blipFill>
          <a:blip r:embed="rId5"/>
          <a:stretch>
            <a:fillRect/>
          </a:stretch>
        </p:blipFill>
        <p:spPr>
          <a:xfrm>
            <a:off x="8427811" y="1982511"/>
            <a:ext cx="222931" cy="222931"/>
          </a:xfrm>
          <a:prstGeom prst="rect">
            <a:avLst/>
          </a:prstGeom>
        </p:spPr>
      </p:pic>
      <p:sp>
        <p:nvSpPr>
          <p:cNvPr id="17" name="Text 12"/>
          <p:cNvSpPr txBox="1"/>
          <p:nvPr/>
        </p:nvSpPr>
        <p:spPr>
          <a:xfrm>
            <a:off x="8877605" y="185623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Put a date on the record</a:t>
            </a:r>
            <a:endParaRPr lang="en-US" sz="1350" dirty="0"/>
          </a:p>
        </p:txBody>
      </p:sp>
      <p:sp>
        <p:nvSpPr>
          <p:cNvPr id="18" name="Text 13"/>
          <p:cNvSpPr txBox="1"/>
          <p:nvPr/>
        </p:nvSpPr>
        <p:spPr>
          <a:xfrm>
            <a:off x="8328965" y="2395728"/>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Let a moderator acknowledge a report and publish a completion date that residents can see, so a commitment is public rather than private.</a:t>
            </a:r>
            <a:endParaRPr lang="en-US" sz="1100" dirty="0"/>
          </a:p>
        </p:txBody>
      </p:sp>
      <p:sp>
        <p:nvSpPr>
          <p:cNvPr id="19" name="Shape 14"/>
          <p:cNvSpPr/>
          <p:nvPr/>
        </p:nvSpPr>
        <p:spPr>
          <a:xfrm>
            <a:off x="566928" y="3639312"/>
            <a:ext cx="3533546" cy="1755648"/>
          </a:xfrm>
          <a:prstGeom prst="roundRect">
            <a:avLst>
              <a:gd name="adj" fmla="val 5208"/>
            </a:avLst>
          </a:prstGeom>
          <a:solidFill>
            <a:srgbClr val="EDF4F4"/>
          </a:solidFill>
          <a:ln w="12700">
            <a:solidFill>
              <a:srgbClr val="D5E3E4"/>
            </a:solidFill>
            <a:prstDash val="solid"/>
          </a:ln>
        </p:spPr>
      </p:sp>
      <p:sp>
        <p:nvSpPr>
          <p:cNvPr id="20" name="Shape 15"/>
          <p:cNvSpPr/>
          <p:nvPr/>
        </p:nvSpPr>
        <p:spPr>
          <a:xfrm>
            <a:off x="804672" y="3877056"/>
            <a:ext cx="420624" cy="420624"/>
          </a:xfrm>
          <a:prstGeom prst="ellipse">
            <a:avLst/>
          </a:prstGeom>
          <a:solidFill>
            <a:srgbClr val="0F7C8A"/>
          </a:solidFill>
          <a:ln/>
        </p:spPr>
      </p:sp>
      <p:pic>
        <p:nvPicPr>
          <p:cNvPr id="21" name="Image 3" descr="preencoded.png"/>
          <p:cNvPicPr>
            <a:picLocks noChangeAspect="1"/>
          </p:cNvPicPr>
          <p:nvPr/>
        </p:nvPicPr>
        <p:blipFill>
          <a:blip r:embed="rId6"/>
          <a:stretch>
            <a:fillRect/>
          </a:stretch>
        </p:blipFill>
        <p:spPr>
          <a:xfrm>
            <a:off x="903519" y="3975903"/>
            <a:ext cx="222931" cy="222931"/>
          </a:xfrm>
          <a:prstGeom prst="rect">
            <a:avLst/>
          </a:prstGeom>
        </p:spPr>
      </p:pic>
      <p:sp>
        <p:nvSpPr>
          <p:cNvPr id="22" name="Text 16"/>
          <p:cNvSpPr txBox="1"/>
          <p:nvPr/>
        </p:nvSpPr>
        <p:spPr>
          <a:xfrm>
            <a:off x="1353312" y="3849624"/>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Have residents confirm the fix</a:t>
            </a:r>
            <a:endParaRPr lang="en-US" sz="1350" dirty="0"/>
          </a:p>
        </p:txBody>
      </p:sp>
      <p:sp>
        <p:nvSpPr>
          <p:cNvPr id="23" name="Text 17"/>
          <p:cNvSpPr txBox="1"/>
          <p:nvPr/>
        </p:nvSpPr>
        <p:spPr>
          <a:xfrm>
            <a:off x="804672" y="4389120"/>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Move completed work into a time-boxed window where the people who backed it vote on whether it actually held.</a:t>
            </a:r>
            <a:endParaRPr lang="en-US" sz="1100" dirty="0"/>
          </a:p>
        </p:txBody>
      </p:sp>
      <p:sp>
        <p:nvSpPr>
          <p:cNvPr id="24" name="Shape 18"/>
          <p:cNvSpPr/>
          <p:nvPr/>
        </p:nvSpPr>
        <p:spPr>
          <a:xfrm>
            <a:off x="4329074" y="3639312"/>
            <a:ext cx="3533546" cy="1755648"/>
          </a:xfrm>
          <a:prstGeom prst="roundRect">
            <a:avLst>
              <a:gd name="adj" fmla="val 5208"/>
            </a:avLst>
          </a:prstGeom>
          <a:solidFill>
            <a:srgbClr val="EDF4F4"/>
          </a:solidFill>
          <a:ln w="12700">
            <a:solidFill>
              <a:srgbClr val="D5E3E4"/>
            </a:solidFill>
            <a:prstDash val="solid"/>
          </a:ln>
        </p:spPr>
      </p:sp>
      <p:sp>
        <p:nvSpPr>
          <p:cNvPr id="25" name="Shape 19"/>
          <p:cNvSpPr/>
          <p:nvPr/>
        </p:nvSpPr>
        <p:spPr>
          <a:xfrm>
            <a:off x="4566818" y="3877056"/>
            <a:ext cx="420624" cy="420624"/>
          </a:xfrm>
          <a:prstGeom prst="ellipse">
            <a:avLst/>
          </a:prstGeom>
          <a:solidFill>
            <a:srgbClr val="0F7C8A"/>
          </a:solidFill>
          <a:ln/>
        </p:spPr>
      </p:sp>
      <p:pic>
        <p:nvPicPr>
          <p:cNvPr id="26" name="Image 4" descr="preencoded.png"/>
          <p:cNvPicPr>
            <a:picLocks noChangeAspect="1"/>
          </p:cNvPicPr>
          <p:nvPr/>
        </p:nvPicPr>
        <p:blipFill>
          <a:blip r:embed="rId7"/>
          <a:stretch>
            <a:fillRect/>
          </a:stretch>
        </p:blipFill>
        <p:spPr>
          <a:xfrm>
            <a:off x="4665665" y="3975903"/>
            <a:ext cx="222931" cy="222931"/>
          </a:xfrm>
          <a:prstGeom prst="rect">
            <a:avLst/>
          </a:prstGeom>
        </p:spPr>
      </p:pic>
      <p:sp>
        <p:nvSpPr>
          <p:cNvPr id="27" name="Text 20"/>
          <p:cNvSpPr txBox="1"/>
          <p:nvPr/>
        </p:nvSpPr>
        <p:spPr>
          <a:xfrm>
            <a:off x="5115458" y="3849624"/>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Separate the two roles</a:t>
            </a:r>
            <a:endParaRPr lang="en-US" sz="1350" dirty="0"/>
          </a:p>
        </p:txBody>
      </p:sp>
      <p:sp>
        <p:nvSpPr>
          <p:cNvPr id="28" name="Text 21"/>
          <p:cNvSpPr txBox="1"/>
          <p:nvPr/>
        </p:nvSpPr>
        <p:spPr>
          <a:xfrm>
            <a:off x="4566818" y="4389120"/>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Give residents and moderators different powers, enforced on the server rather than hidden in the interface.</a:t>
            </a:r>
            <a:endParaRPr lang="en-US" sz="1100" dirty="0"/>
          </a:p>
        </p:txBody>
      </p:sp>
      <p:sp>
        <p:nvSpPr>
          <p:cNvPr id="29" name="Shape 22"/>
          <p:cNvSpPr/>
          <p:nvPr/>
        </p:nvSpPr>
        <p:spPr>
          <a:xfrm>
            <a:off x="8091221" y="3639312"/>
            <a:ext cx="3533546" cy="1755648"/>
          </a:xfrm>
          <a:prstGeom prst="roundRect">
            <a:avLst>
              <a:gd name="adj" fmla="val 5208"/>
            </a:avLst>
          </a:prstGeom>
          <a:solidFill>
            <a:srgbClr val="EDF4F4"/>
          </a:solidFill>
          <a:ln w="12700">
            <a:solidFill>
              <a:srgbClr val="D5E3E4"/>
            </a:solidFill>
            <a:prstDash val="solid"/>
          </a:ln>
        </p:spPr>
      </p:sp>
      <p:sp>
        <p:nvSpPr>
          <p:cNvPr id="30" name="Shape 23"/>
          <p:cNvSpPr/>
          <p:nvPr/>
        </p:nvSpPr>
        <p:spPr>
          <a:xfrm>
            <a:off x="8328965" y="3877056"/>
            <a:ext cx="420624" cy="420624"/>
          </a:xfrm>
          <a:prstGeom prst="ellipse">
            <a:avLst/>
          </a:prstGeom>
          <a:solidFill>
            <a:srgbClr val="0F7C8A"/>
          </a:solidFill>
          <a:ln/>
        </p:spPr>
      </p:sp>
      <p:pic>
        <p:nvPicPr>
          <p:cNvPr id="31" name="Image 5" descr="preencoded.png"/>
          <p:cNvPicPr>
            <a:picLocks noChangeAspect="1"/>
          </p:cNvPicPr>
          <p:nvPr/>
        </p:nvPicPr>
        <p:blipFill>
          <a:blip r:embed="rId8"/>
          <a:stretch>
            <a:fillRect/>
          </a:stretch>
        </p:blipFill>
        <p:spPr>
          <a:xfrm>
            <a:off x="8427811" y="3975903"/>
            <a:ext cx="222931" cy="222931"/>
          </a:xfrm>
          <a:prstGeom prst="rect">
            <a:avLst/>
          </a:prstGeom>
        </p:spPr>
      </p:pic>
      <p:sp>
        <p:nvSpPr>
          <p:cNvPr id="32" name="Text 24"/>
          <p:cNvSpPr txBox="1"/>
          <p:nvPr/>
        </p:nvSpPr>
        <p:spPr>
          <a:xfrm>
            <a:off x="8877605" y="3849624"/>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Keep both views purpose-built</a:t>
            </a:r>
            <a:endParaRPr lang="en-US" sz="1350" dirty="0"/>
          </a:p>
        </p:txBody>
      </p:sp>
      <p:sp>
        <p:nvSpPr>
          <p:cNvPr id="33" name="Text 25"/>
          <p:cNvSpPr txBox="1"/>
          <p:nvPr/>
        </p:nvSpPr>
        <p:spPr>
          <a:xfrm>
            <a:off x="8328965" y="4389120"/>
            <a:ext cx="3058058" cy="768096"/>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A reading board for residents and a dense worklist for moderators, rather than one screen compromised for both.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Existing practice</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How a local complaint is handled now, and what each route leaves out.</a:t>
            </a:r>
            <a:endParaRPr lang="en-US" sz="1350" dirty="0"/>
          </a:p>
        </p:txBody>
      </p:sp>
      <p:sp>
        <p:nvSpPr>
          <p:cNvPr id="4" name="Shape 2"/>
          <p:cNvSpPr/>
          <p:nvPr/>
        </p:nvSpPr>
        <p:spPr>
          <a:xfrm>
            <a:off x="566928" y="1645920"/>
            <a:ext cx="5346040" cy="3840480"/>
          </a:xfrm>
          <a:prstGeom prst="roundRect">
            <a:avLst>
              <a:gd name="adj" fmla="val 2857"/>
            </a:avLst>
          </a:prstGeom>
          <a:solidFill>
            <a:srgbClr val="EDF4F4"/>
          </a:solidFill>
          <a:ln w="12700">
            <a:solidFill>
              <a:srgbClr val="D5E3E4"/>
            </a:solidFill>
            <a:prstDash val="solid"/>
          </a:ln>
        </p:spPr>
      </p:sp>
      <p:sp>
        <p:nvSpPr>
          <p:cNvPr id="5" name="Text 3"/>
          <p:cNvSpPr txBox="1"/>
          <p:nvPr/>
        </p:nvSpPr>
        <p:spPr>
          <a:xfrm>
            <a:off x="859536" y="1828800"/>
            <a:ext cx="4760824" cy="347472"/>
          </a:xfrm>
          <a:prstGeom prst="rect">
            <a:avLst/>
          </a:prstGeom>
          <a:noFill/>
          <a:ln/>
        </p:spPr>
        <p:txBody>
          <a:bodyPr wrap="square" lIns="0" tIns="0" rIns="0" bIns="0" rtlCol="0" anchor="ctr"/>
          <a:lstStyle/>
          <a:p>
            <a:pPr marL="0" indent="0">
              <a:buNone/>
            </a:pPr>
            <a:r>
              <a:rPr lang="en-US" sz="1600" b="1" dirty="0">
                <a:solidFill>
                  <a:srgbClr val="0B1F22"/>
                </a:solidFill>
                <a:latin typeface="Cambria" pitchFamily="34" charset="0"/>
                <a:ea typeface="Cambria" pitchFamily="34" charset="-122"/>
                <a:cs typeface="Cambria" pitchFamily="34" charset="-120"/>
              </a:rPr>
              <a:t>The usual routes</a:t>
            </a:r>
            <a:endParaRPr lang="en-US" sz="1600" dirty="0"/>
          </a:p>
        </p:txBody>
      </p:sp>
      <p:sp>
        <p:nvSpPr>
          <p:cNvPr id="6" name="Text 4"/>
          <p:cNvSpPr txBox="1"/>
          <p:nvPr/>
        </p:nvSpPr>
        <p:spPr>
          <a:xfrm>
            <a:off x="859536" y="2286000"/>
            <a:ext cx="4760824" cy="301752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250" b="1" dirty="0">
                <a:solidFill>
                  <a:srgbClr val="3D5559"/>
                </a:solidFill>
                <a:latin typeface="Calibri" pitchFamily="34" charset="0"/>
                <a:ea typeface="Calibri" pitchFamily="34" charset="-122"/>
                <a:cs typeface="Calibri" pitchFamily="34" charset="-120"/>
              </a:rPr>
              <a:t>A phone call or a visit to the ward office</a:t>
            </a:r>
            <a:endParaRPr lang="en-US" sz="1250" dirty="0"/>
          </a:p>
          <a:p>
            <a:pPr marL="0" indent="0">
              <a:lnSpc>
                <a:spcPct val="110000"/>
              </a:lnSpc>
              <a:spcAft>
                <a:spcPts val="500"/>
              </a:spcAft>
              <a:buNone/>
            </a:pPr>
            <a:r>
              <a:rPr lang="en-US" sz="1100" dirty="0">
                <a:solidFill>
                  <a:srgbClr val="6D8589"/>
                </a:solidFill>
                <a:latin typeface="Calibri" pitchFamily="34" charset="0"/>
                <a:ea typeface="Calibri" pitchFamily="34" charset="-122"/>
                <a:cs typeface="Calibri" pitchFamily="34" charset="-120"/>
              </a:rPr>
              <a:t>Recorded privately, if at all. Nothing comes back to the resident.</a:t>
            </a:r>
            <a:endParaRPr lang="en-US" sz="1250" dirty="0"/>
          </a:p>
          <a:p>
            <a:pPr marL="342900" indent="-342900">
              <a:lnSpc>
                <a:spcPct val="110000"/>
              </a:lnSpc>
              <a:spcAft>
                <a:spcPts val="500"/>
              </a:spcAft>
              <a:buSzPct val="100000"/>
              <a:buChar char="•"/>
            </a:pPr>
            <a:r>
              <a:rPr lang="en-US" sz="1250" b="1" dirty="0">
                <a:solidFill>
                  <a:srgbClr val="3D5559"/>
                </a:solidFill>
                <a:latin typeface="Calibri" pitchFamily="34" charset="0"/>
                <a:ea typeface="Calibri" pitchFamily="34" charset="-122"/>
                <a:cs typeface="Calibri" pitchFamily="34" charset="-120"/>
              </a:rPr>
              <a:t>A written complaint on paper</a:t>
            </a:r>
            <a:endParaRPr lang="en-US" sz="1250" dirty="0"/>
          </a:p>
          <a:p>
            <a:pPr marL="0" indent="0">
              <a:lnSpc>
                <a:spcPct val="110000"/>
              </a:lnSpc>
              <a:spcAft>
                <a:spcPts val="500"/>
              </a:spcAft>
              <a:buNone/>
            </a:pPr>
            <a:r>
              <a:rPr lang="en-US" sz="1100" dirty="0">
                <a:solidFill>
                  <a:srgbClr val="6D8589"/>
                </a:solidFill>
                <a:latin typeface="Calibri" pitchFamily="34" charset="0"/>
                <a:ea typeface="Calibri" pitchFamily="34" charset="-122"/>
                <a:cs typeface="Calibri" pitchFamily="34" charset="-120"/>
              </a:rPr>
              <a:t>Has a reference, but no status a resident can read without asking.</a:t>
            </a:r>
            <a:endParaRPr lang="en-US" sz="1250" dirty="0"/>
          </a:p>
          <a:p>
            <a:pPr marL="342900" indent="-342900">
              <a:lnSpc>
                <a:spcPct val="110000"/>
              </a:lnSpc>
              <a:spcAft>
                <a:spcPts val="500"/>
              </a:spcAft>
              <a:buSzPct val="100000"/>
              <a:buChar char="•"/>
            </a:pPr>
            <a:r>
              <a:rPr lang="en-US" sz="1250" b="1" dirty="0">
                <a:solidFill>
                  <a:srgbClr val="3D5559"/>
                </a:solidFill>
                <a:latin typeface="Calibri" pitchFamily="34" charset="0"/>
                <a:ea typeface="Calibri" pitchFamily="34" charset="-122"/>
                <a:cs typeface="Calibri" pitchFamily="34" charset="-120"/>
              </a:rPr>
              <a:t>A post in a neighbourhood group</a:t>
            </a:r>
            <a:endParaRPr lang="en-US" sz="1250" dirty="0"/>
          </a:p>
          <a:p>
            <a:pPr marL="0" indent="0">
              <a:lnSpc>
                <a:spcPct val="110000"/>
              </a:lnSpc>
              <a:spcAft>
                <a:spcPts val="500"/>
              </a:spcAft>
              <a:buNone/>
            </a:pPr>
            <a:r>
              <a:rPr lang="en-US" sz="1100" dirty="0">
                <a:solidFill>
                  <a:srgbClr val="6D8589"/>
                </a:solidFill>
                <a:latin typeface="Calibri" pitchFamily="34" charset="0"/>
                <a:ea typeface="Calibri" pitchFamily="34" charset="-122"/>
                <a:cs typeface="Calibri" pitchFamily="34" charset="-120"/>
              </a:rPr>
              <a:t>Gets agreement and scrolls away. No status, no owner, no date.</a:t>
            </a:r>
            <a:endParaRPr lang="en-US" sz="1250" dirty="0"/>
          </a:p>
          <a:p>
            <a:pPr marL="342900" indent="-342900">
              <a:lnSpc>
                <a:spcPct val="110000"/>
              </a:lnSpc>
              <a:spcAft>
                <a:spcPts val="500"/>
              </a:spcAft>
              <a:buSzPct val="100000"/>
              <a:buChar char="•"/>
            </a:pPr>
            <a:r>
              <a:rPr lang="en-US" sz="1250" b="1" dirty="0">
                <a:solidFill>
                  <a:srgbClr val="3D5559"/>
                </a:solidFill>
                <a:latin typeface="Calibri" pitchFamily="34" charset="0"/>
                <a:ea typeface="Calibri" pitchFamily="34" charset="-122"/>
                <a:cs typeface="Calibri" pitchFamily="34" charset="-120"/>
              </a:rPr>
              <a:t>A general municipal grievance portal</a:t>
            </a:r>
            <a:endParaRPr lang="en-US" sz="1250" dirty="0"/>
          </a:p>
          <a:p>
            <a:pPr marL="0" indent="0">
              <a:lnSpc>
                <a:spcPct val="110000"/>
              </a:lnSpc>
              <a:spcAft>
                <a:spcPts val="500"/>
              </a:spcAft>
              <a:buNone/>
            </a:pPr>
            <a:r>
              <a:rPr lang="en-US" sz="1100" dirty="0">
                <a:solidFill>
                  <a:srgbClr val="6D8589"/>
                </a:solidFill>
                <a:latin typeface="Calibri" pitchFamily="34" charset="0"/>
                <a:ea typeface="Calibri" pitchFamily="34" charset="-122"/>
                <a:cs typeface="Calibri" pitchFamily="34" charset="-120"/>
              </a:rPr>
              <a:t>Ticket in, ticket closed - closed by the same office that did the work.</a:t>
            </a:r>
            <a:endParaRPr lang="en-US" sz="1250" dirty="0"/>
          </a:p>
        </p:txBody>
      </p:sp>
      <p:sp>
        <p:nvSpPr>
          <p:cNvPr id="7" name="Shape 5"/>
          <p:cNvSpPr/>
          <p:nvPr/>
        </p:nvSpPr>
        <p:spPr>
          <a:xfrm>
            <a:off x="6278728" y="1645920"/>
            <a:ext cx="5346040" cy="3840480"/>
          </a:xfrm>
          <a:prstGeom prst="roundRect">
            <a:avLst>
              <a:gd name="adj" fmla="val 2857"/>
            </a:avLst>
          </a:prstGeom>
          <a:solidFill>
            <a:srgbClr val="062229"/>
          </a:solidFill>
          <a:ln/>
        </p:spPr>
      </p:sp>
      <p:sp>
        <p:nvSpPr>
          <p:cNvPr id="8" name="Text 6"/>
          <p:cNvSpPr txBox="1"/>
          <p:nvPr/>
        </p:nvSpPr>
        <p:spPr>
          <a:xfrm>
            <a:off x="6571336" y="1828800"/>
            <a:ext cx="4760824" cy="347472"/>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What none of them provide</a:t>
            </a:r>
            <a:endParaRPr lang="en-US" sz="1600" dirty="0"/>
          </a:p>
        </p:txBody>
      </p:sp>
      <p:sp>
        <p:nvSpPr>
          <p:cNvPr id="9" name="Shape 7"/>
          <p:cNvSpPr/>
          <p:nvPr/>
        </p:nvSpPr>
        <p:spPr>
          <a:xfrm>
            <a:off x="6571336" y="2395728"/>
            <a:ext cx="384048" cy="384048"/>
          </a:xfrm>
          <a:prstGeom prst="ellipse">
            <a:avLst/>
          </a:prstGeom>
          <a:solidFill>
            <a:srgbClr val="17A2AC"/>
          </a:solidFill>
          <a:ln/>
        </p:spPr>
      </p:sp>
      <p:pic>
        <p:nvPicPr>
          <p:cNvPr id="10" name="Image 0" descr="preencoded.png"/>
          <p:cNvPicPr>
            <a:picLocks noChangeAspect="1"/>
          </p:cNvPicPr>
          <p:nvPr/>
        </p:nvPicPr>
        <p:blipFill>
          <a:blip r:embed="rId3"/>
          <a:stretch>
            <a:fillRect/>
          </a:stretch>
        </p:blipFill>
        <p:spPr>
          <a:xfrm>
            <a:off x="6661587" y="2485979"/>
            <a:ext cx="203545" cy="203545"/>
          </a:xfrm>
          <a:prstGeom prst="rect">
            <a:avLst/>
          </a:prstGeom>
        </p:spPr>
      </p:pic>
      <p:sp>
        <p:nvSpPr>
          <p:cNvPr id="11" name="Text 8"/>
          <p:cNvSpPr txBox="1"/>
          <p:nvPr/>
        </p:nvSpPr>
        <p:spPr>
          <a:xfrm>
            <a:off x="7083400" y="2359152"/>
            <a:ext cx="3883000" cy="457200"/>
          </a:xfrm>
          <a:prstGeom prst="rect">
            <a:avLst/>
          </a:prstGeom>
          <a:noFill/>
          <a:ln/>
        </p:spPr>
        <p:txBody>
          <a:bodyPr wrap="square" lIns="0" tIns="0" rIns="0" bIns="0" rtlCol="0" anchor="ctr"/>
          <a:lstStyle/>
          <a:p>
            <a:pPr marL="0" indent="0">
              <a:buNone/>
            </a:pPr>
            <a:r>
              <a:rPr lang="en-US" sz="1250" dirty="0">
                <a:solidFill>
                  <a:srgbClr val="E8F1F1"/>
                </a:solidFill>
                <a:latin typeface="Calibri" pitchFamily="34" charset="0"/>
                <a:ea typeface="Calibri" pitchFamily="34" charset="-122"/>
                <a:cs typeface="Calibri" pitchFamily="34" charset="-120"/>
              </a:rPr>
              <a:t>A count of how many people are affected</a:t>
            </a:r>
            <a:endParaRPr lang="en-US" sz="1250" dirty="0"/>
          </a:p>
        </p:txBody>
      </p:sp>
      <p:sp>
        <p:nvSpPr>
          <p:cNvPr id="12" name="Shape 9"/>
          <p:cNvSpPr/>
          <p:nvPr/>
        </p:nvSpPr>
        <p:spPr>
          <a:xfrm>
            <a:off x="6571336" y="3163824"/>
            <a:ext cx="384048" cy="384048"/>
          </a:xfrm>
          <a:prstGeom prst="ellipse">
            <a:avLst/>
          </a:prstGeom>
          <a:solidFill>
            <a:srgbClr val="17A2AC"/>
          </a:solidFill>
          <a:ln/>
        </p:spPr>
      </p:sp>
      <p:pic>
        <p:nvPicPr>
          <p:cNvPr id="13" name="Image 1" descr="preencoded.png"/>
          <p:cNvPicPr>
            <a:picLocks noChangeAspect="1"/>
          </p:cNvPicPr>
          <p:nvPr/>
        </p:nvPicPr>
        <p:blipFill>
          <a:blip r:embed="rId4"/>
          <a:stretch>
            <a:fillRect/>
          </a:stretch>
        </p:blipFill>
        <p:spPr>
          <a:xfrm>
            <a:off x="6661587" y="3254075"/>
            <a:ext cx="203545" cy="203545"/>
          </a:xfrm>
          <a:prstGeom prst="rect">
            <a:avLst/>
          </a:prstGeom>
        </p:spPr>
      </p:pic>
      <p:sp>
        <p:nvSpPr>
          <p:cNvPr id="14" name="Text 10"/>
          <p:cNvSpPr txBox="1"/>
          <p:nvPr/>
        </p:nvSpPr>
        <p:spPr>
          <a:xfrm>
            <a:off x="7083400" y="3127248"/>
            <a:ext cx="3883000" cy="457200"/>
          </a:xfrm>
          <a:prstGeom prst="rect">
            <a:avLst/>
          </a:prstGeom>
          <a:noFill/>
          <a:ln/>
        </p:spPr>
        <p:txBody>
          <a:bodyPr wrap="square" lIns="0" tIns="0" rIns="0" bIns="0" rtlCol="0" anchor="ctr"/>
          <a:lstStyle/>
          <a:p>
            <a:pPr marL="0" indent="0">
              <a:buNone/>
            </a:pPr>
            <a:r>
              <a:rPr lang="en-US" sz="1250" dirty="0">
                <a:solidFill>
                  <a:srgbClr val="E8F1F1"/>
                </a:solidFill>
                <a:latin typeface="Calibri" pitchFamily="34" charset="0"/>
                <a:ea typeface="Calibri" pitchFamily="34" charset="-122"/>
                <a:cs typeface="Calibri" pitchFamily="34" charset="-120"/>
              </a:rPr>
              <a:t>A completion date the public can hold them to</a:t>
            </a:r>
            <a:endParaRPr lang="en-US" sz="1250" dirty="0"/>
          </a:p>
        </p:txBody>
      </p:sp>
      <p:sp>
        <p:nvSpPr>
          <p:cNvPr id="15" name="Shape 11"/>
          <p:cNvSpPr/>
          <p:nvPr/>
        </p:nvSpPr>
        <p:spPr>
          <a:xfrm>
            <a:off x="6571336" y="3931920"/>
            <a:ext cx="384048" cy="384048"/>
          </a:xfrm>
          <a:prstGeom prst="ellipse">
            <a:avLst/>
          </a:prstGeom>
          <a:solidFill>
            <a:srgbClr val="17A2AC"/>
          </a:solidFill>
          <a:ln/>
        </p:spPr>
      </p:sp>
      <p:pic>
        <p:nvPicPr>
          <p:cNvPr id="16" name="Image 2" descr="preencoded.png"/>
          <p:cNvPicPr>
            <a:picLocks noChangeAspect="1"/>
          </p:cNvPicPr>
          <p:nvPr/>
        </p:nvPicPr>
        <p:blipFill>
          <a:blip r:embed="rId5"/>
          <a:stretch>
            <a:fillRect/>
          </a:stretch>
        </p:blipFill>
        <p:spPr>
          <a:xfrm>
            <a:off x="6661587" y="4022171"/>
            <a:ext cx="203545" cy="203545"/>
          </a:xfrm>
          <a:prstGeom prst="rect">
            <a:avLst/>
          </a:prstGeom>
        </p:spPr>
      </p:pic>
      <p:sp>
        <p:nvSpPr>
          <p:cNvPr id="17" name="Text 12"/>
          <p:cNvSpPr txBox="1"/>
          <p:nvPr/>
        </p:nvSpPr>
        <p:spPr>
          <a:xfrm>
            <a:off x="7083400" y="3895344"/>
            <a:ext cx="3883000" cy="457200"/>
          </a:xfrm>
          <a:prstGeom prst="rect">
            <a:avLst/>
          </a:prstGeom>
          <a:noFill/>
          <a:ln/>
        </p:spPr>
        <p:txBody>
          <a:bodyPr wrap="square" lIns="0" tIns="0" rIns="0" bIns="0" rtlCol="0" anchor="ctr"/>
          <a:lstStyle/>
          <a:p>
            <a:pPr marL="0" indent="0">
              <a:buNone/>
            </a:pPr>
            <a:r>
              <a:rPr lang="en-US" sz="1250" dirty="0">
                <a:solidFill>
                  <a:srgbClr val="E8F1F1"/>
                </a:solidFill>
                <a:latin typeface="Calibri" pitchFamily="34" charset="0"/>
                <a:ea typeface="Calibri" pitchFamily="34" charset="-122"/>
                <a:cs typeface="Calibri" pitchFamily="34" charset="-120"/>
              </a:rPr>
              <a:t>Confirmation from the residents, not the fixer</a:t>
            </a:r>
            <a:endParaRPr lang="en-US" sz="1250" dirty="0"/>
          </a:p>
        </p:txBody>
      </p:sp>
      <p:sp>
        <p:nvSpPr>
          <p:cNvPr id="18" name="Shape 13"/>
          <p:cNvSpPr/>
          <p:nvPr/>
        </p:nvSpPr>
        <p:spPr>
          <a:xfrm>
            <a:off x="6571336" y="4700016"/>
            <a:ext cx="384048" cy="384048"/>
          </a:xfrm>
          <a:prstGeom prst="ellipse">
            <a:avLst/>
          </a:prstGeom>
          <a:solidFill>
            <a:srgbClr val="17A2AC"/>
          </a:solidFill>
          <a:ln/>
        </p:spPr>
      </p:sp>
      <p:pic>
        <p:nvPicPr>
          <p:cNvPr id="19" name="Image 3" descr="preencoded.png"/>
          <p:cNvPicPr>
            <a:picLocks noChangeAspect="1"/>
          </p:cNvPicPr>
          <p:nvPr/>
        </p:nvPicPr>
        <p:blipFill>
          <a:blip r:embed="rId6"/>
          <a:stretch>
            <a:fillRect/>
          </a:stretch>
        </p:blipFill>
        <p:spPr>
          <a:xfrm>
            <a:off x="6661587" y="4790267"/>
            <a:ext cx="203545" cy="203545"/>
          </a:xfrm>
          <a:prstGeom prst="rect">
            <a:avLst/>
          </a:prstGeom>
        </p:spPr>
      </p:pic>
      <p:sp>
        <p:nvSpPr>
          <p:cNvPr id="20" name="Text 14"/>
          <p:cNvSpPr txBox="1"/>
          <p:nvPr/>
        </p:nvSpPr>
        <p:spPr>
          <a:xfrm>
            <a:off x="7083400" y="4663440"/>
            <a:ext cx="3883000" cy="457200"/>
          </a:xfrm>
          <a:prstGeom prst="rect">
            <a:avLst/>
          </a:prstGeom>
          <a:noFill/>
          <a:ln/>
        </p:spPr>
        <p:txBody>
          <a:bodyPr wrap="square" lIns="0" tIns="0" rIns="0" bIns="0" rtlCol="0" anchor="ctr"/>
          <a:lstStyle/>
          <a:p>
            <a:pPr marL="0" indent="0">
              <a:buNone/>
            </a:pPr>
            <a:r>
              <a:rPr lang="en-US" sz="1250" dirty="0">
                <a:solidFill>
                  <a:srgbClr val="E8F1F1"/>
                </a:solidFill>
                <a:latin typeface="Calibri" pitchFamily="34" charset="0"/>
                <a:ea typeface="Calibri" pitchFamily="34" charset="-122"/>
                <a:cs typeface="Calibri" pitchFamily="34" charset="-120"/>
              </a:rPr>
              <a:t>A route back when a repair does not hold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2229"/>
        </a:solidFill>
        <a:effectLst/>
      </p:bgPr>
    </p:bg>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Proposed system</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9FBDC1"/>
                </a:solidFill>
                <a:latin typeface="Calibri" pitchFamily="34" charset="0"/>
                <a:ea typeface="Calibri" pitchFamily="34" charset="-122"/>
                <a:cs typeface="Calibri" pitchFamily="34" charset="-120"/>
              </a:rPr>
              <a:t>One loop, with the residents holding the last step.</a:t>
            </a:r>
            <a:endParaRPr lang="en-US" sz="1350" dirty="0"/>
          </a:p>
        </p:txBody>
      </p:sp>
      <p:sp>
        <p:nvSpPr>
          <p:cNvPr id="4" name="Shape 2"/>
          <p:cNvSpPr/>
          <p:nvPr/>
        </p:nvSpPr>
        <p:spPr>
          <a:xfrm>
            <a:off x="566928" y="1700784"/>
            <a:ext cx="2448992" cy="2487168"/>
          </a:xfrm>
          <a:prstGeom prst="roundRect">
            <a:avLst>
              <a:gd name="adj" fmla="val 4481"/>
            </a:avLst>
          </a:prstGeom>
          <a:solidFill>
            <a:srgbClr val="0C3139"/>
          </a:solidFill>
          <a:ln w="12700">
            <a:solidFill>
              <a:srgbClr val="1B4A52"/>
            </a:solidFill>
            <a:prstDash val="solid"/>
          </a:ln>
        </p:spPr>
      </p:sp>
      <p:sp>
        <p:nvSpPr>
          <p:cNvPr id="5" name="Shape 3"/>
          <p:cNvSpPr/>
          <p:nvPr/>
        </p:nvSpPr>
        <p:spPr>
          <a:xfrm>
            <a:off x="804672" y="1920240"/>
            <a:ext cx="457200" cy="457200"/>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12114" y="2027682"/>
            <a:ext cx="242316" cy="242316"/>
          </a:xfrm>
          <a:prstGeom prst="rect">
            <a:avLst/>
          </a:prstGeom>
        </p:spPr>
      </p:pic>
      <p:sp>
        <p:nvSpPr>
          <p:cNvPr id="7" name="Text 4"/>
          <p:cNvSpPr txBox="1"/>
          <p:nvPr/>
        </p:nvSpPr>
        <p:spPr>
          <a:xfrm>
            <a:off x="804672" y="2505456"/>
            <a:ext cx="1973504" cy="32918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Report and back</a:t>
            </a:r>
            <a:endParaRPr lang="en-US" sz="1400" dirty="0"/>
          </a:p>
        </p:txBody>
      </p:sp>
      <p:sp>
        <p:nvSpPr>
          <p:cNvPr id="8" name="Text 5"/>
          <p:cNvSpPr txBox="1"/>
          <p:nvPr/>
        </p:nvSpPr>
        <p:spPr>
          <a:xfrm>
            <a:off x="804672" y="2871216"/>
            <a:ext cx="1973504" cy="1097280"/>
          </a:xfrm>
          <a:prstGeom prst="rect">
            <a:avLst/>
          </a:prstGeom>
          <a:noFill/>
          <a:ln/>
        </p:spPr>
        <p:txBody>
          <a:bodyPr wrap="square" lIns="0" tIns="0" rIns="0" bIns="0" rtlCol="0" anchor="ctr"/>
          <a:lstStyle/>
          <a:p>
            <a:pPr marL="0" indent="0">
              <a:lnSpc>
                <a:spcPct val="116000"/>
              </a:lnSpc>
              <a:buNone/>
            </a:pPr>
            <a:r>
              <a:rPr lang="en-US" sz="1100" dirty="0">
                <a:solidFill>
                  <a:srgbClr val="9FBDC1"/>
                </a:solidFill>
                <a:latin typeface="Calibri" pitchFamily="34" charset="0"/>
                <a:ea typeface="Calibri" pitchFamily="34" charset="-122"/>
                <a:cs typeface="Calibri" pitchFamily="34" charset="-120"/>
              </a:rPr>
              <a:t>A resident posts the problem. Neighbours back it, one per account. The count orders the board.</a:t>
            </a:r>
            <a:endParaRPr lang="en-US" sz="1100" dirty="0"/>
          </a:p>
        </p:txBody>
      </p:sp>
      <p:sp>
        <p:nvSpPr>
          <p:cNvPr id="9" name="Shape 6"/>
          <p:cNvSpPr/>
          <p:nvPr/>
        </p:nvSpPr>
        <p:spPr>
          <a:xfrm>
            <a:off x="3125648" y="2834640"/>
            <a:ext cx="201168" cy="137160"/>
          </a:xfrm>
          <a:prstGeom prst="rightArrow">
            <a:avLst/>
          </a:prstGeom>
          <a:solidFill>
            <a:srgbClr val="17A2AC"/>
          </a:solidFill>
          <a:ln/>
        </p:spPr>
      </p:sp>
      <p:sp>
        <p:nvSpPr>
          <p:cNvPr id="10" name="Shape 7"/>
          <p:cNvSpPr/>
          <p:nvPr/>
        </p:nvSpPr>
        <p:spPr>
          <a:xfrm>
            <a:off x="3436544" y="1700784"/>
            <a:ext cx="2448992" cy="2487168"/>
          </a:xfrm>
          <a:prstGeom prst="roundRect">
            <a:avLst>
              <a:gd name="adj" fmla="val 4481"/>
            </a:avLst>
          </a:prstGeom>
          <a:solidFill>
            <a:srgbClr val="0C3139"/>
          </a:solidFill>
          <a:ln w="12700">
            <a:solidFill>
              <a:srgbClr val="1B4A52"/>
            </a:solidFill>
            <a:prstDash val="solid"/>
          </a:ln>
        </p:spPr>
      </p:sp>
      <p:sp>
        <p:nvSpPr>
          <p:cNvPr id="11" name="Shape 8"/>
          <p:cNvSpPr/>
          <p:nvPr/>
        </p:nvSpPr>
        <p:spPr>
          <a:xfrm>
            <a:off x="3674288" y="1920240"/>
            <a:ext cx="457200" cy="457200"/>
          </a:xfrm>
          <a:prstGeom prst="ellipse">
            <a:avLst/>
          </a:prstGeom>
          <a:solidFill>
            <a:srgbClr val="0F7C8A"/>
          </a:solidFill>
          <a:ln/>
        </p:spPr>
      </p:sp>
      <p:pic>
        <p:nvPicPr>
          <p:cNvPr id="12" name="Image 1" descr="preencoded.png"/>
          <p:cNvPicPr>
            <a:picLocks noChangeAspect="1"/>
          </p:cNvPicPr>
          <p:nvPr/>
        </p:nvPicPr>
        <p:blipFill>
          <a:blip r:embed="rId4"/>
          <a:stretch>
            <a:fillRect/>
          </a:stretch>
        </p:blipFill>
        <p:spPr>
          <a:xfrm>
            <a:off x="3781730" y="2027682"/>
            <a:ext cx="242316" cy="242316"/>
          </a:xfrm>
          <a:prstGeom prst="rect">
            <a:avLst/>
          </a:prstGeom>
        </p:spPr>
      </p:pic>
      <p:sp>
        <p:nvSpPr>
          <p:cNvPr id="13" name="Text 9"/>
          <p:cNvSpPr txBox="1"/>
          <p:nvPr/>
        </p:nvSpPr>
        <p:spPr>
          <a:xfrm>
            <a:off x="3674288" y="2505456"/>
            <a:ext cx="1973504" cy="32918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Picked up with a date</a:t>
            </a:r>
            <a:endParaRPr lang="en-US" sz="1400" dirty="0"/>
          </a:p>
        </p:txBody>
      </p:sp>
      <p:sp>
        <p:nvSpPr>
          <p:cNvPr id="14" name="Text 10"/>
          <p:cNvSpPr txBox="1"/>
          <p:nvPr/>
        </p:nvSpPr>
        <p:spPr>
          <a:xfrm>
            <a:off x="3674288" y="2871216"/>
            <a:ext cx="1973504" cy="1097280"/>
          </a:xfrm>
          <a:prstGeom prst="rect">
            <a:avLst/>
          </a:prstGeom>
          <a:noFill/>
          <a:ln/>
        </p:spPr>
        <p:txBody>
          <a:bodyPr wrap="square" lIns="0" tIns="0" rIns="0" bIns="0" rtlCol="0" anchor="ctr"/>
          <a:lstStyle/>
          <a:p>
            <a:pPr marL="0" indent="0">
              <a:lnSpc>
                <a:spcPct val="116000"/>
              </a:lnSpc>
              <a:buNone/>
            </a:pPr>
            <a:r>
              <a:rPr lang="en-US" sz="1100" dirty="0">
                <a:solidFill>
                  <a:srgbClr val="9FBDC1"/>
                </a:solidFill>
                <a:latin typeface="Calibri" pitchFamily="34" charset="0"/>
                <a:ea typeface="Calibri" pitchFamily="34" charset="-122"/>
                <a:cs typeface="Calibri" pitchFamily="34" charset="-120"/>
              </a:rPr>
              <a:t>A moderator acknowledges it and publishes a date the work will be done by, plus an optional public note.</a:t>
            </a:r>
            <a:endParaRPr lang="en-US" sz="1100" dirty="0"/>
          </a:p>
        </p:txBody>
      </p:sp>
      <p:sp>
        <p:nvSpPr>
          <p:cNvPr id="15" name="Shape 11"/>
          <p:cNvSpPr/>
          <p:nvPr/>
        </p:nvSpPr>
        <p:spPr>
          <a:xfrm>
            <a:off x="5995264" y="2834640"/>
            <a:ext cx="201168" cy="137160"/>
          </a:xfrm>
          <a:prstGeom prst="rightArrow">
            <a:avLst/>
          </a:prstGeom>
          <a:solidFill>
            <a:srgbClr val="17A2AC"/>
          </a:solidFill>
          <a:ln/>
        </p:spPr>
      </p:sp>
      <p:sp>
        <p:nvSpPr>
          <p:cNvPr id="16" name="Shape 12"/>
          <p:cNvSpPr/>
          <p:nvPr/>
        </p:nvSpPr>
        <p:spPr>
          <a:xfrm>
            <a:off x="6306160" y="1700784"/>
            <a:ext cx="2448992" cy="2487168"/>
          </a:xfrm>
          <a:prstGeom prst="roundRect">
            <a:avLst>
              <a:gd name="adj" fmla="val 4481"/>
            </a:avLst>
          </a:prstGeom>
          <a:solidFill>
            <a:srgbClr val="0C3139"/>
          </a:solidFill>
          <a:ln w="12700">
            <a:solidFill>
              <a:srgbClr val="1B4A52"/>
            </a:solidFill>
            <a:prstDash val="solid"/>
          </a:ln>
        </p:spPr>
      </p:sp>
      <p:sp>
        <p:nvSpPr>
          <p:cNvPr id="17" name="Shape 13"/>
          <p:cNvSpPr/>
          <p:nvPr/>
        </p:nvSpPr>
        <p:spPr>
          <a:xfrm>
            <a:off x="6543904" y="1920240"/>
            <a:ext cx="457200" cy="457200"/>
          </a:xfrm>
          <a:prstGeom prst="ellipse">
            <a:avLst/>
          </a:prstGeom>
          <a:solidFill>
            <a:srgbClr val="0F7C8A"/>
          </a:solidFill>
          <a:ln/>
        </p:spPr>
      </p:sp>
      <p:pic>
        <p:nvPicPr>
          <p:cNvPr id="18" name="Image 2" descr="preencoded.png"/>
          <p:cNvPicPr>
            <a:picLocks noChangeAspect="1"/>
          </p:cNvPicPr>
          <p:nvPr/>
        </p:nvPicPr>
        <p:blipFill>
          <a:blip r:embed="rId5"/>
          <a:stretch>
            <a:fillRect/>
          </a:stretch>
        </p:blipFill>
        <p:spPr>
          <a:xfrm>
            <a:off x="6651346" y="2027682"/>
            <a:ext cx="242316" cy="242316"/>
          </a:xfrm>
          <a:prstGeom prst="rect">
            <a:avLst/>
          </a:prstGeom>
        </p:spPr>
      </p:pic>
      <p:sp>
        <p:nvSpPr>
          <p:cNvPr id="19" name="Text 14"/>
          <p:cNvSpPr txBox="1"/>
          <p:nvPr/>
        </p:nvSpPr>
        <p:spPr>
          <a:xfrm>
            <a:off x="6543904" y="2505456"/>
            <a:ext cx="1973504" cy="32918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Marked done</a:t>
            </a:r>
            <a:endParaRPr lang="en-US" sz="1400" dirty="0"/>
          </a:p>
        </p:txBody>
      </p:sp>
      <p:sp>
        <p:nvSpPr>
          <p:cNvPr id="20" name="Text 15"/>
          <p:cNvSpPr txBox="1"/>
          <p:nvPr/>
        </p:nvSpPr>
        <p:spPr>
          <a:xfrm>
            <a:off x="6543904" y="2871216"/>
            <a:ext cx="1973504" cy="1097280"/>
          </a:xfrm>
          <a:prstGeom prst="rect">
            <a:avLst/>
          </a:prstGeom>
          <a:noFill/>
          <a:ln/>
        </p:spPr>
        <p:txBody>
          <a:bodyPr wrap="square" lIns="0" tIns="0" rIns="0" bIns="0" rtlCol="0" anchor="ctr"/>
          <a:lstStyle/>
          <a:p>
            <a:pPr marL="0" indent="0">
              <a:lnSpc>
                <a:spcPct val="116000"/>
              </a:lnSpc>
              <a:buNone/>
            </a:pPr>
            <a:r>
              <a:rPr lang="en-US" sz="1100" dirty="0">
                <a:solidFill>
                  <a:srgbClr val="9FBDC1"/>
                </a:solidFill>
                <a:latin typeface="Calibri" pitchFamily="34" charset="0"/>
                <a:ea typeface="Calibri" pitchFamily="34" charset="-122"/>
                <a:cs typeface="Calibri" pitchFamily="34" charset="-120"/>
              </a:rPr>
              <a:t>When the crew finishes, the moderator marks it done. This opens a window instead of closing the report.</a:t>
            </a:r>
            <a:endParaRPr lang="en-US" sz="1100" dirty="0"/>
          </a:p>
        </p:txBody>
      </p:sp>
      <p:sp>
        <p:nvSpPr>
          <p:cNvPr id="21" name="Shape 16"/>
          <p:cNvSpPr/>
          <p:nvPr/>
        </p:nvSpPr>
        <p:spPr>
          <a:xfrm>
            <a:off x="8864879" y="2834640"/>
            <a:ext cx="201168" cy="137160"/>
          </a:xfrm>
          <a:prstGeom prst="rightArrow">
            <a:avLst/>
          </a:prstGeom>
          <a:solidFill>
            <a:srgbClr val="17A2AC"/>
          </a:solidFill>
          <a:ln/>
        </p:spPr>
      </p:sp>
      <p:sp>
        <p:nvSpPr>
          <p:cNvPr id="22" name="Shape 17"/>
          <p:cNvSpPr/>
          <p:nvPr/>
        </p:nvSpPr>
        <p:spPr>
          <a:xfrm>
            <a:off x="9175775" y="1700784"/>
            <a:ext cx="2448992" cy="2487168"/>
          </a:xfrm>
          <a:prstGeom prst="roundRect">
            <a:avLst>
              <a:gd name="adj" fmla="val 4481"/>
            </a:avLst>
          </a:prstGeom>
          <a:solidFill>
            <a:srgbClr val="0C3139"/>
          </a:solidFill>
          <a:ln w="12700">
            <a:solidFill>
              <a:srgbClr val="1B4A52"/>
            </a:solidFill>
            <a:prstDash val="solid"/>
          </a:ln>
        </p:spPr>
      </p:sp>
      <p:sp>
        <p:nvSpPr>
          <p:cNvPr id="23" name="Shape 18"/>
          <p:cNvSpPr/>
          <p:nvPr/>
        </p:nvSpPr>
        <p:spPr>
          <a:xfrm>
            <a:off x="9413519" y="1920240"/>
            <a:ext cx="457200" cy="457200"/>
          </a:xfrm>
          <a:prstGeom prst="ellipse">
            <a:avLst/>
          </a:prstGeom>
          <a:solidFill>
            <a:srgbClr val="D98A1F"/>
          </a:solidFill>
          <a:ln/>
        </p:spPr>
      </p:sp>
      <p:pic>
        <p:nvPicPr>
          <p:cNvPr id="24" name="Image 3" descr="preencoded.png"/>
          <p:cNvPicPr>
            <a:picLocks noChangeAspect="1"/>
          </p:cNvPicPr>
          <p:nvPr/>
        </p:nvPicPr>
        <p:blipFill>
          <a:blip r:embed="rId6"/>
          <a:stretch>
            <a:fillRect/>
          </a:stretch>
        </p:blipFill>
        <p:spPr>
          <a:xfrm>
            <a:off x="9520961" y="2027682"/>
            <a:ext cx="242316" cy="242316"/>
          </a:xfrm>
          <a:prstGeom prst="rect">
            <a:avLst/>
          </a:prstGeom>
        </p:spPr>
      </p:pic>
      <p:sp>
        <p:nvSpPr>
          <p:cNvPr id="25" name="Text 19"/>
          <p:cNvSpPr txBox="1"/>
          <p:nvPr/>
        </p:nvSpPr>
        <p:spPr>
          <a:xfrm>
            <a:off x="9413519" y="2505456"/>
            <a:ext cx="1973504" cy="32918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Residents decide</a:t>
            </a:r>
            <a:endParaRPr lang="en-US" sz="1400" dirty="0"/>
          </a:p>
        </p:txBody>
      </p:sp>
      <p:sp>
        <p:nvSpPr>
          <p:cNvPr id="26" name="Text 20"/>
          <p:cNvSpPr txBox="1"/>
          <p:nvPr/>
        </p:nvSpPr>
        <p:spPr>
          <a:xfrm>
            <a:off x="9413519" y="2871216"/>
            <a:ext cx="1973504" cy="1097280"/>
          </a:xfrm>
          <a:prstGeom prst="rect">
            <a:avLst/>
          </a:prstGeom>
          <a:noFill/>
          <a:ln/>
        </p:spPr>
        <p:txBody>
          <a:bodyPr wrap="square" lIns="0" tIns="0" rIns="0" bIns="0" rtlCol="0" anchor="ctr"/>
          <a:lstStyle/>
          <a:p>
            <a:pPr marL="0" indent="0">
              <a:lnSpc>
                <a:spcPct val="116000"/>
              </a:lnSpc>
              <a:buNone/>
            </a:pPr>
            <a:r>
              <a:rPr lang="en-US" sz="1100" dirty="0">
                <a:solidFill>
                  <a:srgbClr val="9FBDC1"/>
                </a:solidFill>
                <a:latin typeface="Calibri" pitchFamily="34" charset="0"/>
                <a:ea typeface="Calibri" pitchFamily="34" charset="-122"/>
                <a:cs typeface="Calibri" pitchFamily="34" charset="-120"/>
              </a:rPr>
              <a:t>Only the backers vote on whether it held. Majority decides; a rejected fix returns to the queue.</a:t>
            </a:r>
            <a:endParaRPr lang="en-US" sz="1100" dirty="0"/>
          </a:p>
        </p:txBody>
      </p:sp>
      <p:sp>
        <p:nvSpPr>
          <p:cNvPr id="27" name="Shape 21"/>
          <p:cNvSpPr/>
          <p:nvPr/>
        </p:nvSpPr>
        <p:spPr>
          <a:xfrm>
            <a:off x="566928" y="4443984"/>
            <a:ext cx="11057839" cy="1005840"/>
          </a:xfrm>
          <a:prstGeom prst="roundRect">
            <a:avLst>
              <a:gd name="adj" fmla="val 9091"/>
            </a:avLst>
          </a:prstGeom>
          <a:solidFill>
            <a:srgbClr val="0A3A42"/>
          </a:solidFill>
          <a:ln/>
        </p:spPr>
      </p:sp>
      <p:sp>
        <p:nvSpPr>
          <p:cNvPr id="28" name="Shape 22"/>
          <p:cNvSpPr/>
          <p:nvPr/>
        </p:nvSpPr>
        <p:spPr>
          <a:xfrm>
            <a:off x="877824" y="4718304"/>
            <a:ext cx="457200" cy="457200"/>
          </a:xfrm>
          <a:prstGeom prst="ellipse">
            <a:avLst/>
          </a:prstGeom>
          <a:solidFill>
            <a:srgbClr val="B26A00"/>
          </a:solidFill>
          <a:ln/>
        </p:spPr>
      </p:sp>
      <p:pic>
        <p:nvPicPr>
          <p:cNvPr id="29" name="Image 4" descr="preencoded.png"/>
          <p:cNvPicPr>
            <a:picLocks noChangeAspect="1"/>
          </p:cNvPicPr>
          <p:nvPr/>
        </p:nvPicPr>
        <p:blipFill>
          <a:blip r:embed="rId7"/>
          <a:stretch>
            <a:fillRect/>
          </a:stretch>
        </p:blipFill>
        <p:spPr>
          <a:xfrm>
            <a:off x="985266" y="4825746"/>
            <a:ext cx="242316" cy="242316"/>
          </a:xfrm>
          <a:prstGeom prst="rect">
            <a:avLst/>
          </a:prstGeom>
        </p:spPr>
      </p:pic>
      <p:sp>
        <p:nvSpPr>
          <p:cNvPr id="30" name="Text 23"/>
          <p:cNvSpPr txBox="1"/>
          <p:nvPr/>
        </p:nvSpPr>
        <p:spPr>
          <a:xfrm>
            <a:off x="1517904" y="4645152"/>
            <a:ext cx="9777679" cy="640080"/>
          </a:xfrm>
          <a:prstGeom prst="rect">
            <a:avLst/>
          </a:prstGeom>
          <a:noFill/>
          <a:ln/>
        </p:spPr>
        <p:txBody>
          <a:bodyPr wrap="square" lIns="0" tIns="0" rIns="0" bIns="0" rtlCol="0" anchor="ctr"/>
          <a:lstStyle/>
          <a:p>
            <a:pPr marL="0" indent="0">
              <a:lnSpc>
                <a:spcPct val="116000"/>
              </a:lnSpc>
              <a:buNone/>
            </a:pPr>
            <a:r>
              <a:rPr lang="en-US" sz="1250" b="1" dirty="0">
                <a:solidFill>
                  <a:srgbClr val="FFFFFF"/>
                </a:solidFill>
                <a:latin typeface="Calibri" pitchFamily="34" charset="0"/>
                <a:ea typeface="Calibri" pitchFamily="34" charset="-122"/>
                <a:cs typeface="Calibri" pitchFamily="34" charset="-120"/>
              </a:rPr>
              <a:t>If the fix is rejected </a:t>
            </a:r>
            <a:r>
              <a:rPr lang="en-US" sz="1250" dirty="0">
                <a:solidFill>
                  <a:srgbClr val="9FBDC1"/>
                </a:solidFill>
                <a:latin typeface="Calibri" pitchFamily="34" charset="0"/>
                <a:ea typeface="Calibri" pitchFamily="34" charset="-122"/>
                <a:cs typeface="Calibri" pitchFamily="34" charset="-120"/>
              </a:rPr>
              <a:t>the report becomes Disputed, keeps its discussion and its backers, and reappears on the moderator’s queue with a "Go again" action. The loop can run more than once.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System architecture</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Three tiers. A stateless JSON API between two single-page apps and one database.</a:t>
            </a:r>
            <a:endParaRPr lang="en-US" sz="1350" dirty="0"/>
          </a:p>
        </p:txBody>
      </p:sp>
      <p:sp>
        <p:nvSpPr>
          <p:cNvPr id="4" name="Shape 2"/>
          <p:cNvSpPr/>
          <p:nvPr/>
        </p:nvSpPr>
        <p:spPr>
          <a:xfrm>
            <a:off x="566928" y="1572768"/>
            <a:ext cx="11057839" cy="1316736"/>
          </a:xfrm>
          <a:prstGeom prst="roundRect">
            <a:avLst>
              <a:gd name="adj" fmla="val 8333"/>
            </a:avLst>
          </a:prstGeom>
          <a:solidFill>
            <a:srgbClr val="EDF4F4"/>
          </a:solidFill>
          <a:ln w="12700">
            <a:solidFill>
              <a:srgbClr val="D5E3E4"/>
            </a:solidFill>
            <a:prstDash val="solid"/>
          </a:ln>
        </p:spPr>
      </p:sp>
      <p:sp>
        <p:nvSpPr>
          <p:cNvPr id="5" name="Text 3"/>
          <p:cNvSpPr txBox="1"/>
          <p:nvPr/>
        </p:nvSpPr>
        <p:spPr>
          <a:xfrm>
            <a:off x="822960" y="1682496"/>
            <a:ext cx="1188720" cy="274320"/>
          </a:xfrm>
          <a:prstGeom prst="rect">
            <a:avLst/>
          </a:prstGeom>
          <a:noFill/>
          <a:ln/>
        </p:spPr>
        <p:txBody>
          <a:bodyPr wrap="square" lIns="0" tIns="0" rIns="0" bIns="0" rtlCol="0" anchor="ctr"/>
          <a:lstStyle/>
          <a:p>
            <a:pPr marL="0" indent="0">
              <a:buNone/>
            </a:pPr>
            <a:r>
              <a:rPr lang="en-US" sz="1250" b="1" dirty="0">
                <a:solidFill>
                  <a:srgbClr val="0F7C8A"/>
                </a:solidFill>
                <a:latin typeface="Cambria" pitchFamily="34" charset="0"/>
                <a:ea typeface="Cambria" pitchFamily="34" charset="-122"/>
                <a:cs typeface="Cambria" pitchFamily="34" charset="-120"/>
              </a:rPr>
              <a:t>Client</a:t>
            </a:r>
            <a:endParaRPr lang="en-US" sz="1250" dirty="0"/>
          </a:p>
        </p:txBody>
      </p:sp>
      <p:sp>
        <p:nvSpPr>
          <p:cNvPr id="6" name="Shape 4"/>
          <p:cNvSpPr/>
          <p:nvPr/>
        </p:nvSpPr>
        <p:spPr>
          <a:xfrm>
            <a:off x="2139696" y="1700784"/>
            <a:ext cx="4614520" cy="1060704"/>
          </a:xfrm>
          <a:prstGeom prst="roundRect">
            <a:avLst>
              <a:gd name="adj" fmla="val 6897"/>
            </a:avLst>
          </a:prstGeom>
          <a:solidFill>
            <a:srgbClr val="FFFFFF"/>
          </a:solidFill>
          <a:ln w="12700">
            <a:solidFill>
              <a:srgbClr val="D5E3E4"/>
            </a:solidFill>
            <a:prstDash val="solid"/>
          </a:ln>
        </p:spPr>
      </p:sp>
      <p:sp>
        <p:nvSpPr>
          <p:cNvPr id="7" name="Text 5"/>
          <p:cNvSpPr txBox="1"/>
          <p:nvPr/>
        </p:nvSpPr>
        <p:spPr>
          <a:xfrm>
            <a:off x="2304288" y="1773936"/>
            <a:ext cx="4285336" cy="256032"/>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index.html  →  App.jsx</a:t>
            </a:r>
            <a:endParaRPr lang="en-US" sz="1150" dirty="0"/>
          </a:p>
        </p:txBody>
      </p:sp>
      <p:sp>
        <p:nvSpPr>
          <p:cNvPr id="8" name="Text 6"/>
          <p:cNvSpPr txBox="1"/>
          <p:nvPr/>
        </p:nvSpPr>
        <p:spPr>
          <a:xfrm>
            <a:off x="2304288" y="2029968"/>
            <a:ext cx="4285336" cy="658368"/>
          </a:xfrm>
          <a:prstGeom prst="rect">
            <a:avLst/>
          </a:prstGeom>
          <a:noFill/>
          <a:ln/>
        </p:spPr>
        <p:txBody>
          <a:bodyPr wrap="square" lIns="0" tIns="0" rIns="0" bIns="0" rtlCol="0" anchor="ctr"/>
          <a:lstStyle/>
          <a:p>
            <a:pPr marL="0" indent="0">
              <a:lnSpc>
                <a:spcPct val="112000"/>
              </a:lnSpc>
              <a:buNone/>
            </a:pPr>
            <a:r>
              <a:rPr lang="en-US" sz="1000" dirty="0">
                <a:solidFill>
                  <a:srgbClr val="6D8589"/>
                </a:solidFill>
                <a:latin typeface="Calibri" pitchFamily="34" charset="0"/>
                <a:ea typeface="Calibri" pitchFamily="34" charset="-122"/>
                <a:cs typeface="Calibri" pitchFamily="34" charset="-120"/>
              </a:rPr>
              <a:t>Resident board: feed, filters, search, report detail, backing, discussion, the verification vote</a:t>
            </a:r>
            <a:endParaRPr lang="en-US" sz="1000" dirty="0"/>
          </a:p>
        </p:txBody>
      </p:sp>
      <p:sp>
        <p:nvSpPr>
          <p:cNvPr id="9" name="Shape 7"/>
          <p:cNvSpPr/>
          <p:nvPr/>
        </p:nvSpPr>
        <p:spPr>
          <a:xfrm>
            <a:off x="6937096" y="1700784"/>
            <a:ext cx="4614520" cy="1060704"/>
          </a:xfrm>
          <a:prstGeom prst="roundRect">
            <a:avLst>
              <a:gd name="adj" fmla="val 6897"/>
            </a:avLst>
          </a:prstGeom>
          <a:solidFill>
            <a:srgbClr val="FFFFFF"/>
          </a:solidFill>
          <a:ln w="12700">
            <a:solidFill>
              <a:srgbClr val="D5E3E4"/>
            </a:solidFill>
            <a:prstDash val="solid"/>
          </a:ln>
        </p:spPr>
      </p:sp>
      <p:sp>
        <p:nvSpPr>
          <p:cNvPr id="10" name="Text 8"/>
          <p:cNvSpPr txBox="1"/>
          <p:nvPr/>
        </p:nvSpPr>
        <p:spPr>
          <a:xfrm>
            <a:off x="7101688" y="1773936"/>
            <a:ext cx="4285336" cy="256032"/>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admin.html  →  admin.jsx</a:t>
            </a:r>
            <a:endParaRPr lang="en-US" sz="1150" dirty="0"/>
          </a:p>
        </p:txBody>
      </p:sp>
      <p:sp>
        <p:nvSpPr>
          <p:cNvPr id="11" name="Text 9"/>
          <p:cNvSpPr txBox="1"/>
          <p:nvPr/>
        </p:nvSpPr>
        <p:spPr>
          <a:xfrm>
            <a:off x="7101688" y="2029968"/>
            <a:ext cx="4285336" cy="658368"/>
          </a:xfrm>
          <a:prstGeom prst="rect">
            <a:avLst/>
          </a:prstGeom>
          <a:noFill/>
          <a:ln/>
        </p:spPr>
        <p:txBody>
          <a:bodyPr wrap="square" lIns="0" tIns="0" rIns="0" bIns="0" rtlCol="0" anchor="ctr"/>
          <a:lstStyle/>
          <a:p>
            <a:pPr marL="0" indent="0">
              <a:lnSpc>
                <a:spcPct val="112000"/>
              </a:lnSpc>
              <a:buNone/>
            </a:pPr>
            <a:r>
              <a:rPr lang="en-US" sz="1000" dirty="0">
                <a:solidFill>
                  <a:srgbClr val="6D8589"/>
                </a:solidFill>
                <a:latin typeface="Calibri" pitchFamily="34" charset="0"/>
                <a:ea typeface="Calibri" pitchFamily="34" charset="-122"/>
                <a:cs typeface="Calibri" pitchFamily="34" charset="-120"/>
              </a:rPr>
              <a:t>Ward dashboard: six queues, five summary cards, sorts, the transition actions, schedule dialog</a:t>
            </a:r>
            <a:endParaRPr lang="en-US" sz="1000" dirty="0"/>
          </a:p>
        </p:txBody>
      </p:sp>
      <p:sp>
        <p:nvSpPr>
          <p:cNvPr id="12" name="Shape 10"/>
          <p:cNvSpPr/>
          <p:nvPr/>
        </p:nvSpPr>
        <p:spPr>
          <a:xfrm>
            <a:off x="5760720" y="2944368"/>
            <a:ext cx="182880" cy="274320"/>
          </a:xfrm>
          <a:prstGeom prst="downArrow">
            <a:avLst/>
          </a:prstGeom>
          <a:solidFill>
            <a:srgbClr val="17A2AC"/>
          </a:solidFill>
          <a:ln/>
        </p:spPr>
      </p:sp>
      <p:sp>
        <p:nvSpPr>
          <p:cNvPr id="13" name="Text 11"/>
          <p:cNvSpPr txBox="1"/>
          <p:nvPr/>
        </p:nvSpPr>
        <p:spPr>
          <a:xfrm>
            <a:off x="6089904" y="2962656"/>
            <a:ext cx="4572000" cy="237744"/>
          </a:xfrm>
          <a:prstGeom prst="rect">
            <a:avLst/>
          </a:prstGeom>
          <a:noFill/>
          <a:ln/>
        </p:spPr>
        <p:txBody>
          <a:bodyPr wrap="square" lIns="0" tIns="0" rIns="0" bIns="0" rtlCol="0" anchor="ctr"/>
          <a:lstStyle/>
          <a:p>
            <a:pPr marL="0" indent="0">
              <a:buNone/>
            </a:pPr>
            <a:r>
              <a:rPr lang="en-US" sz="1000" i="1" dirty="0">
                <a:solidFill>
                  <a:srgbClr val="6D8589"/>
                </a:solidFill>
                <a:latin typeface="Calibri" pitchFamily="34" charset="0"/>
                <a:ea typeface="Calibri" pitchFamily="34" charset="-122"/>
                <a:cs typeface="Calibri" pitchFamily="34" charset="-120"/>
              </a:rPr>
              <a:t>HTTP / JSON   ·   Authorization: Bearer &lt;JWT&gt;</a:t>
            </a:r>
            <a:endParaRPr lang="en-US" sz="1000" dirty="0"/>
          </a:p>
        </p:txBody>
      </p:sp>
      <p:sp>
        <p:nvSpPr>
          <p:cNvPr id="14" name="Shape 12"/>
          <p:cNvSpPr/>
          <p:nvPr/>
        </p:nvSpPr>
        <p:spPr>
          <a:xfrm>
            <a:off x="566928" y="3291840"/>
            <a:ext cx="11057839" cy="1609344"/>
          </a:xfrm>
          <a:prstGeom prst="roundRect">
            <a:avLst>
              <a:gd name="adj" fmla="val 6818"/>
            </a:avLst>
          </a:prstGeom>
          <a:solidFill>
            <a:srgbClr val="062229"/>
          </a:solidFill>
          <a:ln/>
        </p:spPr>
      </p:sp>
      <p:sp>
        <p:nvSpPr>
          <p:cNvPr id="15" name="Text 13"/>
          <p:cNvSpPr txBox="1"/>
          <p:nvPr/>
        </p:nvSpPr>
        <p:spPr>
          <a:xfrm>
            <a:off x="822960" y="3401568"/>
            <a:ext cx="1371600" cy="274320"/>
          </a:xfrm>
          <a:prstGeom prst="rect">
            <a:avLst/>
          </a:prstGeom>
          <a:noFill/>
          <a:ln/>
        </p:spPr>
        <p:txBody>
          <a:bodyPr wrap="square" lIns="0" tIns="0" rIns="0" bIns="0" rtlCol="0" anchor="ctr"/>
          <a:lstStyle/>
          <a:p>
            <a:pPr marL="0" indent="0">
              <a:buNone/>
            </a:pPr>
            <a:r>
              <a:rPr lang="en-US" sz="1250" b="1" dirty="0">
                <a:solidFill>
                  <a:srgbClr val="17A2AC"/>
                </a:solidFill>
                <a:latin typeface="Cambria" pitchFamily="34" charset="0"/>
                <a:ea typeface="Cambria" pitchFamily="34" charset="-122"/>
                <a:cs typeface="Cambria" pitchFamily="34" charset="-120"/>
              </a:rPr>
              <a:t>Spring Boot API</a:t>
            </a:r>
            <a:endParaRPr lang="en-US" sz="1250" dirty="0"/>
          </a:p>
        </p:txBody>
      </p:sp>
      <p:sp>
        <p:nvSpPr>
          <p:cNvPr id="16" name="Shape 14"/>
          <p:cNvSpPr/>
          <p:nvPr/>
        </p:nvSpPr>
        <p:spPr>
          <a:xfrm>
            <a:off x="822960" y="3749040"/>
            <a:ext cx="2006742" cy="1024128"/>
          </a:xfrm>
          <a:prstGeom prst="roundRect">
            <a:avLst>
              <a:gd name="adj" fmla="val 7143"/>
            </a:avLst>
          </a:prstGeom>
          <a:solidFill>
            <a:srgbClr val="0C3139"/>
          </a:solidFill>
          <a:ln w="12700">
            <a:solidFill>
              <a:srgbClr val="1B4A52"/>
            </a:solidFill>
            <a:prstDash val="solid"/>
          </a:ln>
        </p:spPr>
      </p:sp>
      <p:sp>
        <p:nvSpPr>
          <p:cNvPr id="17" name="Text 15"/>
          <p:cNvSpPr txBox="1"/>
          <p:nvPr/>
        </p:nvSpPr>
        <p:spPr>
          <a:xfrm>
            <a:off x="932688" y="3822192"/>
            <a:ext cx="178728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JwtAuthFilter</a:t>
            </a:r>
            <a:endParaRPr lang="en-US" sz="1050" dirty="0"/>
          </a:p>
        </p:txBody>
      </p:sp>
      <p:sp>
        <p:nvSpPr>
          <p:cNvPr id="18" name="Text 16"/>
          <p:cNvSpPr txBox="1"/>
          <p:nvPr/>
        </p:nvSpPr>
        <p:spPr>
          <a:xfrm>
            <a:off x="932688" y="4078224"/>
            <a:ext cx="1787286" cy="640080"/>
          </a:xfrm>
          <a:prstGeom prst="rect">
            <a:avLst/>
          </a:prstGeom>
          <a:noFill/>
          <a:ln/>
        </p:spPr>
        <p:txBody>
          <a:bodyPr wrap="square" lIns="0" tIns="0" rIns="0" bIns="0" rtlCol="0" anchor="ctr"/>
          <a:lstStyle/>
          <a:p>
            <a:pPr marL="0" indent="0">
              <a:lnSpc>
                <a:spcPct val="110000"/>
              </a:lnSpc>
              <a:buNone/>
            </a:pPr>
            <a:r>
              <a:rPr lang="en-US" sz="880" dirty="0">
                <a:solidFill>
                  <a:srgbClr val="9FBDC1"/>
                </a:solidFill>
                <a:latin typeface="Calibri" pitchFamily="34" charset="0"/>
                <a:ea typeface="Calibri" pitchFamily="34" charset="-122"/>
                <a:cs typeface="Calibri" pitchFamily="34" charset="-120"/>
              </a:rPr>
              <a:t>Verifies the signature, then loads the account from the database by primary key</a:t>
            </a:r>
            <a:endParaRPr lang="en-US" sz="880" dirty="0"/>
          </a:p>
        </p:txBody>
      </p:sp>
      <p:sp>
        <p:nvSpPr>
          <p:cNvPr id="19" name="Shape 17"/>
          <p:cNvSpPr/>
          <p:nvPr/>
        </p:nvSpPr>
        <p:spPr>
          <a:xfrm>
            <a:off x="2843418" y="4206240"/>
            <a:ext cx="100584" cy="100584"/>
          </a:xfrm>
          <a:prstGeom prst="rightArrow">
            <a:avLst/>
          </a:prstGeom>
          <a:solidFill>
            <a:srgbClr val="17A2AC"/>
          </a:solidFill>
          <a:ln/>
        </p:spPr>
      </p:sp>
      <p:sp>
        <p:nvSpPr>
          <p:cNvPr id="20" name="Shape 18"/>
          <p:cNvSpPr/>
          <p:nvPr/>
        </p:nvSpPr>
        <p:spPr>
          <a:xfrm>
            <a:off x="2957718" y="3749040"/>
            <a:ext cx="2006742" cy="1024128"/>
          </a:xfrm>
          <a:prstGeom prst="roundRect">
            <a:avLst>
              <a:gd name="adj" fmla="val 7143"/>
            </a:avLst>
          </a:prstGeom>
          <a:solidFill>
            <a:srgbClr val="0C3139"/>
          </a:solidFill>
          <a:ln w="12700">
            <a:solidFill>
              <a:srgbClr val="1B4A52"/>
            </a:solidFill>
            <a:prstDash val="solid"/>
          </a:ln>
        </p:spPr>
      </p:sp>
      <p:sp>
        <p:nvSpPr>
          <p:cNvPr id="21" name="Text 19"/>
          <p:cNvSpPr txBox="1"/>
          <p:nvPr/>
        </p:nvSpPr>
        <p:spPr>
          <a:xfrm>
            <a:off x="3067446" y="3822192"/>
            <a:ext cx="178728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SecurityFilterChain</a:t>
            </a:r>
            <a:endParaRPr lang="en-US" sz="1050" dirty="0"/>
          </a:p>
        </p:txBody>
      </p:sp>
      <p:sp>
        <p:nvSpPr>
          <p:cNvPr id="22" name="Text 20"/>
          <p:cNvSpPr txBox="1"/>
          <p:nvPr/>
        </p:nvSpPr>
        <p:spPr>
          <a:xfrm>
            <a:off x="3067446" y="4078224"/>
            <a:ext cx="1787286" cy="640080"/>
          </a:xfrm>
          <a:prstGeom prst="rect">
            <a:avLst/>
          </a:prstGeom>
          <a:noFill/>
          <a:ln/>
        </p:spPr>
        <p:txBody>
          <a:bodyPr wrap="square" lIns="0" tIns="0" rIns="0" bIns="0" rtlCol="0" anchor="ctr"/>
          <a:lstStyle/>
          <a:p>
            <a:pPr marL="0" indent="0">
              <a:lnSpc>
                <a:spcPct val="110000"/>
              </a:lnSpc>
              <a:buNone/>
            </a:pPr>
            <a:r>
              <a:rPr lang="en-US" sz="880" dirty="0">
                <a:solidFill>
                  <a:srgbClr val="9FBDC1"/>
                </a:solidFill>
                <a:latin typeface="Calibri" pitchFamily="34" charset="0"/>
                <a:ea typeface="Calibri" pitchFamily="34" charset="-122"/>
                <a:cs typeface="Calibri" pitchFamily="34" charset="-120"/>
              </a:rPr>
              <a:t>Public reads, authenticated writes, /api/admin/** restricted to moderators</a:t>
            </a:r>
            <a:endParaRPr lang="en-US" sz="880" dirty="0"/>
          </a:p>
        </p:txBody>
      </p:sp>
      <p:sp>
        <p:nvSpPr>
          <p:cNvPr id="23" name="Shape 21"/>
          <p:cNvSpPr/>
          <p:nvPr/>
        </p:nvSpPr>
        <p:spPr>
          <a:xfrm>
            <a:off x="4978176" y="4206240"/>
            <a:ext cx="100584" cy="100584"/>
          </a:xfrm>
          <a:prstGeom prst="rightArrow">
            <a:avLst/>
          </a:prstGeom>
          <a:solidFill>
            <a:srgbClr val="17A2AC"/>
          </a:solidFill>
          <a:ln/>
        </p:spPr>
      </p:sp>
      <p:sp>
        <p:nvSpPr>
          <p:cNvPr id="24" name="Shape 22"/>
          <p:cNvSpPr/>
          <p:nvPr/>
        </p:nvSpPr>
        <p:spPr>
          <a:xfrm>
            <a:off x="5092476" y="3749040"/>
            <a:ext cx="2006742" cy="1024128"/>
          </a:xfrm>
          <a:prstGeom prst="roundRect">
            <a:avLst>
              <a:gd name="adj" fmla="val 7143"/>
            </a:avLst>
          </a:prstGeom>
          <a:solidFill>
            <a:srgbClr val="0C3139"/>
          </a:solidFill>
          <a:ln w="12700">
            <a:solidFill>
              <a:srgbClr val="1B4A52"/>
            </a:solidFill>
            <a:prstDash val="solid"/>
          </a:ln>
        </p:spPr>
      </p:sp>
      <p:sp>
        <p:nvSpPr>
          <p:cNvPr id="25" name="Text 23"/>
          <p:cNvSpPr txBox="1"/>
          <p:nvPr/>
        </p:nvSpPr>
        <p:spPr>
          <a:xfrm>
            <a:off x="5202204" y="3822192"/>
            <a:ext cx="178728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Controllers</a:t>
            </a:r>
            <a:endParaRPr lang="en-US" sz="1050" dirty="0"/>
          </a:p>
        </p:txBody>
      </p:sp>
      <p:sp>
        <p:nvSpPr>
          <p:cNvPr id="26" name="Text 24"/>
          <p:cNvSpPr txBox="1"/>
          <p:nvPr/>
        </p:nvSpPr>
        <p:spPr>
          <a:xfrm>
            <a:off x="5202204" y="4078224"/>
            <a:ext cx="1787286" cy="640080"/>
          </a:xfrm>
          <a:prstGeom prst="rect">
            <a:avLst/>
          </a:prstGeom>
          <a:noFill/>
          <a:ln/>
        </p:spPr>
        <p:txBody>
          <a:bodyPr wrap="square" lIns="0" tIns="0" rIns="0" bIns="0" rtlCol="0" anchor="ctr"/>
          <a:lstStyle/>
          <a:p>
            <a:pPr marL="0" indent="0">
              <a:lnSpc>
                <a:spcPct val="110000"/>
              </a:lnSpc>
              <a:buNone/>
            </a:pPr>
            <a:r>
              <a:rPr lang="en-US" sz="880" dirty="0">
                <a:solidFill>
                  <a:srgbClr val="9FBDC1"/>
                </a:solidFill>
                <a:latin typeface="Calibri" pitchFamily="34" charset="0"/>
                <a:ea typeface="Calibri" pitchFamily="34" charset="-122"/>
                <a:cs typeface="Calibri" pitchFamily="34" charset="-120"/>
              </a:rPr>
              <a:t>Issue, Comment, Vote, Auth, Admin - request validation and status codes</a:t>
            </a:r>
            <a:endParaRPr lang="en-US" sz="880" dirty="0"/>
          </a:p>
        </p:txBody>
      </p:sp>
      <p:sp>
        <p:nvSpPr>
          <p:cNvPr id="27" name="Shape 25"/>
          <p:cNvSpPr/>
          <p:nvPr/>
        </p:nvSpPr>
        <p:spPr>
          <a:xfrm>
            <a:off x="7112935" y="4206240"/>
            <a:ext cx="100584" cy="100584"/>
          </a:xfrm>
          <a:prstGeom prst="rightArrow">
            <a:avLst/>
          </a:prstGeom>
          <a:solidFill>
            <a:srgbClr val="17A2AC"/>
          </a:solidFill>
          <a:ln/>
        </p:spPr>
      </p:sp>
      <p:sp>
        <p:nvSpPr>
          <p:cNvPr id="28" name="Shape 26"/>
          <p:cNvSpPr/>
          <p:nvPr/>
        </p:nvSpPr>
        <p:spPr>
          <a:xfrm>
            <a:off x="7227235" y="3749040"/>
            <a:ext cx="2006742" cy="1024128"/>
          </a:xfrm>
          <a:prstGeom prst="roundRect">
            <a:avLst>
              <a:gd name="adj" fmla="val 7143"/>
            </a:avLst>
          </a:prstGeom>
          <a:solidFill>
            <a:srgbClr val="0C3139"/>
          </a:solidFill>
          <a:ln w="12700">
            <a:solidFill>
              <a:srgbClr val="1B4A52"/>
            </a:solidFill>
            <a:prstDash val="solid"/>
          </a:ln>
        </p:spPr>
      </p:sp>
      <p:sp>
        <p:nvSpPr>
          <p:cNvPr id="29" name="Text 27"/>
          <p:cNvSpPr txBox="1"/>
          <p:nvPr/>
        </p:nvSpPr>
        <p:spPr>
          <a:xfrm>
            <a:off x="7336963" y="3822192"/>
            <a:ext cx="178728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Services</a:t>
            </a:r>
            <a:endParaRPr lang="en-US" sz="1050" dirty="0"/>
          </a:p>
        </p:txBody>
      </p:sp>
      <p:sp>
        <p:nvSpPr>
          <p:cNvPr id="30" name="Text 28"/>
          <p:cNvSpPr txBox="1"/>
          <p:nvPr/>
        </p:nvSpPr>
        <p:spPr>
          <a:xfrm>
            <a:off x="7336963" y="4078224"/>
            <a:ext cx="1787286" cy="640080"/>
          </a:xfrm>
          <a:prstGeom prst="rect">
            <a:avLst/>
          </a:prstGeom>
          <a:noFill/>
          <a:ln/>
        </p:spPr>
        <p:txBody>
          <a:bodyPr wrap="square" lIns="0" tIns="0" rIns="0" bIns="0" rtlCol="0" anchor="ctr"/>
          <a:lstStyle/>
          <a:p>
            <a:pPr marL="0" indent="0">
              <a:lnSpc>
                <a:spcPct val="110000"/>
              </a:lnSpc>
              <a:buNone/>
            </a:pPr>
            <a:r>
              <a:rPr lang="en-US" sz="880" dirty="0">
                <a:solidFill>
                  <a:srgbClr val="9FBDC1"/>
                </a:solidFill>
                <a:latin typeface="Calibri" pitchFamily="34" charset="0"/>
                <a:ea typeface="Calibri" pitchFamily="34" charset="-122"/>
                <a:cs typeface="Calibri" pitchFamily="34" charset="-120"/>
              </a:rPr>
              <a:t>IssueService holds the transitions; VerificationSweeper settles expired windows</a:t>
            </a:r>
            <a:endParaRPr lang="en-US" sz="880" dirty="0"/>
          </a:p>
        </p:txBody>
      </p:sp>
      <p:sp>
        <p:nvSpPr>
          <p:cNvPr id="31" name="Shape 29"/>
          <p:cNvSpPr/>
          <p:nvPr/>
        </p:nvSpPr>
        <p:spPr>
          <a:xfrm>
            <a:off x="9247693" y="4206240"/>
            <a:ext cx="100584" cy="100584"/>
          </a:xfrm>
          <a:prstGeom prst="rightArrow">
            <a:avLst/>
          </a:prstGeom>
          <a:solidFill>
            <a:srgbClr val="17A2AC"/>
          </a:solidFill>
          <a:ln/>
        </p:spPr>
      </p:sp>
      <p:sp>
        <p:nvSpPr>
          <p:cNvPr id="32" name="Shape 30"/>
          <p:cNvSpPr/>
          <p:nvPr/>
        </p:nvSpPr>
        <p:spPr>
          <a:xfrm>
            <a:off x="9361993" y="3749040"/>
            <a:ext cx="2006742" cy="1024128"/>
          </a:xfrm>
          <a:prstGeom prst="roundRect">
            <a:avLst>
              <a:gd name="adj" fmla="val 7143"/>
            </a:avLst>
          </a:prstGeom>
          <a:solidFill>
            <a:srgbClr val="0C3139"/>
          </a:solidFill>
          <a:ln w="12700">
            <a:solidFill>
              <a:srgbClr val="1B4A52"/>
            </a:solidFill>
            <a:prstDash val="solid"/>
          </a:ln>
        </p:spPr>
      </p:sp>
      <p:sp>
        <p:nvSpPr>
          <p:cNvPr id="33" name="Text 31"/>
          <p:cNvSpPr txBox="1"/>
          <p:nvPr/>
        </p:nvSpPr>
        <p:spPr>
          <a:xfrm>
            <a:off x="9471721" y="3822192"/>
            <a:ext cx="1787286"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Repositories</a:t>
            </a:r>
            <a:endParaRPr lang="en-US" sz="1050" dirty="0"/>
          </a:p>
        </p:txBody>
      </p:sp>
      <p:sp>
        <p:nvSpPr>
          <p:cNvPr id="34" name="Text 32"/>
          <p:cNvSpPr txBox="1"/>
          <p:nvPr/>
        </p:nvSpPr>
        <p:spPr>
          <a:xfrm>
            <a:off x="9471721" y="4078224"/>
            <a:ext cx="1787286" cy="640080"/>
          </a:xfrm>
          <a:prstGeom prst="rect">
            <a:avLst/>
          </a:prstGeom>
          <a:noFill/>
          <a:ln/>
        </p:spPr>
        <p:txBody>
          <a:bodyPr wrap="square" lIns="0" tIns="0" rIns="0" bIns="0" rtlCol="0" anchor="ctr"/>
          <a:lstStyle/>
          <a:p>
            <a:pPr marL="0" indent="0">
              <a:lnSpc>
                <a:spcPct val="110000"/>
              </a:lnSpc>
              <a:buNone/>
            </a:pPr>
            <a:r>
              <a:rPr lang="en-US" sz="880" dirty="0">
                <a:solidFill>
                  <a:srgbClr val="9FBDC1"/>
                </a:solidFill>
                <a:latin typeface="Calibri" pitchFamily="34" charset="0"/>
                <a:ea typeface="Calibri" pitchFamily="34" charset="-122"/>
                <a:cs typeface="Calibri" pitchFamily="34" charset="-120"/>
              </a:rPr>
              <a:t>Spring Data JPA interfaces, plus specifications for filtering and sorting</a:t>
            </a:r>
            <a:endParaRPr lang="en-US" sz="880" dirty="0"/>
          </a:p>
        </p:txBody>
      </p:sp>
      <p:sp>
        <p:nvSpPr>
          <p:cNvPr id="35" name="Shape 33"/>
          <p:cNvSpPr/>
          <p:nvPr/>
        </p:nvSpPr>
        <p:spPr>
          <a:xfrm>
            <a:off x="5760720" y="4956048"/>
            <a:ext cx="182880" cy="256032"/>
          </a:xfrm>
          <a:prstGeom prst="downArrow">
            <a:avLst/>
          </a:prstGeom>
          <a:solidFill>
            <a:srgbClr val="17A2AC"/>
          </a:solidFill>
          <a:ln/>
        </p:spPr>
      </p:sp>
      <p:sp>
        <p:nvSpPr>
          <p:cNvPr id="36" name="Text 34"/>
          <p:cNvSpPr txBox="1"/>
          <p:nvPr/>
        </p:nvSpPr>
        <p:spPr>
          <a:xfrm>
            <a:off x="6089904" y="4974336"/>
            <a:ext cx="4572000" cy="219456"/>
          </a:xfrm>
          <a:prstGeom prst="rect">
            <a:avLst/>
          </a:prstGeom>
          <a:noFill/>
          <a:ln/>
        </p:spPr>
        <p:txBody>
          <a:bodyPr wrap="square" lIns="0" tIns="0" rIns="0" bIns="0" rtlCol="0" anchor="ctr"/>
          <a:lstStyle/>
          <a:p>
            <a:pPr marL="0" indent="0">
              <a:buNone/>
            </a:pPr>
            <a:r>
              <a:rPr lang="en-US" sz="1000" i="1" dirty="0">
                <a:solidFill>
                  <a:srgbClr val="6D8589"/>
                </a:solidFill>
                <a:latin typeface="Calibri" pitchFamily="34" charset="0"/>
                <a:ea typeface="Calibri" pitchFamily="34" charset="-122"/>
                <a:cs typeface="Calibri" pitchFamily="34" charset="-120"/>
              </a:rPr>
              <a:t>JDBC via HikariCP   ·   Hibernate 6.4</a:t>
            </a:r>
            <a:endParaRPr lang="en-US" sz="1000" dirty="0"/>
          </a:p>
        </p:txBody>
      </p:sp>
      <p:sp>
        <p:nvSpPr>
          <p:cNvPr id="37" name="Shape 35"/>
          <p:cNvSpPr/>
          <p:nvPr/>
        </p:nvSpPr>
        <p:spPr>
          <a:xfrm>
            <a:off x="566928" y="5285232"/>
            <a:ext cx="11057839" cy="749808"/>
          </a:xfrm>
          <a:prstGeom prst="roundRect">
            <a:avLst>
              <a:gd name="adj" fmla="val 14634"/>
            </a:avLst>
          </a:prstGeom>
          <a:solidFill>
            <a:srgbClr val="EDF4F4"/>
          </a:solidFill>
          <a:ln w="12700">
            <a:solidFill>
              <a:srgbClr val="D5E3E4"/>
            </a:solidFill>
            <a:prstDash val="solid"/>
          </a:ln>
        </p:spPr>
      </p:sp>
      <p:sp>
        <p:nvSpPr>
          <p:cNvPr id="38" name="Shape 36"/>
          <p:cNvSpPr/>
          <p:nvPr/>
        </p:nvSpPr>
        <p:spPr>
          <a:xfrm>
            <a:off x="822960" y="5449824"/>
            <a:ext cx="420624" cy="420624"/>
          </a:xfrm>
          <a:prstGeom prst="ellipse">
            <a:avLst/>
          </a:prstGeom>
          <a:solidFill>
            <a:srgbClr val="0F7C8A"/>
          </a:solidFill>
          <a:ln/>
        </p:spPr>
      </p:sp>
      <p:pic>
        <p:nvPicPr>
          <p:cNvPr id="39" name="Image 0" descr="preencoded.png"/>
          <p:cNvPicPr>
            <a:picLocks noChangeAspect="1"/>
          </p:cNvPicPr>
          <p:nvPr/>
        </p:nvPicPr>
        <p:blipFill>
          <a:blip r:embed="rId3"/>
          <a:stretch>
            <a:fillRect/>
          </a:stretch>
        </p:blipFill>
        <p:spPr>
          <a:xfrm>
            <a:off x="921807" y="5548671"/>
            <a:ext cx="222931" cy="222931"/>
          </a:xfrm>
          <a:prstGeom prst="rect">
            <a:avLst/>
          </a:prstGeom>
        </p:spPr>
      </p:pic>
      <p:sp>
        <p:nvSpPr>
          <p:cNvPr id="40" name="Text 37"/>
          <p:cNvSpPr txBox="1"/>
          <p:nvPr/>
        </p:nvSpPr>
        <p:spPr>
          <a:xfrm>
            <a:off x="1389888" y="5431536"/>
            <a:ext cx="9869119" cy="457200"/>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PostgreSQL 16</a:t>
            </a:r>
            <a:r>
              <a:rPr lang="en-US" sz="1150" dirty="0">
                <a:solidFill>
                  <a:srgbClr val="3D5559"/>
                </a:solidFill>
                <a:latin typeface="Calibri" pitchFamily="34" charset="0"/>
                <a:ea typeface="Calibri" pitchFamily="34" charset="-122"/>
                <a:cs typeface="Calibri" pitchFamily="34" charset="-120"/>
              </a:rPr>
              <a:t>      five tables - app_user, issue, vote, comment, confirmation. Schema generated by Hibernate; seeded once on an empty database.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Key modules</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Six areas of functionality, and what each one actually enforces.</a:t>
            </a:r>
            <a:endParaRPr lang="en-US" sz="1350" dirty="0"/>
          </a:p>
        </p:txBody>
      </p:sp>
      <p:sp>
        <p:nvSpPr>
          <p:cNvPr id="4" name="Shape 2"/>
          <p:cNvSpPr/>
          <p:nvPr/>
        </p:nvSpPr>
        <p:spPr>
          <a:xfrm>
            <a:off x="566928" y="1645920"/>
            <a:ext cx="3533546" cy="1792224"/>
          </a:xfrm>
          <a:prstGeom prst="roundRect">
            <a:avLst>
              <a:gd name="adj" fmla="val 5102"/>
            </a:avLst>
          </a:prstGeom>
          <a:solidFill>
            <a:srgbClr val="EDF4F4"/>
          </a:solidFill>
          <a:ln w="12700">
            <a:solidFill>
              <a:srgbClr val="D5E3E4"/>
            </a:solidFill>
            <a:prstDash val="solid"/>
          </a:ln>
        </p:spPr>
      </p:sp>
      <p:sp>
        <p:nvSpPr>
          <p:cNvPr id="5" name="Shape 3"/>
          <p:cNvSpPr/>
          <p:nvPr/>
        </p:nvSpPr>
        <p:spPr>
          <a:xfrm>
            <a:off x="804672" y="1883664"/>
            <a:ext cx="420624" cy="420624"/>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03519" y="1982511"/>
            <a:ext cx="222931" cy="222931"/>
          </a:xfrm>
          <a:prstGeom prst="rect">
            <a:avLst/>
          </a:prstGeom>
        </p:spPr>
      </p:pic>
      <p:sp>
        <p:nvSpPr>
          <p:cNvPr id="7" name="Text 4"/>
          <p:cNvSpPr txBox="1"/>
          <p:nvPr/>
        </p:nvSpPr>
        <p:spPr>
          <a:xfrm>
            <a:off x="1353312" y="1856232"/>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Reporting</a:t>
            </a:r>
            <a:endParaRPr lang="en-US" sz="1400" dirty="0"/>
          </a:p>
        </p:txBody>
      </p:sp>
      <p:sp>
        <p:nvSpPr>
          <p:cNvPr id="8" name="Text 5"/>
          <p:cNvSpPr txBox="1"/>
          <p:nvPr/>
        </p:nvSpPr>
        <p:spPr>
          <a:xfrm>
            <a:off x="804672" y="2395728"/>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Title, description, one of seven categories and a locality. Reports open in the Reported state and are visible to everyone, signed in or not.</a:t>
            </a:r>
            <a:endParaRPr lang="en-US" sz="1100" dirty="0"/>
          </a:p>
        </p:txBody>
      </p:sp>
      <p:sp>
        <p:nvSpPr>
          <p:cNvPr id="9" name="Shape 6"/>
          <p:cNvSpPr/>
          <p:nvPr/>
        </p:nvSpPr>
        <p:spPr>
          <a:xfrm>
            <a:off x="4329074" y="1645920"/>
            <a:ext cx="3533546" cy="1792224"/>
          </a:xfrm>
          <a:prstGeom prst="roundRect">
            <a:avLst>
              <a:gd name="adj" fmla="val 5102"/>
            </a:avLst>
          </a:prstGeom>
          <a:solidFill>
            <a:srgbClr val="EDF4F4"/>
          </a:solidFill>
          <a:ln w="12700">
            <a:solidFill>
              <a:srgbClr val="D5E3E4"/>
            </a:solidFill>
            <a:prstDash val="solid"/>
          </a:ln>
        </p:spPr>
      </p:sp>
      <p:sp>
        <p:nvSpPr>
          <p:cNvPr id="10" name="Shape 7"/>
          <p:cNvSpPr/>
          <p:nvPr/>
        </p:nvSpPr>
        <p:spPr>
          <a:xfrm>
            <a:off x="4566818" y="1883664"/>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4665665" y="1982511"/>
            <a:ext cx="222931" cy="222931"/>
          </a:xfrm>
          <a:prstGeom prst="rect">
            <a:avLst/>
          </a:prstGeom>
        </p:spPr>
      </p:pic>
      <p:sp>
        <p:nvSpPr>
          <p:cNvPr id="12" name="Text 8"/>
          <p:cNvSpPr txBox="1"/>
          <p:nvPr/>
        </p:nvSpPr>
        <p:spPr>
          <a:xfrm>
            <a:off x="5115458" y="1856232"/>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Backing</a:t>
            </a:r>
            <a:endParaRPr lang="en-US" sz="1400" dirty="0"/>
          </a:p>
        </p:txBody>
      </p:sp>
      <p:sp>
        <p:nvSpPr>
          <p:cNvPr id="13" name="Text 9"/>
          <p:cNvSpPr txBox="1"/>
          <p:nvPr/>
        </p:nvSpPr>
        <p:spPr>
          <a:xfrm>
            <a:off x="4566818" y="2395728"/>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One backing per account, enforced by a unique constraint on (user, issue) rather than by the interface. Backing can be withdrawn.</a:t>
            </a:r>
            <a:endParaRPr lang="en-US" sz="1100" dirty="0"/>
          </a:p>
        </p:txBody>
      </p:sp>
      <p:sp>
        <p:nvSpPr>
          <p:cNvPr id="14" name="Shape 10"/>
          <p:cNvSpPr/>
          <p:nvPr/>
        </p:nvSpPr>
        <p:spPr>
          <a:xfrm>
            <a:off x="8091221" y="1645920"/>
            <a:ext cx="3533546" cy="1792224"/>
          </a:xfrm>
          <a:prstGeom prst="roundRect">
            <a:avLst>
              <a:gd name="adj" fmla="val 5102"/>
            </a:avLst>
          </a:prstGeom>
          <a:solidFill>
            <a:srgbClr val="EDF4F4"/>
          </a:solidFill>
          <a:ln w="12700">
            <a:solidFill>
              <a:srgbClr val="D5E3E4"/>
            </a:solidFill>
            <a:prstDash val="solid"/>
          </a:ln>
        </p:spPr>
      </p:sp>
      <p:sp>
        <p:nvSpPr>
          <p:cNvPr id="15" name="Shape 11"/>
          <p:cNvSpPr/>
          <p:nvPr/>
        </p:nvSpPr>
        <p:spPr>
          <a:xfrm>
            <a:off x="8328965" y="1883664"/>
            <a:ext cx="420624" cy="420624"/>
          </a:xfrm>
          <a:prstGeom prst="ellipse">
            <a:avLst/>
          </a:prstGeom>
          <a:solidFill>
            <a:srgbClr val="0F7C8A"/>
          </a:solidFill>
          <a:ln/>
        </p:spPr>
      </p:sp>
      <p:pic>
        <p:nvPicPr>
          <p:cNvPr id="16" name="Image 2" descr="preencoded.png"/>
          <p:cNvPicPr>
            <a:picLocks noChangeAspect="1"/>
          </p:cNvPicPr>
          <p:nvPr/>
        </p:nvPicPr>
        <p:blipFill>
          <a:blip r:embed="rId5"/>
          <a:stretch>
            <a:fillRect/>
          </a:stretch>
        </p:blipFill>
        <p:spPr>
          <a:xfrm>
            <a:off x="8427811" y="1982511"/>
            <a:ext cx="222931" cy="222931"/>
          </a:xfrm>
          <a:prstGeom prst="rect">
            <a:avLst/>
          </a:prstGeom>
        </p:spPr>
      </p:pic>
      <p:sp>
        <p:nvSpPr>
          <p:cNvPr id="17" name="Text 12"/>
          <p:cNvSpPr txBox="1"/>
          <p:nvPr/>
        </p:nvSpPr>
        <p:spPr>
          <a:xfrm>
            <a:off x="8877605" y="1856232"/>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Discussion</a:t>
            </a:r>
            <a:endParaRPr lang="en-US" sz="1400" dirty="0"/>
          </a:p>
        </p:txBody>
      </p:sp>
      <p:sp>
        <p:nvSpPr>
          <p:cNvPr id="18" name="Text 13"/>
          <p:cNvSpPr txBox="1"/>
          <p:nvPr/>
        </p:nvSpPr>
        <p:spPr>
          <a:xfrm>
            <a:off x="8328965" y="2395728"/>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Threaded replies on each report, visible publicly and writable by any signed-in account.</a:t>
            </a:r>
            <a:endParaRPr lang="en-US" sz="1100" dirty="0"/>
          </a:p>
        </p:txBody>
      </p:sp>
      <p:sp>
        <p:nvSpPr>
          <p:cNvPr id="19" name="Shape 14"/>
          <p:cNvSpPr/>
          <p:nvPr/>
        </p:nvSpPr>
        <p:spPr>
          <a:xfrm>
            <a:off x="566928" y="3675888"/>
            <a:ext cx="3533546" cy="1792224"/>
          </a:xfrm>
          <a:prstGeom prst="roundRect">
            <a:avLst>
              <a:gd name="adj" fmla="val 5102"/>
            </a:avLst>
          </a:prstGeom>
          <a:solidFill>
            <a:srgbClr val="EDF4F4"/>
          </a:solidFill>
          <a:ln w="12700">
            <a:solidFill>
              <a:srgbClr val="D5E3E4"/>
            </a:solidFill>
            <a:prstDash val="solid"/>
          </a:ln>
        </p:spPr>
      </p:sp>
      <p:sp>
        <p:nvSpPr>
          <p:cNvPr id="20" name="Shape 15"/>
          <p:cNvSpPr/>
          <p:nvPr/>
        </p:nvSpPr>
        <p:spPr>
          <a:xfrm>
            <a:off x="804672" y="3913632"/>
            <a:ext cx="420624" cy="420624"/>
          </a:xfrm>
          <a:prstGeom prst="ellipse">
            <a:avLst/>
          </a:prstGeom>
          <a:solidFill>
            <a:srgbClr val="0F7C8A"/>
          </a:solidFill>
          <a:ln/>
        </p:spPr>
      </p:sp>
      <p:pic>
        <p:nvPicPr>
          <p:cNvPr id="21" name="Image 3" descr="preencoded.png"/>
          <p:cNvPicPr>
            <a:picLocks noChangeAspect="1"/>
          </p:cNvPicPr>
          <p:nvPr/>
        </p:nvPicPr>
        <p:blipFill>
          <a:blip r:embed="rId6"/>
          <a:stretch>
            <a:fillRect/>
          </a:stretch>
        </p:blipFill>
        <p:spPr>
          <a:xfrm>
            <a:off x="903519" y="4012479"/>
            <a:ext cx="222931" cy="222931"/>
          </a:xfrm>
          <a:prstGeom prst="rect">
            <a:avLst/>
          </a:prstGeom>
        </p:spPr>
      </p:pic>
      <p:sp>
        <p:nvSpPr>
          <p:cNvPr id="22" name="Text 16"/>
          <p:cNvSpPr txBox="1"/>
          <p:nvPr/>
        </p:nvSpPr>
        <p:spPr>
          <a:xfrm>
            <a:off x="1353312" y="3886200"/>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Moderator queue</a:t>
            </a:r>
            <a:endParaRPr lang="en-US" sz="1400" dirty="0"/>
          </a:p>
        </p:txBody>
      </p:sp>
      <p:sp>
        <p:nvSpPr>
          <p:cNvPr id="23" name="Text 17"/>
          <p:cNvSpPr txBox="1"/>
          <p:nvPr/>
        </p:nvSpPr>
        <p:spPr>
          <a:xfrm>
            <a:off x="804672" y="4425696"/>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Six queues by stage, five live summary cards, six sort orders, search and category/locality filters, paged at 25.</a:t>
            </a:r>
            <a:endParaRPr lang="en-US" sz="1100" dirty="0"/>
          </a:p>
        </p:txBody>
      </p:sp>
      <p:sp>
        <p:nvSpPr>
          <p:cNvPr id="24" name="Shape 18"/>
          <p:cNvSpPr/>
          <p:nvPr/>
        </p:nvSpPr>
        <p:spPr>
          <a:xfrm>
            <a:off x="4329074" y="3675888"/>
            <a:ext cx="3533546" cy="1792224"/>
          </a:xfrm>
          <a:prstGeom prst="roundRect">
            <a:avLst>
              <a:gd name="adj" fmla="val 5102"/>
            </a:avLst>
          </a:prstGeom>
          <a:solidFill>
            <a:srgbClr val="EDF4F4"/>
          </a:solidFill>
          <a:ln w="12700">
            <a:solidFill>
              <a:srgbClr val="D5E3E4"/>
            </a:solidFill>
            <a:prstDash val="solid"/>
          </a:ln>
        </p:spPr>
      </p:sp>
      <p:sp>
        <p:nvSpPr>
          <p:cNvPr id="25" name="Shape 19"/>
          <p:cNvSpPr/>
          <p:nvPr/>
        </p:nvSpPr>
        <p:spPr>
          <a:xfrm>
            <a:off x="4566818" y="3913632"/>
            <a:ext cx="420624" cy="420624"/>
          </a:xfrm>
          <a:prstGeom prst="ellipse">
            <a:avLst/>
          </a:prstGeom>
          <a:solidFill>
            <a:srgbClr val="D98A1F"/>
          </a:solidFill>
          <a:ln/>
        </p:spPr>
      </p:sp>
      <p:pic>
        <p:nvPicPr>
          <p:cNvPr id="26" name="Image 4" descr="preencoded.png"/>
          <p:cNvPicPr>
            <a:picLocks noChangeAspect="1"/>
          </p:cNvPicPr>
          <p:nvPr/>
        </p:nvPicPr>
        <p:blipFill>
          <a:blip r:embed="rId7"/>
          <a:stretch>
            <a:fillRect/>
          </a:stretch>
        </p:blipFill>
        <p:spPr>
          <a:xfrm>
            <a:off x="4665665" y="4012479"/>
            <a:ext cx="222931" cy="222931"/>
          </a:xfrm>
          <a:prstGeom prst="rect">
            <a:avLst/>
          </a:prstGeom>
        </p:spPr>
      </p:pic>
      <p:sp>
        <p:nvSpPr>
          <p:cNvPr id="27" name="Text 20"/>
          <p:cNvSpPr txBox="1"/>
          <p:nvPr/>
        </p:nvSpPr>
        <p:spPr>
          <a:xfrm>
            <a:off x="5115458" y="3886200"/>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Verification</a:t>
            </a:r>
            <a:endParaRPr lang="en-US" sz="1400" dirty="0"/>
          </a:p>
        </p:txBody>
      </p:sp>
      <p:sp>
        <p:nvSpPr>
          <p:cNvPr id="28" name="Text 21"/>
          <p:cNvSpPr txBox="1"/>
          <p:nvPr/>
        </p:nvSpPr>
        <p:spPr>
          <a:xfrm>
            <a:off x="4566818" y="4425696"/>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A seven-day window after work is marked done. Only backers may answer; quorum is min(5, backers); majority settles it.</a:t>
            </a:r>
            <a:endParaRPr lang="en-US" sz="1100" dirty="0"/>
          </a:p>
        </p:txBody>
      </p:sp>
      <p:sp>
        <p:nvSpPr>
          <p:cNvPr id="29" name="Shape 22"/>
          <p:cNvSpPr/>
          <p:nvPr/>
        </p:nvSpPr>
        <p:spPr>
          <a:xfrm>
            <a:off x="8091221" y="3675888"/>
            <a:ext cx="3533546" cy="1792224"/>
          </a:xfrm>
          <a:prstGeom prst="roundRect">
            <a:avLst>
              <a:gd name="adj" fmla="val 5102"/>
            </a:avLst>
          </a:prstGeom>
          <a:solidFill>
            <a:srgbClr val="EDF4F4"/>
          </a:solidFill>
          <a:ln w="12700">
            <a:solidFill>
              <a:srgbClr val="D5E3E4"/>
            </a:solidFill>
            <a:prstDash val="solid"/>
          </a:ln>
        </p:spPr>
      </p:sp>
      <p:sp>
        <p:nvSpPr>
          <p:cNvPr id="30" name="Shape 23"/>
          <p:cNvSpPr/>
          <p:nvPr/>
        </p:nvSpPr>
        <p:spPr>
          <a:xfrm>
            <a:off x="8328965" y="3913632"/>
            <a:ext cx="420624" cy="420624"/>
          </a:xfrm>
          <a:prstGeom prst="ellipse">
            <a:avLst/>
          </a:prstGeom>
          <a:solidFill>
            <a:srgbClr val="0F7C8A"/>
          </a:solidFill>
          <a:ln/>
        </p:spPr>
      </p:sp>
      <p:pic>
        <p:nvPicPr>
          <p:cNvPr id="31" name="Image 5" descr="preencoded.png"/>
          <p:cNvPicPr>
            <a:picLocks noChangeAspect="1"/>
          </p:cNvPicPr>
          <p:nvPr/>
        </p:nvPicPr>
        <p:blipFill>
          <a:blip r:embed="rId8"/>
          <a:stretch>
            <a:fillRect/>
          </a:stretch>
        </p:blipFill>
        <p:spPr>
          <a:xfrm>
            <a:off x="8427811" y="4012479"/>
            <a:ext cx="222931" cy="222931"/>
          </a:xfrm>
          <a:prstGeom prst="rect">
            <a:avLst/>
          </a:prstGeom>
        </p:spPr>
      </p:pic>
      <p:sp>
        <p:nvSpPr>
          <p:cNvPr id="32" name="Text 24"/>
          <p:cNvSpPr txBox="1"/>
          <p:nvPr/>
        </p:nvSpPr>
        <p:spPr>
          <a:xfrm>
            <a:off x="8877605" y="3886200"/>
            <a:ext cx="2509418" cy="457200"/>
          </a:xfrm>
          <a:prstGeom prst="rect">
            <a:avLst/>
          </a:prstGeom>
          <a:noFill/>
          <a:ln/>
        </p:spPr>
        <p:txBody>
          <a:bodyPr wrap="square" lIns="0" tIns="0" rIns="0" bIns="0" rtlCol="0" anchor="ctr"/>
          <a:lstStyle/>
          <a:p>
            <a:pPr marL="0" indent="0">
              <a:buNone/>
            </a:pPr>
            <a:r>
              <a:rPr lang="en-US" sz="1400" b="1" dirty="0">
                <a:solidFill>
                  <a:srgbClr val="0B1F22"/>
                </a:solidFill>
                <a:latin typeface="Cambria" pitchFamily="34" charset="0"/>
                <a:ea typeface="Cambria" pitchFamily="34" charset="-122"/>
                <a:cs typeface="Cambria" pitchFamily="34" charset="-120"/>
              </a:rPr>
              <a:t>Accounts and roles</a:t>
            </a:r>
            <a:endParaRPr lang="en-US" sz="1400" dirty="0"/>
          </a:p>
        </p:txBody>
      </p:sp>
      <p:sp>
        <p:nvSpPr>
          <p:cNvPr id="33" name="Text 25"/>
          <p:cNvSpPr txBox="1"/>
          <p:nvPr/>
        </p:nvSpPr>
        <p:spPr>
          <a:xfrm>
            <a:off x="8328965" y="4425696"/>
            <a:ext cx="3058058" cy="804672"/>
          </a:xfrm>
          <a:prstGeom prst="rect">
            <a:avLst/>
          </a:prstGeom>
          <a:noFill/>
          <a:ln/>
        </p:spPr>
        <p:txBody>
          <a:bodyPr wrap="square" lIns="0" tIns="0" rIns="0" bIns="0" rtlCol="0" anchor="t"/>
          <a:lstStyle/>
          <a:p>
            <a:pPr marL="0" indent="0">
              <a:lnSpc>
                <a:spcPct val="116000"/>
              </a:lnSpc>
              <a:buNone/>
            </a:pPr>
            <a:r>
              <a:rPr lang="en-US" sz="1100" dirty="0">
                <a:solidFill>
                  <a:srgbClr val="3D5559"/>
                </a:solidFill>
                <a:latin typeface="Calibri" pitchFamily="34" charset="0"/>
                <a:ea typeface="Calibri" pitchFamily="34" charset="-122"/>
                <a:cs typeface="Calibri" pitchFamily="34" charset="-120"/>
              </a:rPr>
              <a:t>Register and sign in with email and password, BCrypt at strength 10, JWT bearer tokens, resident and moderator roles.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Technology stack</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Chosen for a self-contained build: no paid services and no third-party API keys anywhere.</a:t>
            </a:r>
            <a:endParaRPr lang="en-US" sz="1350" dirty="0"/>
          </a:p>
        </p:txBody>
      </p:sp>
      <p:sp>
        <p:nvSpPr>
          <p:cNvPr id="4" name="Shape 2"/>
          <p:cNvSpPr/>
          <p:nvPr/>
        </p:nvSpPr>
        <p:spPr>
          <a:xfrm>
            <a:off x="566928" y="1664208"/>
            <a:ext cx="2599868" cy="2907792"/>
          </a:xfrm>
          <a:prstGeom prst="roundRect">
            <a:avLst>
              <a:gd name="adj" fmla="val 4221"/>
            </a:avLst>
          </a:prstGeom>
          <a:solidFill>
            <a:srgbClr val="EDF4F4"/>
          </a:solidFill>
          <a:ln w="12700">
            <a:solidFill>
              <a:srgbClr val="D5E3E4"/>
            </a:solidFill>
            <a:prstDash val="solid"/>
          </a:ln>
        </p:spPr>
      </p:sp>
      <p:sp>
        <p:nvSpPr>
          <p:cNvPr id="5" name="Shape 3"/>
          <p:cNvSpPr/>
          <p:nvPr/>
        </p:nvSpPr>
        <p:spPr>
          <a:xfrm>
            <a:off x="786384" y="1865376"/>
            <a:ext cx="438912" cy="438912"/>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889528" y="1968520"/>
            <a:ext cx="232623" cy="232623"/>
          </a:xfrm>
          <a:prstGeom prst="rect">
            <a:avLst/>
          </a:prstGeom>
        </p:spPr>
      </p:pic>
      <p:sp>
        <p:nvSpPr>
          <p:cNvPr id="7" name="Text 4"/>
          <p:cNvSpPr txBox="1"/>
          <p:nvPr/>
        </p:nvSpPr>
        <p:spPr>
          <a:xfrm>
            <a:off x="1335024" y="1865376"/>
            <a:ext cx="1594028" cy="438912"/>
          </a:xfrm>
          <a:prstGeom prst="rect">
            <a:avLst/>
          </a:prstGeom>
          <a:noFill/>
          <a:ln/>
        </p:spPr>
        <p:txBody>
          <a:bodyPr wrap="square" lIns="0" tIns="0" rIns="0" bIns="0" rtlCol="0" anchor="ctr"/>
          <a:lstStyle/>
          <a:p>
            <a:pPr marL="0" indent="0">
              <a:buNone/>
            </a:pPr>
            <a:r>
              <a:rPr lang="en-US" sz="1500" b="1" dirty="0">
                <a:solidFill>
                  <a:srgbClr val="0B1F22"/>
                </a:solidFill>
                <a:latin typeface="Cambria" pitchFamily="34" charset="0"/>
                <a:ea typeface="Cambria" pitchFamily="34" charset="-122"/>
                <a:cs typeface="Cambria" pitchFamily="34" charset="-120"/>
              </a:rPr>
              <a:t>Frontend</a:t>
            </a:r>
            <a:endParaRPr lang="en-US" sz="1500" dirty="0"/>
          </a:p>
        </p:txBody>
      </p:sp>
      <p:sp>
        <p:nvSpPr>
          <p:cNvPr id="8" name="Text 5"/>
          <p:cNvSpPr txBox="1"/>
          <p:nvPr/>
        </p:nvSpPr>
        <p:spPr>
          <a:xfrm>
            <a:off x="786384" y="2505456"/>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React</a:t>
            </a:r>
            <a:endParaRPr lang="en-US" sz="1150" dirty="0"/>
          </a:p>
        </p:txBody>
      </p:sp>
      <p:sp>
        <p:nvSpPr>
          <p:cNvPr id="9" name="Text 6"/>
          <p:cNvSpPr txBox="1"/>
          <p:nvPr/>
        </p:nvSpPr>
        <p:spPr>
          <a:xfrm>
            <a:off x="786384" y="2715768"/>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18.3.1</a:t>
            </a:r>
            <a:endParaRPr lang="en-US" sz="1000" dirty="0"/>
          </a:p>
        </p:txBody>
      </p:sp>
      <p:sp>
        <p:nvSpPr>
          <p:cNvPr id="10" name="Text 7"/>
          <p:cNvSpPr txBox="1"/>
          <p:nvPr/>
        </p:nvSpPr>
        <p:spPr>
          <a:xfrm>
            <a:off x="786384" y="3017520"/>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Vite</a:t>
            </a:r>
            <a:endParaRPr lang="en-US" sz="1150" dirty="0"/>
          </a:p>
        </p:txBody>
      </p:sp>
      <p:sp>
        <p:nvSpPr>
          <p:cNvPr id="11" name="Text 8"/>
          <p:cNvSpPr txBox="1"/>
          <p:nvPr/>
        </p:nvSpPr>
        <p:spPr>
          <a:xfrm>
            <a:off x="786384" y="3227832"/>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5.4 (two entry points)</a:t>
            </a:r>
            <a:endParaRPr lang="en-US" sz="1000" dirty="0"/>
          </a:p>
        </p:txBody>
      </p:sp>
      <p:sp>
        <p:nvSpPr>
          <p:cNvPr id="12" name="Text 9"/>
          <p:cNvSpPr txBox="1"/>
          <p:nvPr/>
        </p:nvSpPr>
        <p:spPr>
          <a:xfrm>
            <a:off x="786384" y="3529584"/>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Plain CSS</a:t>
            </a:r>
            <a:endParaRPr lang="en-US" sz="1150" dirty="0"/>
          </a:p>
        </p:txBody>
      </p:sp>
      <p:sp>
        <p:nvSpPr>
          <p:cNvPr id="13" name="Text 10"/>
          <p:cNvSpPr txBox="1"/>
          <p:nvPr/>
        </p:nvSpPr>
        <p:spPr>
          <a:xfrm>
            <a:off x="786384" y="3739896"/>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2,773 lines, no framework</a:t>
            </a:r>
            <a:endParaRPr lang="en-US" sz="1000" dirty="0"/>
          </a:p>
        </p:txBody>
      </p:sp>
      <p:sp>
        <p:nvSpPr>
          <p:cNvPr id="14" name="Text 11"/>
          <p:cNvSpPr txBox="1"/>
          <p:nvPr/>
        </p:nvSpPr>
        <p:spPr>
          <a:xfrm>
            <a:off x="786384" y="4041648"/>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State</a:t>
            </a:r>
            <a:endParaRPr lang="en-US" sz="1150" dirty="0"/>
          </a:p>
        </p:txBody>
      </p:sp>
      <p:sp>
        <p:nvSpPr>
          <p:cNvPr id="15" name="Text 12"/>
          <p:cNvSpPr txBox="1"/>
          <p:nvPr/>
        </p:nvSpPr>
        <p:spPr>
          <a:xfrm>
            <a:off x="786384" y="4251960"/>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hooks only - no Redux</a:t>
            </a:r>
            <a:endParaRPr lang="en-US" sz="1000" dirty="0"/>
          </a:p>
        </p:txBody>
      </p:sp>
      <p:sp>
        <p:nvSpPr>
          <p:cNvPr id="16" name="Shape 13"/>
          <p:cNvSpPr/>
          <p:nvPr/>
        </p:nvSpPr>
        <p:spPr>
          <a:xfrm>
            <a:off x="3386252" y="1664208"/>
            <a:ext cx="2599868" cy="2907792"/>
          </a:xfrm>
          <a:prstGeom prst="roundRect">
            <a:avLst>
              <a:gd name="adj" fmla="val 4221"/>
            </a:avLst>
          </a:prstGeom>
          <a:solidFill>
            <a:srgbClr val="FFFFFF"/>
          </a:solidFill>
          <a:ln w="12700">
            <a:solidFill>
              <a:srgbClr val="D5E3E4"/>
            </a:solidFill>
            <a:prstDash val="solid"/>
          </a:ln>
        </p:spPr>
      </p:sp>
      <p:sp>
        <p:nvSpPr>
          <p:cNvPr id="17" name="Shape 14"/>
          <p:cNvSpPr/>
          <p:nvPr/>
        </p:nvSpPr>
        <p:spPr>
          <a:xfrm>
            <a:off x="3605708" y="1865376"/>
            <a:ext cx="438912" cy="438912"/>
          </a:xfrm>
          <a:prstGeom prst="ellipse">
            <a:avLst/>
          </a:prstGeom>
          <a:solidFill>
            <a:srgbClr val="0F7C8A"/>
          </a:solidFill>
          <a:ln/>
        </p:spPr>
      </p:sp>
      <p:pic>
        <p:nvPicPr>
          <p:cNvPr id="18" name="Image 1" descr="preencoded.png"/>
          <p:cNvPicPr>
            <a:picLocks noChangeAspect="1"/>
          </p:cNvPicPr>
          <p:nvPr/>
        </p:nvPicPr>
        <p:blipFill>
          <a:blip r:embed="rId4"/>
          <a:stretch>
            <a:fillRect/>
          </a:stretch>
        </p:blipFill>
        <p:spPr>
          <a:xfrm>
            <a:off x="3708852" y="1968520"/>
            <a:ext cx="232623" cy="232623"/>
          </a:xfrm>
          <a:prstGeom prst="rect">
            <a:avLst/>
          </a:prstGeom>
        </p:spPr>
      </p:pic>
      <p:sp>
        <p:nvSpPr>
          <p:cNvPr id="19" name="Text 15"/>
          <p:cNvSpPr txBox="1"/>
          <p:nvPr/>
        </p:nvSpPr>
        <p:spPr>
          <a:xfrm>
            <a:off x="4154348" y="1865376"/>
            <a:ext cx="1594028" cy="438912"/>
          </a:xfrm>
          <a:prstGeom prst="rect">
            <a:avLst/>
          </a:prstGeom>
          <a:noFill/>
          <a:ln/>
        </p:spPr>
        <p:txBody>
          <a:bodyPr wrap="square" lIns="0" tIns="0" rIns="0" bIns="0" rtlCol="0" anchor="ctr"/>
          <a:lstStyle/>
          <a:p>
            <a:pPr marL="0" indent="0">
              <a:buNone/>
            </a:pPr>
            <a:r>
              <a:rPr lang="en-US" sz="1500" b="1" dirty="0">
                <a:solidFill>
                  <a:srgbClr val="0B1F22"/>
                </a:solidFill>
                <a:latin typeface="Cambria" pitchFamily="34" charset="0"/>
                <a:ea typeface="Cambria" pitchFamily="34" charset="-122"/>
                <a:cs typeface="Cambria" pitchFamily="34" charset="-120"/>
              </a:rPr>
              <a:t>Backend</a:t>
            </a:r>
            <a:endParaRPr lang="en-US" sz="1500" dirty="0"/>
          </a:p>
        </p:txBody>
      </p:sp>
      <p:sp>
        <p:nvSpPr>
          <p:cNvPr id="20" name="Text 16"/>
          <p:cNvSpPr txBox="1"/>
          <p:nvPr/>
        </p:nvSpPr>
        <p:spPr>
          <a:xfrm>
            <a:off x="3605708" y="2505456"/>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Spring Boot</a:t>
            </a:r>
            <a:endParaRPr lang="en-US" sz="1150" dirty="0"/>
          </a:p>
        </p:txBody>
      </p:sp>
      <p:sp>
        <p:nvSpPr>
          <p:cNvPr id="21" name="Text 17"/>
          <p:cNvSpPr txBox="1"/>
          <p:nvPr/>
        </p:nvSpPr>
        <p:spPr>
          <a:xfrm>
            <a:off x="3605708" y="2715768"/>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3.2.5</a:t>
            </a:r>
            <a:endParaRPr lang="en-US" sz="1000" dirty="0"/>
          </a:p>
        </p:txBody>
      </p:sp>
      <p:sp>
        <p:nvSpPr>
          <p:cNvPr id="22" name="Text 18"/>
          <p:cNvSpPr txBox="1"/>
          <p:nvPr/>
        </p:nvSpPr>
        <p:spPr>
          <a:xfrm>
            <a:off x="3605708" y="3017520"/>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Java</a:t>
            </a:r>
            <a:endParaRPr lang="en-US" sz="1150" dirty="0"/>
          </a:p>
        </p:txBody>
      </p:sp>
      <p:sp>
        <p:nvSpPr>
          <p:cNvPr id="23" name="Text 19"/>
          <p:cNvSpPr txBox="1"/>
          <p:nvPr/>
        </p:nvSpPr>
        <p:spPr>
          <a:xfrm>
            <a:off x="3605708" y="3227832"/>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17</a:t>
            </a:r>
            <a:endParaRPr lang="en-US" sz="1000" dirty="0"/>
          </a:p>
        </p:txBody>
      </p:sp>
      <p:sp>
        <p:nvSpPr>
          <p:cNvPr id="24" name="Text 20"/>
          <p:cNvSpPr txBox="1"/>
          <p:nvPr/>
        </p:nvSpPr>
        <p:spPr>
          <a:xfrm>
            <a:off x="3605708" y="3529584"/>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Spring Web</a:t>
            </a:r>
            <a:endParaRPr lang="en-US" sz="1150" dirty="0"/>
          </a:p>
        </p:txBody>
      </p:sp>
      <p:sp>
        <p:nvSpPr>
          <p:cNvPr id="25" name="Text 21"/>
          <p:cNvSpPr txBox="1"/>
          <p:nvPr/>
        </p:nvSpPr>
        <p:spPr>
          <a:xfrm>
            <a:off x="3605708" y="3739896"/>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REST controllers</a:t>
            </a:r>
            <a:endParaRPr lang="en-US" sz="1000" dirty="0"/>
          </a:p>
        </p:txBody>
      </p:sp>
      <p:sp>
        <p:nvSpPr>
          <p:cNvPr id="26" name="Text 22"/>
          <p:cNvSpPr txBox="1"/>
          <p:nvPr/>
        </p:nvSpPr>
        <p:spPr>
          <a:xfrm>
            <a:off x="3605708" y="4041648"/>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Maven</a:t>
            </a:r>
            <a:endParaRPr lang="en-US" sz="1150" dirty="0"/>
          </a:p>
        </p:txBody>
      </p:sp>
      <p:sp>
        <p:nvSpPr>
          <p:cNvPr id="27" name="Text 23"/>
          <p:cNvSpPr txBox="1"/>
          <p:nvPr/>
        </p:nvSpPr>
        <p:spPr>
          <a:xfrm>
            <a:off x="3605708" y="4251960"/>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build and run</a:t>
            </a:r>
            <a:endParaRPr lang="en-US" sz="1000" dirty="0"/>
          </a:p>
        </p:txBody>
      </p:sp>
      <p:sp>
        <p:nvSpPr>
          <p:cNvPr id="28" name="Shape 24"/>
          <p:cNvSpPr/>
          <p:nvPr/>
        </p:nvSpPr>
        <p:spPr>
          <a:xfrm>
            <a:off x="6205576" y="1664208"/>
            <a:ext cx="2599868" cy="2907792"/>
          </a:xfrm>
          <a:prstGeom prst="roundRect">
            <a:avLst>
              <a:gd name="adj" fmla="val 4221"/>
            </a:avLst>
          </a:prstGeom>
          <a:solidFill>
            <a:srgbClr val="EDF4F4"/>
          </a:solidFill>
          <a:ln w="12700">
            <a:solidFill>
              <a:srgbClr val="D5E3E4"/>
            </a:solidFill>
            <a:prstDash val="solid"/>
          </a:ln>
        </p:spPr>
      </p:sp>
      <p:sp>
        <p:nvSpPr>
          <p:cNvPr id="29" name="Shape 25"/>
          <p:cNvSpPr/>
          <p:nvPr/>
        </p:nvSpPr>
        <p:spPr>
          <a:xfrm>
            <a:off x="6425032" y="1865376"/>
            <a:ext cx="438912" cy="438912"/>
          </a:xfrm>
          <a:prstGeom prst="ellipse">
            <a:avLst/>
          </a:prstGeom>
          <a:solidFill>
            <a:srgbClr val="0F7C8A"/>
          </a:solidFill>
          <a:ln/>
        </p:spPr>
      </p:sp>
      <p:pic>
        <p:nvPicPr>
          <p:cNvPr id="30" name="Image 2" descr="preencoded.png"/>
          <p:cNvPicPr>
            <a:picLocks noChangeAspect="1"/>
          </p:cNvPicPr>
          <p:nvPr/>
        </p:nvPicPr>
        <p:blipFill>
          <a:blip r:embed="rId5"/>
          <a:stretch>
            <a:fillRect/>
          </a:stretch>
        </p:blipFill>
        <p:spPr>
          <a:xfrm>
            <a:off x="6528176" y="1968520"/>
            <a:ext cx="232623" cy="232623"/>
          </a:xfrm>
          <a:prstGeom prst="rect">
            <a:avLst/>
          </a:prstGeom>
        </p:spPr>
      </p:pic>
      <p:sp>
        <p:nvSpPr>
          <p:cNvPr id="31" name="Text 26"/>
          <p:cNvSpPr txBox="1"/>
          <p:nvPr/>
        </p:nvSpPr>
        <p:spPr>
          <a:xfrm>
            <a:off x="6973672" y="1865376"/>
            <a:ext cx="1594028" cy="438912"/>
          </a:xfrm>
          <a:prstGeom prst="rect">
            <a:avLst/>
          </a:prstGeom>
          <a:noFill/>
          <a:ln/>
        </p:spPr>
        <p:txBody>
          <a:bodyPr wrap="square" lIns="0" tIns="0" rIns="0" bIns="0" rtlCol="0" anchor="ctr"/>
          <a:lstStyle/>
          <a:p>
            <a:pPr marL="0" indent="0">
              <a:buNone/>
            </a:pPr>
            <a:r>
              <a:rPr lang="en-US" sz="1500" b="1" dirty="0">
                <a:solidFill>
                  <a:srgbClr val="0B1F22"/>
                </a:solidFill>
                <a:latin typeface="Cambria" pitchFamily="34" charset="0"/>
                <a:ea typeface="Cambria" pitchFamily="34" charset="-122"/>
                <a:cs typeface="Cambria" pitchFamily="34" charset="-120"/>
              </a:rPr>
              <a:t>Data</a:t>
            </a:r>
            <a:endParaRPr lang="en-US" sz="1500" dirty="0"/>
          </a:p>
        </p:txBody>
      </p:sp>
      <p:sp>
        <p:nvSpPr>
          <p:cNvPr id="32" name="Text 27"/>
          <p:cNvSpPr txBox="1"/>
          <p:nvPr/>
        </p:nvSpPr>
        <p:spPr>
          <a:xfrm>
            <a:off x="6425032" y="2505456"/>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PostgreSQL</a:t>
            </a:r>
            <a:endParaRPr lang="en-US" sz="1150" dirty="0"/>
          </a:p>
        </p:txBody>
      </p:sp>
      <p:sp>
        <p:nvSpPr>
          <p:cNvPr id="33" name="Text 28"/>
          <p:cNvSpPr txBox="1"/>
          <p:nvPr/>
        </p:nvSpPr>
        <p:spPr>
          <a:xfrm>
            <a:off x="6425032" y="2715768"/>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16</a:t>
            </a:r>
            <a:endParaRPr lang="en-US" sz="1000" dirty="0"/>
          </a:p>
        </p:txBody>
      </p:sp>
      <p:sp>
        <p:nvSpPr>
          <p:cNvPr id="34" name="Text 29"/>
          <p:cNvSpPr txBox="1"/>
          <p:nvPr/>
        </p:nvSpPr>
        <p:spPr>
          <a:xfrm>
            <a:off x="6425032" y="3017520"/>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Spring Data JPA</a:t>
            </a:r>
            <a:endParaRPr lang="en-US" sz="1150" dirty="0"/>
          </a:p>
        </p:txBody>
      </p:sp>
      <p:sp>
        <p:nvSpPr>
          <p:cNvPr id="35" name="Text 30"/>
          <p:cNvSpPr txBox="1"/>
          <p:nvPr/>
        </p:nvSpPr>
        <p:spPr>
          <a:xfrm>
            <a:off x="6425032" y="3227832"/>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repositories</a:t>
            </a:r>
            <a:endParaRPr lang="en-US" sz="1000" dirty="0"/>
          </a:p>
        </p:txBody>
      </p:sp>
      <p:sp>
        <p:nvSpPr>
          <p:cNvPr id="36" name="Text 31"/>
          <p:cNvSpPr txBox="1"/>
          <p:nvPr/>
        </p:nvSpPr>
        <p:spPr>
          <a:xfrm>
            <a:off x="6425032" y="3529584"/>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Hibernate</a:t>
            </a:r>
            <a:endParaRPr lang="en-US" sz="1150" dirty="0"/>
          </a:p>
        </p:txBody>
      </p:sp>
      <p:sp>
        <p:nvSpPr>
          <p:cNvPr id="37" name="Text 32"/>
          <p:cNvSpPr txBox="1"/>
          <p:nvPr/>
        </p:nvSpPr>
        <p:spPr>
          <a:xfrm>
            <a:off x="6425032" y="3739896"/>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6.4.4</a:t>
            </a:r>
            <a:endParaRPr lang="en-US" sz="1000" dirty="0"/>
          </a:p>
        </p:txBody>
      </p:sp>
      <p:sp>
        <p:nvSpPr>
          <p:cNvPr id="38" name="Text 33"/>
          <p:cNvSpPr txBox="1"/>
          <p:nvPr/>
        </p:nvSpPr>
        <p:spPr>
          <a:xfrm>
            <a:off x="6425032" y="4041648"/>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HikariCP</a:t>
            </a:r>
            <a:endParaRPr lang="en-US" sz="1150" dirty="0"/>
          </a:p>
        </p:txBody>
      </p:sp>
      <p:sp>
        <p:nvSpPr>
          <p:cNvPr id="39" name="Text 34"/>
          <p:cNvSpPr txBox="1"/>
          <p:nvPr/>
        </p:nvSpPr>
        <p:spPr>
          <a:xfrm>
            <a:off x="6425032" y="4251960"/>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connection pool</a:t>
            </a:r>
            <a:endParaRPr lang="en-US" sz="1000" dirty="0"/>
          </a:p>
        </p:txBody>
      </p:sp>
      <p:sp>
        <p:nvSpPr>
          <p:cNvPr id="40" name="Shape 35"/>
          <p:cNvSpPr/>
          <p:nvPr/>
        </p:nvSpPr>
        <p:spPr>
          <a:xfrm>
            <a:off x="9024899" y="1664208"/>
            <a:ext cx="2599868" cy="2907792"/>
          </a:xfrm>
          <a:prstGeom prst="roundRect">
            <a:avLst>
              <a:gd name="adj" fmla="val 4221"/>
            </a:avLst>
          </a:prstGeom>
          <a:solidFill>
            <a:srgbClr val="FFFFFF"/>
          </a:solidFill>
          <a:ln w="12700">
            <a:solidFill>
              <a:srgbClr val="D5E3E4"/>
            </a:solidFill>
            <a:prstDash val="solid"/>
          </a:ln>
        </p:spPr>
      </p:sp>
      <p:sp>
        <p:nvSpPr>
          <p:cNvPr id="41" name="Shape 36"/>
          <p:cNvSpPr/>
          <p:nvPr/>
        </p:nvSpPr>
        <p:spPr>
          <a:xfrm>
            <a:off x="9244355" y="1865376"/>
            <a:ext cx="438912" cy="438912"/>
          </a:xfrm>
          <a:prstGeom prst="ellipse">
            <a:avLst/>
          </a:prstGeom>
          <a:solidFill>
            <a:srgbClr val="0F7C8A"/>
          </a:solidFill>
          <a:ln/>
        </p:spPr>
      </p:sp>
      <p:pic>
        <p:nvPicPr>
          <p:cNvPr id="42" name="Image 3" descr="preencoded.png"/>
          <p:cNvPicPr>
            <a:picLocks noChangeAspect="1"/>
          </p:cNvPicPr>
          <p:nvPr/>
        </p:nvPicPr>
        <p:blipFill>
          <a:blip r:embed="rId6"/>
          <a:stretch>
            <a:fillRect/>
          </a:stretch>
        </p:blipFill>
        <p:spPr>
          <a:xfrm>
            <a:off x="9347500" y="1968520"/>
            <a:ext cx="232623" cy="232623"/>
          </a:xfrm>
          <a:prstGeom prst="rect">
            <a:avLst/>
          </a:prstGeom>
        </p:spPr>
      </p:pic>
      <p:sp>
        <p:nvSpPr>
          <p:cNvPr id="43" name="Text 37"/>
          <p:cNvSpPr txBox="1"/>
          <p:nvPr/>
        </p:nvSpPr>
        <p:spPr>
          <a:xfrm>
            <a:off x="9792995" y="1865376"/>
            <a:ext cx="1594028" cy="438912"/>
          </a:xfrm>
          <a:prstGeom prst="rect">
            <a:avLst/>
          </a:prstGeom>
          <a:noFill/>
          <a:ln/>
        </p:spPr>
        <p:txBody>
          <a:bodyPr wrap="square" lIns="0" tIns="0" rIns="0" bIns="0" rtlCol="0" anchor="ctr"/>
          <a:lstStyle/>
          <a:p>
            <a:pPr marL="0" indent="0">
              <a:buNone/>
            </a:pPr>
            <a:r>
              <a:rPr lang="en-US" sz="1500" b="1" dirty="0">
                <a:solidFill>
                  <a:srgbClr val="0B1F22"/>
                </a:solidFill>
                <a:latin typeface="Cambria" pitchFamily="34" charset="0"/>
                <a:ea typeface="Cambria" pitchFamily="34" charset="-122"/>
                <a:cs typeface="Cambria" pitchFamily="34" charset="-120"/>
              </a:rPr>
              <a:t>Security</a:t>
            </a:r>
            <a:endParaRPr lang="en-US" sz="1500" dirty="0"/>
          </a:p>
        </p:txBody>
      </p:sp>
      <p:sp>
        <p:nvSpPr>
          <p:cNvPr id="44" name="Text 38"/>
          <p:cNvSpPr txBox="1"/>
          <p:nvPr/>
        </p:nvSpPr>
        <p:spPr>
          <a:xfrm>
            <a:off x="9244355" y="2505456"/>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Spring Security</a:t>
            </a:r>
            <a:endParaRPr lang="en-US" sz="1150" dirty="0"/>
          </a:p>
        </p:txBody>
      </p:sp>
      <p:sp>
        <p:nvSpPr>
          <p:cNvPr id="45" name="Text 39"/>
          <p:cNvSpPr txBox="1"/>
          <p:nvPr/>
        </p:nvSpPr>
        <p:spPr>
          <a:xfrm>
            <a:off x="9244355" y="2715768"/>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6.2, lambda DSL</a:t>
            </a:r>
            <a:endParaRPr lang="en-US" sz="1000" dirty="0"/>
          </a:p>
        </p:txBody>
      </p:sp>
      <p:sp>
        <p:nvSpPr>
          <p:cNvPr id="46" name="Text 40"/>
          <p:cNvSpPr txBox="1"/>
          <p:nvPr/>
        </p:nvSpPr>
        <p:spPr>
          <a:xfrm>
            <a:off x="9244355" y="3017520"/>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JWT</a:t>
            </a:r>
            <a:endParaRPr lang="en-US" sz="1150" dirty="0"/>
          </a:p>
        </p:txBody>
      </p:sp>
      <p:sp>
        <p:nvSpPr>
          <p:cNvPr id="47" name="Text 41"/>
          <p:cNvSpPr txBox="1"/>
          <p:nvPr/>
        </p:nvSpPr>
        <p:spPr>
          <a:xfrm>
            <a:off x="9244355" y="3227832"/>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stateless bearer tokens</a:t>
            </a:r>
            <a:endParaRPr lang="en-US" sz="1000" dirty="0"/>
          </a:p>
        </p:txBody>
      </p:sp>
      <p:sp>
        <p:nvSpPr>
          <p:cNvPr id="48" name="Text 42"/>
          <p:cNvSpPr txBox="1"/>
          <p:nvPr/>
        </p:nvSpPr>
        <p:spPr>
          <a:xfrm>
            <a:off x="9244355" y="3529584"/>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BCrypt</a:t>
            </a:r>
            <a:endParaRPr lang="en-US" sz="1150" dirty="0"/>
          </a:p>
        </p:txBody>
      </p:sp>
      <p:sp>
        <p:nvSpPr>
          <p:cNvPr id="49" name="Text 43"/>
          <p:cNvSpPr txBox="1"/>
          <p:nvPr/>
        </p:nvSpPr>
        <p:spPr>
          <a:xfrm>
            <a:off x="9244355" y="3739896"/>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strength 10</a:t>
            </a:r>
            <a:endParaRPr lang="en-US" sz="1000" dirty="0"/>
          </a:p>
        </p:txBody>
      </p:sp>
      <p:sp>
        <p:nvSpPr>
          <p:cNvPr id="50" name="Text 44"/>
          <p:cNvSpPr txBox="1"/>
          <p:nvPr/>
        </p:nvSpPr>
        <p:spPr>
          <a:xfrm>
            <a:off x="9244355" y="4041648"/>
            <a:ext cx="2160956" cy="219456"/>
          </a:xfrm>
          <a:prstGeom prst="rect">
            <a:avLst/>
          </a:prstGeom>
          <a:noFill/>
          <a:ln/>
        </p:spPr>
        <p:txBody>
          <a:bodyPr wrap="square" lIns="0" tIns="0" rIns="0" bIns="0" rtlCol="0" anchor="ctr"/>
          <a:lstStyle/>
          <a:p>
            <a:pPr marL="0" indent="0">
              <a:buNone/>
            </a:pPr>
            <a:r>
              <a:rPr lang="en-US" sz="1150" b="1" dirty="0">
                <a:solidFill>
                  <a:srgbClr val="0B1F22"/>
                </a:solidFill>
                <a:latin typeface="Calibri" pitchFamily="34" charset="0"/>
                <a:ea typeface="Calibri" pitchFamily="34" charset="-122"/>
                <a:cs typeface="Calibri" pitchFamily="34" charset="-120"/>
              </a:rPr>
              <a:t>Access model</a:t>
            </a:r>
            <a:endParaRPr lang="en-US" sz="1150" dirty="0"/>
          </a:p>
        </p:txBody>
      </p:sp>
      <p:sp>
        <p:nvSpPr>
          <p:cNvPr id="51" name="Text 45"/>
          <p:cNvSpPr txBox="1"/>
          <p:nvPr/>
        </p:nvSpPr>
        <p:spPr>
          <a:xfrm>
            <a:off x="9244355" y="4251960"/>
            <a:ext cx="2160956" cy="219456"/>
          </a:xfrm>
          <a:prstGeom prst="rect">
            <a:avLst/>
          </a:prstGeom>
          <a:noFill/>
          <a:ln/>
        </p:spPr>
        <p:txBody>
          <a:bodyPr wrap="square" lIns="0" tIns="0" rIns="0" bIns="0" rtlCol="0" anchor="ctr"/>
          <a:lstStyle/>
          <a:p>
            <a:pPr marL="0" indent="0">
              <a:buNone/>
            </a:pPr>
            <a:r>
              <a:rPr lang="en-US" sz="1000" dirty="0">
                <a:solidFill>
                  <a:srgbClr val="6D8589"/>
                </a:solidFill>
                <a:latin typeface="Calibri" pitchFamily="34" charset="0"/>
                <a:ea typeface="Calibri" pitchFamily="34" charset="-122"/>
                <a:cs typeface="Calibri" pitchFamily="34" charset="-120"/>
              </a:rPr>
              <a:t>default-deny</a:t>
            </a:r>
            <a:endParaRPr lang="en-US" sz="1000" dirty="0"/>
          </a:p>
        </p:txBody>
      </p:sp>
      <p:sp>
        <p:nvSpPr>
          <p:cNvPr id="52" name="Shape 46"/>
          <p:cNvSpPr/>
          <p:nvPr/>
        </p:nvSpPr>
        <p:spPr>
          <a:xfrm>
            <a:off x="566928" y="4754880"/>
            <a:ext cx="11057839" cy="841248"/>
          </a:xfrm>
          <a:prstGeom prst="roundRect">
            <a:avLst>
              <a:gd name="adj" fmla="val 13043"/>
            </a:avLst>
          </a:prstGeom>
          <a:solidFill>
            <a:srgbClr val="062229"/>
          </a:solidFill>
          <a:ln/>
        </p:spPr>
      </p:sp>
      <p:sp>
        <p:nvSpPr>
          <p:cNvPr id="53" name="Text 47"/>
          <p:cNvSpPr txBox="1"/>
          <p:nvPr/>
        </p:nvSpPr>
        <p:spPr>
          <a:xfrm>
            <a:off x="859536" y="4864608"/>
            <a:ext cx="10472623" cy="640080"/>
          </a:xfrm>
          <a:prstGeom prst="rect">
            <a:avLst/>
          </a:prstGeom>
          <a:noFill/>
          <a:ln/>
        </p:spPr>
        <p:txBody>
          <a:bodyPr wrap="square" lIns="0" tIns="0" rIns="0" bIns="0" rtlCol="0" anchor="ctr"/>
          <a:lstStyle/>
          <a:p>
            <a:pPr marL="0" indent="0">
              <a:lnSpc>
                <a:spcPct val="114000"/>
              </a:lnSpc>
              <a:buNone/>
            </a:pPr>
            <a:r>
              <a:rPr lang="en-US" sz="1150" b="1" dirty="0">
                <a:solidFill>
                  <a:srgbClr val="FFFFFF"/>
                </a:solidFill>
                <a:latin typeface="Calibri" pitchFamily="34" charset="0"/>
                <a:ea typeface="Calibri" pitchFamily="34" charset="-122"/>
                <a:cs typeface="Calibri" pitchFamily="34" charset="-120"/>
              </a:rPr>
              <a:t>Why this stack.  </a:t>
            </a:r>
            <a:r>
              <a:rPr lang="en-US" sz="1150" dirty="0">
                <a:solidFill>
                  <a:srgbClr val="9FBDC1"/>
                </a:solidFill>
                <a:latin typeface="Calibri" pitchFamily="34" charset="0"/>
                <a:ea typeface="Calibri" pitchFamily="34" charset="-122"/>
                <a:cs typeface="Calibri" pitchFamily="34" charset="-120"/>
              </a:rPr>
              <a:t>Spring Boot and PostgreSQL because the domain is relational and the rules - one backing per person, one confirmation per person - are naturally database constraints. React with plain CSS because the design is specific enough that a component library would have been fought rather than used.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Database design</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Five tables. The two uniqueness rules that make the counts trustworthy are highlighted.</a:t>
            </a:r>
            <a:endParaRPr lang="en-US" sz="1350" dirty="0"/>
          </a:p>
        </p:txBody>
      </p:sp>
      <p:sp>
        <p:nvSpPr>
          <p:cNvPr id="4" name="Shape 2"/>
          <p:cNvSpPr/>
          <p:nvPr/>
        </p:nvSpPr>
        <p:spPr>
          <a:xfrm>
            <a:off x="566928" y="1920240"/>
            <a:ext cx="2286000" cy="1828800"/>
          </a:xfrm>
          <a:prstGeom prst="roundRect">
            <a:avLst>
              <a:gd name="adj" fmla="val 5000"/>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5" name="Text 3"/>
          <p:cNvSpPr txBox="1"/>
          <p:nvPr/>
        </p:nvSpPr>
        <p:spPr>
          <a:xfrm>
            <a:off x="566928" y="1993392"/>
            <a:ext cx="2286000" cy="274320"/>
          </a:xfrm>
          <a:prstGeom prst="rect">
            <a:avLst/>
          </a:prstGeom>
          <a:noFill/>
          <a:ln/>
        </p:spPr>
        <p:txBody>
          <a:bodyPr wrap="square" lIns="0" tIns="0" rIns="0" bIns="0" rtlCol="0" anchor="ctr"/>
          <a:lstStyle/>
          <a:p>
            <a:pPr marL="0" indent="0" algn="ctr">
              <a:buNone/>
            </a:pPr>
            <a:r>
              <a:rPr lang="en-US" sz="1150" b="1" dirty="0">
                <a:solidFill>
                  <a:srgbClr val="0F7C8A"/>
                </a:solidFill>
                <a:latin typeface="Calibri" pitchFamily="34" charset="0"/>
                <a:ea typeface="Calibri" pitchFamily="34" charset="-122"/>
                <a:cs typeface="Calibri" pitchFamily="34" charset="-120"/>
              </a:rPr>
              <a:t>app_user</a:t>
            </a:r>
            <a:endParaRPr lang="en-US" sz="1150" dirty="0"/>
          </a:p>
        </p:txBody>
      </p:sp>
      <p:sp>
        <p:nvSpPr>
          <p:cNvPr id="6" name="Shape 4"/>
          <p:cNvSpPr/>
          <p:nvPr/>
        </p:nvSpPr>
        <p:spPr>
          <a:xfrm>
            <a:off x="658368" y="2286000"/>
            <a:ext cx="2103120" cy="0"/>
          </a:xfrm>
          <a:prstGeom prst="line">
            <a:avLst/>
          </a:prstGeom>
          <a:noFill/>
          <a:ln w="12700">
            <a:solidFill>
              <a:srgbClr val="D5E3E4"/>
            </a:solidFill>
            <a:prstDash val="solid"/>
          </a:ln>
        </p:spPr>
      </p:sp>
      <p:sp>
        <p:nvSpPr>
          <p:cNvPr id="7" name="Text 5"/>
          <p:cNvSpPr txBox="1"/>
          <p:nvPr/>
        </p:nvSpPr>
        <p:spPr>
          <a:xfrm>
            <a:off x="676656" y="2340864"/>
            <a:ext cx="2066544" cy="1316736"/>
          </a:xfrm>
          <a:prstGeom prst="rect">
            <a:avLst/>
          </a:prstGeom>
          <a:noFill/>
          <a:ln/>
        </p:spPr>
        <p:txBody>
          <a:bodyPr wrap="square" lIns="0" tIns="0" rIns="0" bIns="0" rtlCol="0" anchor="ctr"/>
          <a:lstStyle/>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id  PK</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display_name  unique</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email  unique</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password_hash</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role  RESIDENT |</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        MODERATOR | ADMIN</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created_at</a:t>
            </a:r>
            <a:endParaRPr lang="en-US" sz="860" dirty="0"/>
          </a:p>
        </p:txBody>
      </p:sp>
      <p:sp>
        <p:nvSpPr>
          <p:cNvPr id="8" name="Shape 6"/>
          <p:cNvSpPr/>
          <p:nvPr/>
        </p:nvSpPr>
        <p:spPr>
          <a:xfrm>
            <a:off x="3840480" y="1572768"/>
            <a:ext cx="2834640" cy="3200400"/>
          </a:xfrm>
          <a:prstGeom prst="roundRect">
            <a:avLst>
              <a:gd name="adj" fmla="val 3226"/>
            </a:avLst>
          </a:prstGeom>
          <a:solidFill>
            <a:srgbClr val="062229"/>
          </a:solidFill>
          <a:ln w="12700">
            <a:solidFill>
              <a:srgbClr val="062229"/>
            </a:solidFill>
            <a:prstDash val="solid"/>
          </a:ln>
          <a:effectLst>
            <a:outerShdw blurRad="127000" dist="25400" dir="5400000" algn="bl" rotWithShape="0">
              <a:srgbClr val="0B1F22">
                <a:alpha val="10000"/>
              </a:srgbClr>
            </a:outerShdw>
          </a:effectLst>
        </p:spPr>
      </p:sp>
      <p:sp>
        <p:nvSpPr>
          <p:cNvPr id="9" name="Text 7"/>
          <p:cNvSpPr txBox="1"/>
          <p:nvPr/>
        </p:nvSpPr>
        <p:spPr>
          <a:xfrm>
            <a:off x="3840480" y="1645920"/>
            <a:ext cx="2834640" cy="2743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issue</a:t>
            </a:r>
            <a:endParaRPr lang="en-US" sz="1150" dirty="0"/>
          </a:p>
        </p:txBody>
      </p:sp>
      <p:sp>
        <p:nvSpPr>
          <p:cNvPr id="10" name="Shape 8"/>
          <p:cNvSpPr/>
          <p:nvPr/>
        </p:nvSpPr>
        <p:spPr>
          <a:xfrm>
            <a:off x="3931920" y="1938528"/>
            <a:ext cx="2651760" cy="0"/>
          </a:xfrm>
          <a:prstGeom prst="line">
            <a:avLst/>
          </a:prstGeom>
          <a:noFill/>
          <a:ln w="12700">
            <a:solidFill>
              <a:srgbClr val="1E474F"/>
            </a:solidFill>
            <a:prstDash val="solid"/>
          </a:ln>
        </p:spPr>
      </p:sp>
      <p:sp>
        <p:nvSpPr>
          <p:cNvPr id="11" name="Text 9"/>
          <p:cNvSpPr txBox="1"/>
          <p:nvPr/>
        </p:nvSpPr>
        <p:spPr>
          <a:xfrm>
            <a:off x="3950208" y="1993392"/>
            <a:ext cx="2615184" cy="2688336"/>
          </a:xfrm>
          <a:prstGeom prst="rect">
            <a:avLst/>
          </a:prstGeom>
          <a:noFill/>
          <a:ln/>
        </p:spPr>
        <p:txBody>
          <a:bodyPr wrap="square" lIns="0" tIns="0" rIns="0" bIns="0" rtlCol="0" anchor="ctr"/>
          <a:lstStyle/>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id  PK</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title,  description</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category  enum (7)</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area</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status  enum (6)</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author_id  FK</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eta_date,  work_note</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acknowledged_at / _by FK</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verify_opened_at</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verify_deadline</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verify_quorum</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confirmed_count, denied_count</a:t>
            </a:r>
            <a:endParaRPr lang="en-US" sz="860" dirty="0"/>
          </a:p>
          <a:p>
            <a:pPr marL="0" indent="0">
              <a:lnSpc>
                <a:spcPct val="110000"/>
              </a:lnSpc>
              <a:buNone/>
            </a:pPr>
            <a:r>
              <a:rPr lang="en-US" sz="860" dirty="0">
                <a:solidFill>
                  <a:srgbClr val="9FBDC1"/>
                </a:solidFill>
                <a:latin typeface="Calibri" pitchFamily="34" charset="0"/>
                <a:ea typeface="Calibri" pitchFamily="34" charset="-122"/>
                <a:cs typeface="Calibri" pitchFamily="34" charset="-120"/>
              </a:rPr>
              <a:t>resolved_at,  created_at</a:t>
            </a:r>
            <a:endParaRPr lang="en-US" sz="860" dirty="0"/>
          </a:p>
        </p:txBody>
      </p:sp>
      <p:sp>
        <p:nvSpPr>
          <p:cNvPr id="12" name="Shape 10"/>
          <p:cNvSpPr/>
          <p:nvPr/>
        </p:nvSpPr>
        <p:spPr>
          <a:xfrm>
            <a:off x="8229600" y="1481328"/>
            <a:ext cx="2834640" cy="1060704"/>
          </a:xfrm>
          <a:prstGeom prst="roundRect">
            <a:avLst>
              <a:gd name="adj" fmla="val 8621"/>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13" name="Text 11"/>
          <p:cNvSpPr txBox="1"/>
          <p:nvPr/>
        </p:nvSpPr>
        <p:spPr>
          <a:xfrm>
            <a:off x="8229600" y="1554480"/>
            <a:ext cx="2834640" cy="274320"/>
          </a:xfrm>
          <a:prstGeom prst="rect">
            <a:avLst/>
          </a:prstGeom>
          <a:noFill/>
          <a:ln/>
        </p:spPr>
        <p:txBody>
          <a:bodyPr wrap="square" lIns="0" tIns="0" rIns="0" bIns="0" rtlCol="0" anchor="ctr"/>
          <a:lstStyle/>
          <a:p>
            <a:pPr marL="0" indent="0" algn="ctr">
              <a:buNone/>
            </a:pPr>
            <a:r>
              <a:rPr lang="en-US" sz="1150" b="1" dirty="0">
                <a:solidFill>
                  <a:srgbClr val="0F7C8A"/>
                </a:solidFill>
                <a:latin typeface="Calibri" pitchFamily="34" charset="0"/>
                <a:ea typeface="Calibri" pitchFamily="34" charset="-122"/>
                <a:cs typeface="Calibri" pitchFamily="34" charset="-120"/>
              </a:rPr>
              <a:t>vote</a:t>
            </a:r>
            <a:endParaRPr lang="en-US" sz="1150" dirty="0"/>
          </a:p>
        </p:txBody>
      </p:sp>
      <p:sp>
        <p:nvSpPr>
          <p:cNvPr id="14" name="Shape 12"/>
          <p:cNvSpPr/>
          <p:nvPr/>
        </p:nvSpPr>
        <p:spPr>
          <a:xfrm>
            <a:off x="8321040" y="1847088"/>
            <a:ext cx="2651760" cy="0"/>
          </a:xfrm>
          <a:prstGeom prst="line">
            <a:avLst/>
          </a:prstGeom>
          <a:noFill/>
          <a:ln w="12700">
            <a:solidFill>
              <a:srgbClr val="D5E3E4"/>
            </a:solidFill>
            <a:prstDash val="solid"/>
          </a:ln>
        </p:spPr>
      </p:sp>
      <p:sp>
        <p:nvSpPr>
          <p:cNvPr id="15" name="Text 13"/>
          <p:cNvSpPr txBox="1"/>
          <p:nvPr/>
        </p:nvSpPr>
        <p:spPr>
          <a:xfrm>
            <a:off x="8339328" y="1901952"/>
            <a:ext cx="2615184" cy="548640"/>
          </a:xfrm>
          <a:prstGeom prst="rect">
            <a:avLst/>
          </a:prstGeom>
          <a:noFill/>
          <a:ln/>
        </p:spPr>
        <p:txBody>
          <a:bodyPr wrap="square" lIns="0" tIns="0" rIns="0" bIns="0" rtlCol="0" anchor="ctr"/>
          <a:lstStyle/>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id PK · issue_id FK · user_id FK</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UNIQUE (issue_id, user_id)</a:t>
            </a:r>
            <a:endParaRPr lang="en-US" sz="860" dirty="0"/>
          </a:p>
        </p:txBody>
      </p:sp>
      <p:sp>
        <p:nvSpPr>
          <p:cNvPr id="16" name="Shape 14"/>
          <p:cNvSpPr/>
          <p:nvPr/>
        </p:nvSpPr>
        <p:spPr>
          <a:xfrm>
            <a:off x="8229600" y="2706624"/>
            <a:ext cx="2834640" cy="1060704"/>
          </a:xfrm>
          <a:prstGeom prst="roundRect">
            <a:avLst>
              <a:gd name="adj" fmla="val 8621"/>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17" name="Text 15"/>
          <p:cNvSpPr txBox="1"/>
          <p:nvPr/>
        </p:nvSpPr>
        <p:spPr>
          <a:xfrm>
            <a:off x="8229600" y="2779776"/>
            <a:ext cx="2834640" cy="274320"/>
          </a:xfrm>
          <a:prstGeom prst="rect">
            <a:avLst/>
          </a:prstGeom>
          <a:noFill/>
          <a:ln/>
        </p:spPr>
        <p:txBody>
          <a:bodyPr wrap="square" lIns="0" tIns="0" rIns="0" bIns="0" rtlCol="0" anchor="ctr"/>
          <a:lstStyle/>
          <a:p>
            <a:pPr marL="0" indent="0" algn="ctr">
              <a:buNone/>
            </a:pPr>
            <a:r>
              <a:rPr lang="en-US" sz="1150" b="1" dirty="0">
                <a:solidFill>
                  <a:srgbClr val="0F7C8A"/>
                </a:solidFill>
                <a:latin typeface="Calibri" pitchFamily="34" charset="0"/>
                <a:ea typeface="Calibri" pitchFamily="34" charset="-122"/>
                <a:cs typeface="Calibri" pitchFamily="34" charset="-120"/>
              </a:rPr>
              <a:t>comment</a:t>
            </a:r>
            <a:endParaRPr lang="en-US" sz="1150" dirty="0"/>
          </a:p>
        </p:txBody>
      </p:sp>
      <p:sp>
        <p:nvSpPr>
          <p:cNvPr id="18" name="Shape 16"/>
          <p:cNvSpPr/>
          <p:nvPr/>
        </p:nvSpPr>
        <p:spPr>
          <a:xfrm>
            <a:off x="8321040" y="3072384"/>
            <a:ext cx="2651760" cy="0"/>
          </a:xfrm>
          <a:prstGeom prst="line">
            <a:avLst/>
          </a:prstGeom>
          <a:noFill/>
          <a:ln w="12700">
            <a:solidFill>
              <a:srgbClr val="D5E3E4"/>
            </a:solidFill>
            <a:prstDash val="solid"/>
          </a:ln>
        </p:spPr>
      </p:sp>
      <p:sp>
        <p:nvSpPr>
          <p:cNvPr id="19" name="Text 17"/>
          <p:cNvSpPr txBox="1"/>
          <p:nvPr/>
        </p:nvSpPr>
        <p:spPr>
          <a:xfrm>
            <a:off x="8339328" y="3127248"/>
            <a:ext cx="2615184" cy="548640"/>
          </a:xfrm>
          <a:prstGeom prst="rect">
            <a:avLst/>
          </a:prstGeom>
          <a:noFill/>
          <a:ln/>
        </p:spPr>
        <p:txBody>
          <a:bodyPr wrap="square" lIns="0" tIns="0" rIns="0" bIns="0" rtlCol="0" anchor="ctr"/>
          <a:lstStyle/>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id PK · issue_id FK · author_id FK</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body · created_at</a:t>
            </a:r>
            <a:endParaRPr lang="en-US" sz="860" dirty="0"/>
          </a:p>
        </p:txBody>
      </p:sp>
      <p:sp>
        <p:nvSpPr>
          <p:cNvPr id="20" name="Shape 18"/>
          <p:cNvSpPr/>
          <p:nvPr/>
        </p:nvSpPr>
        <p:spPr>
          <a:xfrm>
            <a:off x="8229600" y="3931920"/>
            <a:ext cx="2834640" cy="1188720"/>
          </a:xfrm>
          <a:prstGeom prst="roundRect">
            <a:avLst>
              <a:gd name="adj" fmla="val 7692"/>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21" name="Text 19"/>
          <p:cNvSpPr txBox="1"/>
          <p:nvPr/>
        </p:nvSpPr>
        <p:spPr>
          <a:xfrm>
            <a:off x="8229600" y="4005072"/>
            <a:ext cx="2834640" cy="274320"/>
          </a:xfrm>
          <a:prstGeom prst="rect">
            <a:avLst/>
          </a:prstGeom>
          <a:noFill/>
          <a:ln/>
        </p:spPr>
        <p:txBody>
          <a:bodyPr wrap="square" lIns="0" tIns="0" rIns="0" bIns="0" rtlCol="0" anchor="ctr"/>
          <a:lstStyle/>
          <a:p>
            <a:pPr marL="0" indent="0" algn="ctr">
              <a:buNone/>
            </a:pPr>
            <a:r>
              <a:rPr lang="en-US" sz="1150" b="1" dirty="0">
                <a:solidFill>
                  <a:srgbClr val="0F7C8A"/>
                </a:solidFill>
                <a:latin typeface="Calibri" pitchFamily="34" charset="0"/>
                <a:ea typeface="Calibri" pitchFamily="34" charset="-122"/>
                <a:cs typeface="Calibri" pitchFamily="34" charset="-120"/>
              </a:rPr>
              <a:t>confirmation</a:t>
            </a:r>
            <a:endParaRPr lang="en-US" sz="1150" dirty="0"/>
          </a:p>
        </p:txBody>
      </p:sp>
      <p:sp>
        <p:nvSpPr>
          <p:cNvPr id="22" name="Shape 20"/>
          <p:cNvSpPr/>
          <p:nvPr/>
        </p:nvSpPr>
        <p:spPr>
          <a:xfrm>
            <a:off x="8321040" y="4297680"/>
            <a:ext cx="2651760" cy="0"/>
          </a:xfrm>
          <a:prstGeom prst="line">
            <a:avLst/>
          </a:prstGeom>
          <a:noFill/>
          <a:ln w="12700">
            <a:solidFill>
              <a:srgbClr val="D5E3E4"/>
            </a:solidFill>
            <a:prstDash val="solid"/>
          </a:ln>
        </p:spPr>
      </p:sp>
      <p:sp>
        <p:nvSpPr>
          <p:cNvPr id="23" name="Text 21"/>
          <p:cNvSpPr txBox="1"/>
          <p:nvPr/>
        </p:nvSpPr>
        <p:spPr>
          <a:xfrm>
            <a:off x="8339328" y="4352544"/>
            <a:ext cx="2615184" cy="676656"/>
          </a:xfrm>
          <a:prstGeom prst="rect">
            <a:avLst/>
          </a:prstGeom>
          <a:noFill/>
          <a:ln/>
        </p:spPr>
        <p:txBody>
          <a:bodyPr wrap="square" lIns="0" tIns="0" rIns="0" bIns="0" rtlCol="0" anchor="ctr"/>
          <a:lstStyle/>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id PK · issue_id FK · user_id FK</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confirmed  boolean</a:t>
            </a:r>
            <a:endParaRPr lang="en-US" sz="860" dirty="0"/>
          </a:p>
          <a:p>
            <a:pPr marL="0" indent="0">
              <a:lnSpc>
                <a:spcPct val="110000"/>
              </a:lnSpc>
              <a:buNone/>
            </a:pPr>
            <a:r>
              <a:rPr lang="en-US" sz="860" dirty="0">
                <a:solidFill>
                  <a:srgbClr val="3D5559"/>
                </a:solidFill>
                <a:latin typeface="Calibri" pitchFamily="34" charset="0"/>
                <a:ea typeface="Calibri" pitchFamily="34" charset="-122"/>
                <a:cs typeface="Calibri" pitchFamily="34" charset="-120"/>
              </a:rPr>
              <a:t>UNIQUE (issue_id, user_id)</a:t>
            </a:r>
            <a:endParaRPr lang="en-US" sz="860" dirty="0"/>
          </a:p>
        </p:txBody>
      </p:sp>
      <p:sp>
        <p:nvSpPr>
          <p:cNvPr id="24" name="Shape 22"/>
          <p:cNvSpPr/>
          <p:nvPr/>
        </p:nvSpPr>
        <p:spPr>
          <a:xfrm>
            <a:off x="2286000" y="2743200"/>
            <a:ext cx="1554480" cy="0"/>
          </a:xfrm>
          <a:prstGeom prst="line">
            <a:avLst/>
          </a:prstGeom>
          <a:noFill/>
          <a:ln w="15875">
            <a:solidFill>
              <a:srgbClr val="17A2AC"/>
            </a:solidFill>
            <a:prstDash val="solid"/>
          </a:ln>
        </p:spPr>
      </p:sp>
      <p:sp>
        <p:nvSpPr>
          <p:cNvPr id="25" name="Text 23"/>
          <p:cNvSpPr txBox="1"/>
          <p:nvPr/>
        </p:nvSpPr>
        <p:spPr>
          <a:xfrm>
            <a:off x="2688336" y="2523744"/>
            <a:ext cx="749808" cy="201168"/>
          </a:xfrm>
          <a:prstGeom prst="rect">
            <a:avLst/>
          </a:prstGeom>
          <a:noFill/>
          <a:ln/>
        </p:spPr>
        <p:txBody>
          <a:bodyPr wrap="square" lIns="0" tIns="0" rIns="0" bIns="0" rtlCol="0" anchor="ctr"/>
          <a:lstStyle/>
          <a:p>
            <a:pPr marL="0" indent="0" algn="ctr">
              <a:buNone/>
            </a:pPr>
            <a:r>
              <a:rPr lang="en-US" sz="840" b="1" dirty="0">
                <a:solidFill>
                  <a:srgbClr val="0F7C8A"/>
                </a:solidFill>
                <a:latin typeface="Calibri" pitchFamily="34" charset="0"/>
                <a:ea typeface="Calibri" pitchFamily="34" charset="-122"/>
                <a:cs typeface="Calibri" pitchFamily="34" charset="-120"/>
              </a:rPr>
              <a:t>1 : N</a:t>
            </a:r>
            <a:endParaRPr lang="en-US" sz="840" dirty="0"/>
          </a:p>
        </p:txBody>
      </p:sp>
      <p:sp>
        <p:nvSpPr>
          <p:cNvPr id="26" name="Shape 24"/>
          <p:cNvSpPr/>
          <p:nvPr/>
        </p:nvSpPr>
        <p:spPr>
          <a:xfrm>
            <a:off x="6675120" y="2011680"/>
            <a:ext cx="1554480" cy="0"/>
          </a:xfrm>
          <a:prstGeom prst="line">
            <a:avLst/>
          </a:prstGeom>
          <a:noFill/>
          <a:ln w="15875">
            <a:solidFill>
              <a:srgbClr val="17A2AC"/>
            </a:solidFill>
            <a:prstDash val="solid"/>
          </a:ln>
        </p:spPr>
      </p:sp>
      <p:sp>
        <p:nvSpPr>
          <p:cNvPr id="27" name="Text 25"/>
          <p:cNvSpPr txBox="1"/>
          <p:nvPr/>
        </p:nvSpPr>
        <p:spPr>
          <a:xfrm>
            <a:off x="7059168" y="1810512"/>
            <a:ext cx="749808" cy="201168"/>
          </a:xfrm>
          <a:prstGeom prst="rect">
            <a:avLst/>
          </a:prstGeom>
          <a:noFill/>
          <a:ln/>
        </p:spPr>
        <p:txBody>
          <a:bodyPr wrap="square" lIns="0" tIns="0" rIns="0" bIns="0" rtlCol="0" anchor="ctr"/>
          <a:lstStyle/>
          <a:p>
            <a:pPr marL="0" indent="0" algn="ctr">
              <a:buNone/>
            </a:pPr>
            <a:r>
              <a:rPr lang="en-US" sz="840" b="1" dirty="0">
                <a:solidFill>
                  <a:srgbClr val="0F7C8A"/>
                </a:solidFill>
                <a:latin typeface="Calibri" pitchFamily="34" charset="0"/>
                <a:ea typeface="Calibri" pitchFamily="34" charset="-122"/>
                <a:cs typeface="Calibri" pitchFamily="34" charset="-120"/>
              </a:rPr>
              <a:t>1 : N</a:t>
            </a:r>
            <a:endParaRPr lang="en-US" sz="840" dirty="0"/>
          </a:p>
        </p:txBody>
      </p:sp>
      <p:sp>
        <p:nvSpPr>
          <p:cNvPr id="28" name="Shape 26"/>
          <p:cNvSpPr/>
          <p:nvPr/>
        </p:nvSpPr>
        <p:spPr>
          <a:xfrm>
            <a:off x="6675120" y="3108960"/>
            <a:ext cx="1554480" cy="128016"/>
          </a:xfrm>
          <a:prstGeom prst="line">
            <a:avLst/>
          </a:prstGeom>
          <a:noFill/>
          <a:ln w="15875">
            <a:solidFill>
              <a:srgbClr val="17A2AC"/>
            </a:solidFill>
            <a:prstDash val="solid"/>
          </a:ln>
        </p:spPr>
      </p:sp>
      <p:sp>
        <p:nvSpPr>
          <p:cNvPr id="29" name="Text 27"/>
          <p:cNvSpPr txBox="1"/>
          <p:nvPr/>
        </p:nvSpPr>
        <p:spPr>
          <a:xfrm>
            <a:off x="7059168" y="2926080"/>
            <a:ext cx="749808" cy="201168"/>
          </a:xfrm>
          <a:prstGeom prst="rect">
            <a:avLst/>
          </a:prstGeom>
          <a:noFill/>
          <a:ln/>
        </p:spPr>
        <p:txBody>
          <a:bodyPr wrap="square" lIns="0" tIns="0" rIns="0" bIns="0" rtlCol="0" anchor="ctr"/>
          <a:lstStyle/>
          <a:p>
            <a:pPr marL="0" indent="0" algn="ctr">
              <a:buNone/>
            </a:pPr>
            <a:r>
              <a:rPr lang="en-US" sz="840" b="1" dirty="0">
                <a:solidFill>
                  <a:srgbClr val="0F7C8A"/>
                </a:solidFill>
                <a:latin typeface="Calibri" pitchFamily="34" charset="0"/>
                <a:ea typeface="Calibri" pitchFamily="34" charset="-122"/>
                <a:cs typeface="Calibri" pitchFamily="34" charset="-120"/>
              </a:rPr>
              <a:t>1 : N</a:t>
            </a:r>
            <a:endParaRPr lang="en-US" sz="840" dirty="0"/>
          </a:p>
        </p:txBody>
      </p:sp>
      <p:sp>
        <p:nvSpPr>
          <p:cNvPr id="30" name="Shape 28"/>
          <p:cNvSpPr/>
          <p:nvPr/>
        </p:nvSpPr>
        <p:spPr>
          <a:xfrm>
            <a:off x="6675120" y="4206240"/>
            <a:ext cx="1554480" cy="320040"/>
          </a:xfrm>
          <a:prstGeom prst="line">
            <a:avLst/>
          </a:prstGeom>
          <a:noFill/>
          <a:ln w="15875">
            <a:solidFill>
              <a:srgbClr val="17A2AC"/>
            </a:solidFill>
            <a:prstDash val="solid"/>
          </a:ln>
        </p:spPr>
      </p:sp>
      <p:sp>
        <p:nvSpPr>
          <p:cNvPr id="31" name="Text 29"/>
          <p:cNvSpPr txBox="1"/>
          <p:nvPr/>
        </p:nvSpPr>
        <p:spPr>
          <a:xfrm>
            <a:off x="7059168" y="4133088"/>
            <a:ext cx="749808" cy="201168"/>
          </a:xfrm>
          <a:prstGeom prst="rect">
            <a:avLst/>
          </a:prstGeom>
          <a:noFill/>
          <a:ln/>
        </p:spPr>
        <p:txBody>
          <a:bodyPr wrap="square" lIns="0" tIns="0" rIns="0" bIns="0" rtlCol="0" anchor="ctr"/>
          <a:lstStyle/>
          <a:p>
            <a:pPr marL="0" indent="0" algn="ctr">
              <a:buNone/>
            </a:pPr>
            <a:r>
              <a:rPr lang="en-US" sz="840" b="1" dirty="0">
                <a:solidFill>
                  <a:srgbClr val="0F7C8A"/>
                </a:solidFill>
                <a:latin typeface="Calibri" pitchFamily="34" charset="0"/>
                <a:ea typeface="Calibri" pitchFamily="34" charset="-122"/>
                <a:cs typeface="Calibri" pitchFamily="34" charset="-120"/>
              </a:rPr>
              <a:t>1 : N</a:t>
            </a:r>
            <a:endParaRPr lang="en-US" sz="840" dirty="0"/>
          </a:p>
        </p:txBody>
      </p:sp>
      <p:sp>
        <p:nvSpPr>
          <p:cNvPr id="32" name="Text 30"/>
          <p:cNvSpPr txBox="1"/>
          <p:nvPr/>
        </p:nvSpPr>
        <p:spPr>
          <a:xfrm>
            <a:off x="2286000" y="2907792"/>
            <a:ext cx="1554480" cy="201168"/>
          </a:xfrm>
          <a:prstGeom prst="rect">
            <a:avLst/>
          </a:prstGeom>
          <a:noFill/>
          <a:ln/>
        </p:spPr>
        <p:txBody>
          <a:bodyPr wrap="square" lIns="0" tIns="0" rIns="0" bIns="0" rtlCol="0" anchor="ctr"/>
          <a:lstStyle/>
          <a:p>
            <a:pPr marL="0" indent="0" algn="ctr">
              <a:buNone/>
            </a:pPr>
            <a:r>
              <a:rPr lang="en-US" sz="780" i="1" dirty="0">
                <a:solidFill>
                  <a:srgbClr val="6D8589"/>
                </a:solidFill>
                <a:latin typeface="Calibri" pitchFamily="34" charset="0"/>
                <a:ea typeface="Calibri" pitchFamily="34" charset="-122"/>
                <a:cs typeface="Calibri" pitchFamily="34" charset="-120"/>
              </a:rPr>
              <a:t>author, and acknowledged_by</a:t>
            </a:r>
            <a:endParaRPr lang="en-US" sz="780" dirty="0"/>
          </a:p>
        </p:txBody>
      </p:sp>
      <p:sp>
        <p:nvSpPr>
          <p:cNvPr id="33" name="Shape 31"/>
          <p:cNvSpPr/>
          <p:nvPr/>
        </p:nvSpPr>
        <p:spPr>
          <a:xfrm>
            <a:off x="566928" y="4206240"/>
            <a:ext cx="3017520" cy="1298448"/>
          </a:xfrm>
          <a:prstGeom prst="roundRect">
            <a:avLst>
              <a:gd name="adj" fmla="val 7042"/>
            </a:avLst>
          </a:prstGeom>
          <a:solidFill>
            <a:srgbClr val="EDF4F4"/>
          </a:solidFill>
          <a:ln w="12700">
            <a:solidFill>
              <a:srgbClr val="D5E3E4"/>
            </a:solidFill>
            <a:prstDash val="solid"/>
          </a:ln>
        </p:spPr>
      </p:sp>
      <p:sp>
        <p:nvSpPr>
          <p:cNvPr id="34" name="Text 32"/>
          <p:cNvSpPr txBox="1"/>
          <p:nvPr/>
        </p:nvSpPr>
        <p:spPr>
          <a:xfrm>
            <a:off x="731520" y="4315968"/>
            <a:ext cx="2743200" cy="457200"/>
          </a:xfrm>
          <a:prstGeom prst="rect">
            <a:avLst/>
          </a:prstGeom>
          <a:noFill/>
          <a:ln/>
        </p:spPr>
        <p:txBody>
          <a:bodyPr wrap="square" lIns="0" tIns="0" rIns="0" bIns="0" rtlCol="0" anchor="ctr"/>
          <a:lstStyle/>
          <a:p>
            <a:pPr marL="0" indent="0">
              <a:lnSpc>
                <a:spcPct val="110000"/>
              </a:lnSpc>
              <a:buNone/>
            </a:pPr>
            <a:r>
              <a:rPr lang="en-US" sz="960" b="1" dirty="0">
                <a:solidFill>
                  <a:srgbClr val="0B1F22"/>
                </a:solidFill>
                <a:latin typeface="Calibri" pitchFamily="34" charset="0"/>
                <a:ea typeface="Calibri" pitchFamily="34" charset="-122"/>
                <a:cs typeface="Calibri" pitchFamily="34" charset="-120"/>
              </a:rPr>
              <a:t>app_user also joins vote,</a:t>
            </a:r>
            <a:endParaRPr lang="en-US" sz="960" dirty="0"/>
          </a:p>
          <a:p>
            <a:pPr marL="0" indent="0">
              <a:lnSpc>
                <a:spcPct val="110000"/>
              </a:lnSpc>
              <a:buNone/>
            </a:pPr>
            <a:r>
              <a:rPr lang="en-US" sz="960" b="1" dirty="0">
                <a:solidFill>
                  <a:srgbClr val="0B1F22"/>
                </a:solidFill>
                <a:latin typeface="Calibri" pitchFamily="34" charset="0"/>
                <a:ea typeface="Calibri" pitchFamily="34" charset="-122"/>
                <a:cs typeface="Calibri" pitchFamily="34" charset="-120"/>
              </a:rPr>
              <a:t>comment and confirmation</a:t>
            </a:r>
            <a:endParaRPr lang="en-US" sz="960" dirty="0"/>
          </a:p>
        </p:txBody>
      </p:sp>
      <p:sp>
        <p:nvSpPr>
          <p:cNvPr id="35" name="Text 33"/>
          <p:cNvSpPr txBox="1"/>
          <p:nvPr/>
        </p:nvSpPr>
        <p:spPr>
          <a:xfrm>
            <a:off x="731520" y="4754880"/>
            <a:ext cx="2743200" cy="640080"/>
          </a:xfrm>
          <a:prstGeom prst="rect">
            <a:avLst/>
          </a:prstGeom>
          <a:noFill/>
          <a:ln/>
        </p:spPr>
        <p:txBody>
          <a:bodyPr wrap="square" lIns="0" tIns="0" rIns="0" bIns="0" rtlCol="0" anchor="ctr"/>
          <a:lstStyle/>
          <a:p>
            <a:pPr marL="0" indent="0">
              <a:lnSpc>
                <a:spcPct val="112000"/>
              </a:lnSpc>
              <a:buNone/>
            </a:pPr>
            <a:r>
              <a:rPr lang="en-US" sz="900" dirty="0">
                <a:solidFill>
                  <a:srgbClr val="3D5559"/>
                </a:solidFill>
                <a:latin typeface="Calibri" pitchFamily="34" charset="0"/>
                <a:ea typeface="Calibri" pitchFamily="34" charset="-122"/>
                <a:cs typeface="Calibri" pitchFamily="34" charset="-120"/>
              </a:rPr>
              <a:t>Each of the three is one row per person per report, so "who backed this" and "who has already answered" are both single queries.</a:t>
            </a:r>
            <a:endParaRPr lang="en-US" sz="900" dirty="0"/>
          </a:p>
        </p:txBody>
      </p:sp>
      <p:sp>
        <p:nvSpPr>
          <p:cNvPr id="36" name="Text 34"/>
          <p:cNvSpPr txBox="1"/>
          <p:nvPr/>
        </p:nvSpPr>
        <p:spPr>
          <a:xfrm>
            <a:off x="566928" y="5669280"/>
            <a:ext cx="11057839" cy="365760"/>
          </a:xfrm>
          <a:prstGeom prst="rect">
            <a:avLst/>
          </a:prstGeom>
          <a:noFill/>
          <a:ln/>
        </p:spPr>
        <p:txBody>
          <a:bodyPr wrap="square" lIns="0" tIns="0" rIns="0" bIns="0" rtlCol="0" anchor="ctr"/>
          <a:lstStyle/>
          <a:p>
            <a:pPr marL="0" indent="0">
              <a:buNone/>
            </a:pPr>
            <a:r>
              <a:rPr lang="en-US" sz="980" i="1" dirty="0">
                <a:solidFill>
                  <a:srgbClr val="6D8589"/>
                </a:solidFill>
                <a:latin typeface="Calibri" pitchFamily="34" charset="0"/>
                <a:ea typeface="Calibri" pitchFamily="34" charset="-122"/>
                <a:cs typeface="Calibri" pitchFamily="34" charset="-120"/>
              </a:rPr>
              <a:t>confirmed_count and denied_count are stored on issue as a running tally, so the queue can be sorted and filtered without counting rows on every read.</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Report lifecycle</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Six states. Transitions are named methods, so an illegal move cannot be expressed.</a:t>
            </a:r>
            <a:endParaRPr lang="en-US" sz="1350" dirty="0"/>
          </a:p>
        </p:txBody>
      </p:sp>
      <p:sp>
        <p:nvSpPr>
          <p:cNvPr id="4" name="Shape 2"/>
          <p:cNvSpPr/>
          <p:nvPr/>
        </p:nvSpPr>
        <p:spPr>
          <a:xfrm>
            <a:off x="566928" y="1865376"/>
            <a:ext cx="2066544" cy="658368"/>
          </a:xfrm>
          <a:prstGeom prst="roundRect">
            <a:avLst>
              <a:gd name="adj" fmla="val 13889"/>
            </a:avLst>
          </a:prstGeom>
          <a:solidFill>
            <a:srgbClr val="FFFFFF"/>
          </a:solidFill>
          <a:ln w="12700">
            <a:solidFill>
              <a:srgbClr val="6D8589"/>
            </a:solidFill>
            <a:prstDash val="solid"/>
          </a:ln>
          <a:effectLst>
            <a:outerShdw blurRad="127000" dist="25400" dir="5400000" algn="bl" rotWithShape="0">
              <a:srgbClr val="0B1F22">
                <a:alpha val="10000"/>
              </a:srgbClr>
            </a:outerShdw>
          </a:effectLst>
        </p:spPr>
      </p:sp>
      <p:sp>
        <p:nvSpPr>
          <p:cNvPr id="5" name="Text 3"/>
          <p:cNvSpPr txBox="1"/>
          <p:nvPr/>
        </p:nvSpPr>
        <p:spPr>
          <a:xfrm>
            <a:off x="566928" y="1865376"/>
            <a:ext cx="2066544" cy="658368"/>
          </a:xfrm>
          <a:prstGeom prst="rect">
            <a:avLst/>
          </a:prstGeom>
          <a:noFill/>
          <a:ln/>
        </p:spPr>
        <p:txBody>
          <a:bodyPr wrap="square" lIns="0" tIns="0" rIns="0" bIns="0" rtlCol="0" anchor="ctr"/>
          <a:lstStyle/>
          <a:p>
            <a:pPr marL="0" indent="0" algn="ctr">
              <a:buNone/>
            </a:pPr>
            <a:r>
              <a:rPr lang="en-US" sz="1250" b="1" dirty="0">
                <a:solidFill>
                  <a:srgbClr val="0B1F22"/>
                </a:solidFill>
                <a:latin typeface="Calibri" pitchFamily="34" charset="0"/>
                <a:ea typeface="Calibri" pitchFamily="34" charset="-122"/>
                <a:cs typeface="Calibri" pitchFamily="34" charset="-120"/>
              </a:rPr>
              <a:t>Reported</a:t>
            </a:r>
            <a:endParaRPr lang="en-US" sz="1250" dirty="0"/>
          </a:p>
        </p:txBody>
      </p:sp>
      <p:sp>
        <p:nvSpPr>
          <p:cNvPr id="6" name="Shape 4"/>
          <p:cNvSpPr/>
          <p:nvPr/>
        </p:nvSpPr>
        <p:spPr>
          <a:xfrm>
            <a:off x="2724912" y="2121408"/>
            <a:ext cx="292608" cy="155448"/>
          </a:xfrm>
          <a:prstGeom prst="rightArrow">
            <a:avLst/>
          </a:prstGeom>
          <a:solidFill>
            <a:srgbClr val="17A2AC"/>
          </a:solidFill>
          <a:ln/>
        </p:spPr>
      </p:sp>
      <p:sp>
        <p:nvSpPr>
          <p:cNvPr id="7" name="Text 5"/>
          <p:cNvSpPr txBox="1"/>
          <p:nvPr/>
        </p:nvSpPr>
        <p:spPr>
          <a:xfrm>
            <a:off x="2322576" y="1554480"/>
            <a:ext cx="1097280" cy="219456"/>
          </a:xfrm>
          <a:prstGeom prst="rect">
            <a:avLst/>
          </a:prstGeom>
          <a:noFill/>
          <a:ln/>
        </p:spPr>
        <p:txBody>
          <a:bodyPr wrap="square" lIns="0" tIns="0" rIns="0" bIns="0" rtlCol="0" anchor="ctr"/>
          <a:lstStyle/>
          <a:p>
            <a:pPr marL="0" indent="0" algn="ctr">
              <a:buNone/>
            </a:pPr>
            <a:r>
              <a:rPr lang="en-US" sz="820" i="1" dirty="0">
                <a:solidFill>
                  <a:srgbClr val="6D8589"/>
                </a:solidFill>
                <a:latin typeface="Calibri" pitchFamily="34" charset="0"/>
                <a:ea typeface="Calibri" pitchFamily="34" charset="-122"/>
                <a:cs typeface="Calibri" pitchFamily="34" charset="-120"/>
              </a:rPr>
              <a:t>acknowledge()</a:t>
            </a:r>
            <a:endParaRPr lang="en-US" sz="820" dirty="0"/>
          </a:p>
        </p:txBody>
      </p:sp>
      <p:sp>
        <p:nvSpPr>
          <p:cNvPr id="8" name="Shape 6"/>
          <p:cNvSpPr/>
          <p:nvPr/>
        </p:nvSpPr>
        <p:spPr>
          <a:xfrm>
            <a:off x="3108960" y="1865376"/>
            <a:ext cx="2066544" cy="658368"/>
          </a:xfrm>
          <a:prstGeom prst="roundRect">
            <a:avLst>
              <a:gd name="adj" fmla="val 13889"/>
            </a:avLst>
          </a:prstGeom>
          <a:solidFill>
            <a:srgbClr val="FFFFFF"/>
          </a:solidFill>
          <a:ln w="12700">
            <a:solidFill>
              <a:srgbClr val="0F7C8A"/>
            </a:solidFill>
            <a:prstDash val="solid"/>
          </a:ln>
          <a:effectLst>
            <a:outerShdw blurRad="127000" dist="25400" dir="5400000" algn="bl" rotWithShape="0">
              <a:srgbClr val="0B1F22">
                <a:alpha val="10000"/>
              </a:srgbClr>
            </a:outerShdw>
          </a:effectLst>
        </p:spPr>
      </p:sp>
      <p:sp>
        <p:nvSpPr>
          <p:cNvPr id="9" name="Text 7"/>
          <p:cNvSpPr txBox="1"/>
          <p:nvPr/>
        </p:nvSpPr>
        <p:spPr>
          <a:xfrm>
            <a:off x="3108960" y="1865376"/>
            <a:ext cx="2066544" cy="658368"/>
          </a:xfrm>
          <a:prstGeom prst="rect">
            <a:avLst/>
          </a:prstGeom>
          <a:noFill/>
          <a:ln/>
        </p:spPr>
        <p:txBody>
          <a:bodyPr wrap="square" lIns="0" tIns="0" rIns="0" bIns="0" rtlCol="0" anchor="ctr"/>
          <a:lstStyle/>
          <a:p>
            <a:pPr marL="0" indent="0" algn="ctr">
              <a:buNone/>
            </a:pPr>
            <a:r>
              <a:rPr lang="en-US" sz="1250" b="1" dirty="0">
                <a:solidFill>
                  <a:srgbClr val="0F7C8A"/>
                </a:solidFill>
                <a:latin typeface="Calibri" pitchFamily="34" charset="0"/>
                <a:ea typeface="Calibri" pitchFamily="34" charset="-122"/>
                <a:cs typeface="Calibri" pitchFamily="34" charset="-120"/>
              </a:rPr>
              <a:t>Acknowledged</a:t>
            </a:r>
            <a:endParaRPr lang="en-US" sz="1250" dirty="0"/>
          </a:p>
        </p:txBody>
      </p:sp>
      <p:sp>
        <p:nvSpPr>
          <p:cNvPr id="10" name="Shape 8"/>
          <p:cNvSpPr/>
          <p:nvPr/>
        </p:nvSpPr>
        <p:spPr>
          <a:xfrm>
            <a:off x="5266944" y="2121408"/>
            <a:ext cx="292608" cy="155448"/>
          </a:xfrm>
          <a:prstGeom prst="rightArrow">
            <a:avLst/>
          </a:prstGeom>
          <a:solidFill>
            <a:srgbClr val="17A2AC"/>
          </a:solidFill>
          <a:ln/>
        </p:spPr>
      </p:sp>
      <p:sp>
        <p:nvSpPr>
          <p:cNvPr id="11" name="Text 9"/>
          <p:cNvSpPr txBox="1"/>
          <p:nvPr/>
        </p:nvSpPr>
        <p:spPr>
          <a:xfrm>
            <a:off x="4864608" y="1554480"/>
            <a:ext cx="1097280" cy="219456"/>
          </a:xfrm>
          <a:prstGeom prst="rect">
            <a:avLst/>
          </a:prstGeom>
          <a:noFill/>
          <a:ln/>
        </p:spPr>
        <p:txBody>
          <a:bodyPr wrap="square" lIns="0" tIns="0" rIns="0" bIns="0" rtlCol="0" anchor="ctr"/>
          <a:lstStyle/>
          <a:p>
            <a:pPr marL="0" indent="0" algn="ctr">
              <a:buNone/>
            </a:pPr>
            <a:r>
              <a:rPr lang="en-US" sz="820" i="1" dirty="0">
                <a:solidFill>
                  <a:srgbClr val="6D8589"/>
                </a:solidFill>
                <a:latin typeface="Calibri" pitchFamily="34" charset="0"/>
                <a:ea typeface="Calibri" pitchFamily="34" charset="-122"/>
                <a:cs typeface="Calibri" pitchFamily="34" charset="-120"/>
              </a:rPr>
              <a:t>startWork()</a:t>
            </a:r>
            <a:endParaRPr lang="en-US" sz="820" dirty="0"/>
          </a:p>
        </p:txBody>
      </p:sp>
      <p:sp>
        <p:nvSpPr>
          <p:cNvPr id="12" name="Shape 10"/>
          <p:cNvSpPr/>
          <p:nvPr/>
        </p:nvSpPr>
        <p:spPr>
          <a:xfrm>
            <a:off x="5650992" y="1865376"/>
            <a:ext cx="2066544" cy="658368"/>
          </a:xfrm>
          <a:prstGeom prst="roundRect">
            <a:avLst>
              <a:gd name="adj" fmla="val 13889"/>
            </a:avLst>
          </a:prstGeom>
          <a:solidFill>
            <a:srgbClr val="FFFFFF"/>
          </a:solidFill>
          <a:ln w="12700">
            <a:solidFill>
              <a:srgbClr val="0F7C8A"/>
            </a:solidFill>
            <a:prstDash val="solid"/>
          </a:ln>
          <a:effectLst>
            <a:outerShdw blurRad="127000" dist="25400" dir="5400000" algn="bl" rotWithShape="0">
              <a:srgbClr val="0B1F22">
                <a:alpha val="10000"/>
              </a:srgbClr>
            </a:outerShdw>
          </a:effectLst>
        </p:spPr>
      </p:sp>
      <p:sp>
        <p:nvSpPr>
          <p:cNvPr id="13" name="Text 11"/>
          <p:cNvSpPr txBox="1"/>
          <p:nvPr/>
        </p:nvSpPr>
        <p:spPr>
          <a:xfrm>
            <a:off x="5650992" y="1865376"/>
            <a:ext cx="2066544" cy="658368"/>
          </a:xfrm>
          <a:prstGeom prst="rect">
            <a:avLst/>
          </a:prstGeom>
          <a:noFill/>
          <a:ln/>
        </p:spPr>
        <p:txBody>
          <a:bodyPr wrap="square" lIns="0" tIns="0" rIns="0" bIns="0" rtlCol="0" anchor="ctr"/>
          <a:lstStyle/>
          <a:p>
            <a:pPr marL="0" indent="0" algn="ctr">
              <a:buNone/>
            </a:pPr>
            <a:r>
              <a:rPr lang="en-US" sz="1250" b="1" dirty="0">
                <a:solidFill>
                  <a:srgbClr val="0F7C8A"/>
                </a:solidFill>
                <a:latin typeface="Calibri" pitchFamily="34" charset="0"/>
                <a:ea typeface="Calibri" pitchFamily="34" charset="-122"/>
                <a:cs typeface="Calibri" pitchFamily="34" charset="-120"/>
              </a:rPr>
              <a:t>Work started</a:t>
            </a:r>
            <a:endParaRPr lang="en-US" sz="1250" dirty="0"/>
          </a:p>
        </p:txBody>
      </p:sp>
      <p:sp>
        <p:nvSpPr>
          <p:cNvPr id="14" name="Shape 12"/>
          <p:cNvSpPr/>
          <p:nvPr/>
        </p:nvSpPr>
        <p:spPr>
          <a:xfrm>
            <a:off x="7808976" y="2121408"/>
            <a:ext cx="292608" cy="155448"/>
          </a:xfrm>
          <a:prstGeom prst="rightArrow">
            <a:avLst/>
          </a:prstGeom>
          <a:solidFill>
            <a:srgbClr val="17A2AC"/>
          </a:solidFill>
          <a:ln/>
        </p:spPr>
      </p:sp>
      <p:sp>
        <p:nvSpPr>
          <p:cNvPr id="15" name="Text 13"/>
          <p:cNvSpPr txBox="1"/>
          <p:nvPr/>
        </p:nvSpPr>
        <p:spPr>
          <a:xfrm>
            <a:off x="7406640" y="1554480"/>
            <a:ext cx="1097280" cy="219456"/>
          </a:xfrm>
          <a:prstGeom prst="rect">
            <a:avLst/>
          </a:prstGeom>
          <a:noFill/>
          <a:ln/>
        </p:spPr>
        <p:txBody>
          <a:bodyPr wrap="square" lIns="0" tIns="0" rIns="0" bIns="0" rtlCol="0" anchor="ctr"/>
          <a:lstStyle/>
          <a:p>
            <a:pPr marL="0" indent="0" algn="ctr">
              <a:buNone/>
            </a:pPr>
            <a:r>
              <a:rPr lang="en-US" sz="820" i="1" dirty="0">
                <a:solidFill>
                  <a:srgbClr val="6D8589"/>
                </a:solidFill>
                <a:latin typeface="Calibri" pitchFamily="34" charset="0"/>
                <a:ea typeface="Calibri" pitchFamily="34" charset="-122"/>
                <a:cs typeface="Calibri" pitchFamily="34" charset="-120"/>
              </a:rPr>
              <a:t>markDone()</a:t>
            </a:r>
            <a:endParaRPr lang="en-US" sz="820" dirty="0"/>
          </a:p>
        </p:txBody>
      </p:sp>
      <p:sp>
        <p:nvSpPr>
          <p:cNvPr id="16" name="Shape 14"/>
          <p:cNvSpPr/>
          <p:nvPr/>
        </p:nvSpPr>
        <p:spPr>
          <a:xfrm>
            <a:off x="8193024" y="1865376"/>
            <a:ext cx="2066544" cy="658368"/>
          </a:xfrm>
          <a:prstGeom prst="roundRect">
            <a:avLst>
              <a:gd name="adj" fmla="val 13889"/>
            </a:avLst>
          </a:prstGeom>
          <a:solidFill>
            <a:srgbClr val="FFFFFF"/>
          </a:solidFill>
          <a:ln w="12700">
            <a:solidFill>
              <a:srgbClr val="D98A1F"/>
            </a:solidFill>
            <a:prstDash val="solid"/>
          </a:ln>
          <a:effectLst>
            <a:outerShdw blurRad="127000" dist="25400" dir="5400000" algn="bl" rotWithShape="0">
              <a:srgbClr val="0B1F22">
                <a:alpha val="10000"/>
              </a:srgbClr>
            </a:outerShdw>
          </a:effectLst>
        </p:spPr>
      </p:sp>
      <p:sp>
        <p:nvSpPr>
          <p:cNvPr id="17" name="Text 15"/>
          <p:cNvSpPr txBox="1"/>
          <p:nvPr/>
        </p:nvSpPr>
        <p:spPr>
          <a:xfrm>
            <a:off x="8193024" y="1865376"/>
            <a:ext cx="2066544" cy="658368"/>
          </a:xfrm>
          <a:prstGeom prst="rect">
            <a:avLst/>
          </a:prstGeom>
          <a:noFill/>
          <a:ln/>
        </p:spPr>
        <p:txBody>
          <a:bodyPr wrap="square" lIns="0" tIns="0" rIns="0" bIns="0" rtlCol="0" anchor="ctr"/>
          <a:lstStyle/>
          <a:p>
            <a:pPr marL="0" indent="0" algn="ctr">
              <a:buNone/>
            </a:pPr>
            <a:r>
              <a:rPr lang="en-US" sz="1250" b="1" dirty="0">
                <a:solidFill>
                  <a:srgbClr val="D98A1F"/>
                </a:solidFill>
                <a:latin typeface="Calibri" pitchFamily="34" charset="0"/>
                <a:ea typeface="Calibri" pitchFamily="34" charset="-122"/>
                <a:cs typeface="Calibri" pitchFamily="34" charset="-120"/>
              </a:rPr>
              <a:t>Checking the fix</a:t>
            </a:r>
            <a:endParaRPr lang="en-US" sz="1250" dirty="0"/>
          </a:p>
        </p:txBody>
      </p:sp>
      <p:sp>
        <p:nvSpPr>
          <p:cNvPr id="18" name="Shape 16"/>
          <p:cNvSpPr/>
          <p:nvPr/>
        </p:nvSpPr>
        <p:spPr>
          <a:xfrm>
            <a:off x="9226296" y="2523744"/>
            <a:ext cx="0" cy="384048"/>
          </a:xfrm>
          <a:prstGeom prst="line">
            <a:avLst/>
          </a:prstGeom>
          <a:noFill/>
          <a:ln w="15875">
            <a:solidFill>
              <a:srgbClr val="17A2AC"/>
            </a:solidFill>
            <a:prstDash val="solid"/>
          </a:ln>
        </p:spPr>
      </p:sp>
      <p:sp>
        <p:nvSpPr>
          <p:cNvPr id="19" name="Shape 17"/>
          <p:cNvSpPr/>
          <p:nvPr/>
        </p:nvSpPr>
        <p:spPr>
          <a:xfrm>
            <a:off x="8385048" y="2907792"/>
            <a:ext cx="1682496" cy="0"/>
          </a:xfrm>
          <a:prstGeom prst="line">
            <a:avLst/>
          </a:prstGeom>
          <a:noFill/>
          <a:ln w="15875">
            <a:solidFill>
              <a:srgbClr val="17A2AC"/>
            </a:solidFill>
            <a:prstDash val="solid"/>
          </a:ln>
        </p:spPr>
      </p:sp>
      <p:sp>
        <p:nvSpPr>
          <p:cNvPr id="20" name="Shape 18"/>
          <p:cNvSpPr/>
          <p:nvPr/>
        </p:nvSpPr>
        <p:spPr>
          <a:xfrm>
            <a:off x="8385048" y="2907792"/>
            <a:ext cx="0" cy="274320"/>
          </a:xfrm>
          <a:prstGeom prst="line">
            <a:avLst/>
          </a:prstGeom>
          <a:noFill/>
          <a:ln w="15875">
            <a:solidFill>
              <a:srgbClr val="17A2AC"/>
            </a:solidFill>
            <a:prstDash val="solid"/>
          </a:ln>
        </p:spPr>
      </p:sp>
      <p:sp>
        <p:nvSpPr>
          <p:cNvPr id="21" name="Shape 19"/>
          <p:cNvSpPr/>
          <p:nvPr/>
        </p:nvSpPr>
        <p:spPr>
          <a:xfrm>
            <a:off x="10067544" y="2907792"/>
            <a:ext cx="0" cy="274320"/>
          </a:xfrm>
          <a:prstGeom prst="line">
            <a:avLst/>
          </a:prstGeom>
          <a:noFill/>
          <a:ln w="15875">
            <a:solidFill>
              <a:srgbClr val="17A2AC"/>
            </a:solidFill>
            <a:prstDash val="solid"/>
          </a:ln>
        </p:spPr>
      </p:sp>
      <p:sp>
        <p:nvSpPr>
          <p:cNvPr id="22" name="Shape 20"/>
          <p:cNvSpPr/>
          <p:nvPr/>
        </p:nvSpPr>
        <p:spPr>
          <a:xfrm>
            <a:off x="7598664" y="3182112"/>
            <a:ext cx="1572768" cy="566928"/>
          </a:xfrm>
          <a:prstGeom prst="roundRect">
            <a:avLst>
              <a:gd name="adj" fmla="val 16129"/>
            </a:avLst>
          </a:prstGeom>
          <a:solidFill>
            <a:srgbClr val="157F5F"/>
          </a:solidFill>
          <a:ln/>
        </p:spPr>
      </p:sp>
      <p:sp>
        <p:nvSpPr>
          <p:cNvPr id="23" name="Text 21"/>
          <p:cNvSpPr txBox="1"/>
          <p:nvPr/>
        </p:nvSpPr>
        <p:spPr>
          <a:xfrm>
            <a:off x="7598664" y="3182112"/>
            <a:ext cx="157276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Fixed</a:t>
            </a:r>
            <a:endParaRPr lang="en-US" sz="1200" dirty="0"/>
          </a:p>
        </p:txBody>
      </p:sp>
      <p:sp>
        <p:nvSpPr>
          <p:cNvPr id="24" name="Text 22"/>
          <p:cNvSpPr txBox="1"/>
          <p:nvPr/>
        </p:nvSpPr>
        <p:spPr>
          <a:xfrm>
            <a:off x="7470648" y="3803904"/>
            <a:ext cx="1828800" cy="219456"/>
          </a:xfrm>
          <a:prstGeom prst="rect">
            <a:avLst/>
          </a:prstGeom>
          <a:noFill/>
          <a:ln/>
        </p:spPr>
        <p:txBody>
          <a:bodyPr wrap="square" lIns="0" tIns="0" rIns="0" bIns="0" rtlCol="0" anchor="ctr"/>
          <a:lstStyle/>
          <a:p>
            <a:pPr marL="0" indent="0" algn="ctr">
              <a:buNone/>
            </a:pPr>
            <a:r>
              <a:rPr lang="en-US" sz="860" i="1" dirty="0">
                <a:solidFill>
                  <a:srgbClr val="157F5F"/>
                </a:solidFill>
                <a:latin typeface="Calibri" pitchFamily="34" charset="0"/>
                <a:ea typeface="Calibri" pitchFamily="34" charset="-122"/>
                <a:cs typeface="Calibri" pitchFamily="34" charset="-120"/>
              </a:rPr>
              <a:t>majority said yes</a:t>
            </a:r>
            <a:endParaRPr lang="en-US" sz="860" dirty="0"/>
          </a:p>
        </p:txBody>
      </p:sp>
      <p:sp>
        <p:nvSpPr>
          <p:cNvPr id="25" name="Shape 23"/>
          <p:cNvSpPr/>
          <p:nvPr/>
        </p:nvSpPr>
        <p:spPr>
          <a:xfrm>
            <a:off x="9281160" y="3182112"/>
            <a:ext cx="1572768" cy="566928"/>
          </a:xfrm>
          <a:prstGeom prst="roundRect">
            <a:avLst>
              <a:gd name="adj" fmla="val 16129"/>
            </a:avLst>
          </a:prstGeom>
          <a:solidFill>
            <a:srgbClr val="BB3B32"/>
          </a:solidFill>
          <a:ln/>
        </p:spPr>
      </p:sp>
      <p:sp>
        <p:nvSpPr>
          <p:cNvPr id="26" name="Text 24"/>
          <p:cNvSpPr txBox="1"/>
          <p:nvPr/>
        </p:nvSpPr>
        <p:spPr>
          <a:xfrm>
            <a:off x="9281160" y="3182112"/>
            <a:ext cx="157276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Still not fixed</a:t>
            </a:r>
            <a:endParaRPr lang="en-US" sz="1200" dirty="0"/>
          </a:p>
        </p:txBody>
      </p:sp>
      <p:sp>
        <p:nvSpPr>
          <p:cNvPr id="27" name="Text 25"/>
          <p:cNvSpPr txBox="1"/>
          <p:nvPr/>
        </p:nvSpPr>
        <p:spPr>
          <a:xfrm>
            <a:off x="9153144" y="3803904"/>
            <a:ext cx="1828800" cy="219456"/>
          </a:xfrm>
          <a:prstGeom prst="rect">
            <a:avLst/>
          </a:prstGeom>
          <a:noFill/>
          <a:ln/>
        </p:spPr>
        <p:txBody>
          <a:bodyPr wrap="square" lIns="0" tIns="0" rIns="0" bIns="0" rtlCol="0" anchor="ctr"/>
          <a:lstStyle/>
          <a:p>
            <a:pPr marL="0" indent="0" algn="ctr">
              <a:buNone/>
            </a:pPr>
            <a:r>
              <a:rPr lang="en-US" sz="860" i="1" dirty="0">
                <a:solidFill>
                  <a:srgbClr val="BB3B32"/>
                </a:solidFill>
                <a:latin typeface="Calibri" pitchFamily="34" charset="0"/>
                <a:ea typeface="Calibri" pitchFamily="34" charset="-122"/>
                <a:cs typeface="Calibri" pitchFamily="34" charset="-120"/>
              </a:rPr>
              <a:t>majority said no</a:t>
            </a:r>
            <a:endParaRPr lang="en-US" sz="860" dirty="0"/>
          </a:p>
        </p:txBody>
      </p:sp>
      <p:sp>
        <p:nvSpPr>
          <p:cNvPr id="28" name="Shape 26"/>
          <p:cNvSpPr/>
          <p:nvPr/>
        </p:nvSpPr>
        <p:spPr>
          <a:xfrm>
            <a:off x="10853928" y="3749040"/>
            <a:ext cx="0" cy="548640"/>
          </a:xfrm>
          <a:prstGeom prst="line">
            <a:avLst/>
          </a:prstGeom>
          <a:noFill/>
          <a:ln w="15875">
            <a:solidFill>
              <a:srgbClr val="B26A00"/>
            </a:solidFill>
            <a:prstDash val="dash"/>
          </a:ln>
        </p:spPr>
      </p:sp>
      <p:sp>
        <p:nvSpPr>
          <p:cNvPr id="29" name="Shape 27"/>
          <p:cNvSpPr/>
          <p:nvPr/>
        </p:nvSpPr>
        <p:spPr>
          <a:xfrm>
            <a:off x="6684264" y="4297680"/>
            <a:ext cx="4169664" cy="0"/>
          </a:xfrm>
          <a:prstGeom prst="line">
            <a:avLst/>
          </a:prstGeom>
          <a:noFill/>
          <a:ln w="15875">
            <a:solidFill>
              <a:srgbClr val="B26A00"/>
            </a:solidFill>
            <a:prstDash val="dash"/>
          </a:ln>
        </p:spPr>
      </p:sp>
      <p:sp>
        <p:nvSpPr>
          <p:cNvPr id="30" name="Shape 28"/>
          <p:cNvSpPr/>
          <p:nvPr/>
        </p:nvSpPr>
        <p:spPr>
          <a:xfrm>
            <a:off x="6684264" y="2761488"/>
            <a:ext cx="0" cy="1536192"/>
          </a:xfrm>
          <a:prstGeom prst="line">
            <a:avLst/>
          </a:prstGeom>
          <a:noFill/>
          <a:ln w="15875">
            <a:solidFill>
              <a:srgbClr val="B26A00"/>
            </a:solidFill>
            <a:prstDash val="dash"/>
          </a:ln>
        </p:spPr>
      </p:sp>
      <p:sp>
        <p:nvSpPr>
          <p:cNvPr id="31" name="Shape 29"/>
          <p:cNvSpPr/>
          <p:nvPr/>
        </p:nvSpPr>
        <p:spPr>
          <a:xfrm>
            <a:off x="6601968" y="2523744"/>
            <a:ext cx="164592" cy="237744"/>
          </a:xfrm>
          <a:prstGeom prst="upArrow">
            <a:avLst/>
          </a:prstGeom>
          <a:solidFill>
            <a:srgbClr val="B26A00"/>
          </a:solidFill>
          <a:ln/>
        </p:spPr>
      </p:sp>
      <p:sp>
        <p:nvSpPr>
          <p:cNvPr id="32" name="Text 30"/>
          <p:cNvSpPr txBox="1"/>
          <p:nvPr/>
        </p:nvSpPr>
        <p:spPr>
          <a:xfrm>
            <a:off x="6867144" y="4352544"/>
            <a:ext cx="3803904" cy="219456"/>
          </a:xfrm>
          <a:prstGeom prst="rect">
            <a:avLst/>
          </a:prstGeom>
          <a:noFill/>
          <a:ln/>
        </p:spPr>
        <p:txBody>
          <a:bodyPr wrap="square" lIns="0" tIns="0" rIns="0" bIns="0" rtlCol="0" anchor="ctr"/>
          <a:lstStyle/>
          <a:p>
            <a:pPr marL="0" indent="0" algn="ctr">
              <a:buNone/>
            </a:pPr>
            <a:r>
              <a:rPr lang="en-US" sz="860" i="1" dirty="0">
                <a:solidFill>
                  <a:srgbClr val="B26A00"/>
                </a:solidFill>
                <a:latin typeface="Calibri" pitchFamily="34" charset="0"/>
                <a:ea typeface="Calibri" pitchFamily="34" charset="-122"/>
                <a:cs typeface="Calibri" pitchFamily="34" charset="-120"/>
              </a:rPr>
              <a:t>a disputed repair goes back to Work started  —  startWork() or reopen()</a:t>
            </a:r>
            <a:endParaRPr lang="en-US" sz="860" dirty="0"/>
          </a:p>
        </p:txBody>
      </p:sp>
      <p:sp>
        <p:nvSpPr>
          <p:cNvPr id="33" name="Shape 31"/>
          <p:cNvSpPr/>
          <p:nvPr/>
        </p:nvSpPr>
        <p:spPr>
          <a:xfrm>
            <a:off x="566928" y="2834640"/>
            <a:ext cx="3895344" cy="1755648"/>
          </a:xfrm>
          <a:prstGeom prst="roundRect">
            <a:avLst>
              <a:gd name="adj" fmla="val 5208"/>
            </a:avLst>
          </a:prstGeom>
          <a:solidFill>
            <a:srgbClr val="EDF4F4"/>
          </a:solidFill>
          <a:ln w="12700">
            <a:solidFill>
              <a:srgbClr val="D5E3E4"/>
            </a:solidFill>
            <a:prstDash val="solid"/>
          </a:ln>
        </p:spPr>
      </p:sp>
      <p:sp>
        <p:nvSpPr>
          <p:cNvPr id="34" name="Text 32"/>
          <p:cNvSpPr txBox="1"/>
          <p:nvPr/>
        </p:nvSpPr>
        <p:spPr>
          <a:xfrm>
            <a:off x="768096" y="2944368"/>
            <a:ext cx="3566160" cy="256032"/>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How a window settles</a:t>
            </a:r>
            <a:endParaRPr lang="en-US" sz="1300" dirty="0"/>
          </a:p>
        </p:txBody>
      </p:sp>
      <p:sp>
        <p:nvSpPr>
          <p:cNvPr id="35" name="Text 33"/>
          <p:cNvSpPr txBox="1"/>
          <p:nvPr/>
        </p:nvSpPr>
        <p:spPr>
          <a:xfrm>
            <a:off x="768096" y="3255264"/>
            <a:ext cx="3529584" cy="1243584"/>
          </a:xfrm>
          <a:prstGeom prst="rect">
            <a:avLst/>
          </a:prstGeom>
          <a:noFill/>
          <a:ln/>
        </p:spPr>
        <p:txBody>
          <a:bodyPr wrap="square" lIns="0" tIns="0" rIns="0" bIns="0" rtlCol="0" anchor="ctr"/>
          <a:lstStyle/>
          <a:p>
            <a:pPr marL="0" indent="0">
              <a:lnSpc>
                <a:spcPct val="114000"/>
              </a:lnSpc>
              <a:spcAft>
                <a:spcPts val="300"/>
              </a:spcAft>
              <a:buNone/>
            </a:pPr>
            <a:r>
              <a:rPr lang="en-US" sz="1020" b="1" dirty="0">
                <a:solidFill>
                  <a:srgbClr val="0B1F22"/>
                </a:solidFill>
                <a:latin typeface="Calibri" pitchFamily="34" charset="0"/>
                <a:ea typeface="Calibri" pitchFamily="34" charset="-122"/>
                <a:cs typeface="Calibri" pitchFamily="34" charset="-120"/>
              </a:rPr>
              <a:t>Early  </a:t>
            </a:r>
            <a:r>
              <a:rPr lang="en-US" sz="1020" dirty="0">
                <a:solidFill>
                  <a:srgbClr val="3D5559"/>
                </a:solidFill>
                <a:latin typeface="Calibri" pitchFamily="34" charset="0"/>
                <a:ea typeface="Calibri" pitchFamily="34" charset="-122"/>
                <a:cs typeface="Calibri" pitchFamily="34" charset="-120"/>
              </a:rPr>
              <a:t>once min(5, backers) have answered and the two sides are not level.</a:t>
            </a:r>
            <a:endParaRPr lang="en-US" sz="1020" dirty="0"/>
          </a:p>
          <a:p>
            <a:pPr marL="0" indent="0">
              <a:lnSpc>
                <a:spcPct val="114000"/>
              </a:lnSpc>
              <a:spcAft>
                <a:spcPts val="300"/>
              </a:spcAft>
              <a:buNone/>
            </a:pPr>
            <a:r>
              <a:rPr lang="en-US" sz="1020" b="1" dirty="0">
                <a:solidFill>
                  <a:srgbClr val="0B1F22"/>
                </a:solidFill>
                <a:latin typeface="Calibri" pitchFamily="34" charset="0"/>
                <a:ea typeface="Calibri" pitchFamily="34" charset="-122"/>
                <a:cs typeface="Calibri" pitchFamily="34" charset="-120"/>
              </a:rPr>
              <a:t>On the deadline  </a:t>
            </a:r>
            <a:r>
              <a:rPr lang="en-US" sz="1020" dirty="0">
                <a:solidFill>
                  <a:srgbClr val="3D5559"/>
                </a:solidFill>
                <a:latin typeface="Calibri" pitchFamily="34" charset="0"/>
                <a:ea typeface="Calibri" pitchFamily="34" charset="-122"/>
                <a:cs typeface="Calibri" pitchFamily="34" charset="-120"/>
              </a:rPr>
              <a:t>after seven days, whatever is in hand decides. A tie, or silence, resolves in the ward’s favour.</a:t>
            </a:r>
            <a:endParaRPr lang="en-US" sz="1020" dirty="0"/>
          </a:p>
          <a:p>
            <a:pPr marL="0" indent="0">
              <a:lnSpc>
                <a:spcPct val="114000"/>
              </a:lnSpc>
              <a:spcAft>
                <a:spcPts val="300"/>
              </a:spcAft>
              <a:buNone/>
            </a:pPr>
            <a:r>
              <a:rPr lang="en-US" sz="1020" b="1" dirty="0">
                <a:solidFill>
                  <a:srgbClr val="0B1F22"/>
                </a:solidFill>
                <a:latin typeface="Calibri" pitchFamily="34" charset="0"/>
                <a:ea typeface="Calibri" pitchFamily="34" charset="-122"/>
                <a:cs typeface="Calibri" pitchFamily="34" charset="-120"/>
              </a:rPr>
              <a:t>Who answers  </a:t>
            </a:r>
            <a:r>
              <a:rPr lang="en-US" sz="1020" dirty="0">
                <a:solidFill>
                  <a:srgbClr val="3D5559"/>
                </a:solidFill>
                <a:latin typeface="Calibri" pitchFamily="34" charset="0"/>
                <a:ea typeface="Calibri" pitchFamily="34" charset="-122"/>
                <a:cs typeface="Calibri" pitchFamily="34" charset="-120"/>
              </a:rPr>
              <a:t>only accounts holding a backing on that report.</a:t>
            </a:r>
            <a:endParaRPr lang="en-US" sz="1020" dirty="0"/>
          </a:p>
        </p:txBody>
      </p:sp>
      <p:sp>
        <p:nvSpPr>
          <p:cNvPr id="36" name="Text 34"/>
          <p:cNvSpPr txBox="1"/>
          <p:nvPr/>
        </p:nvSpPr>
        <p:spPr>
          <a:xfrm>
            <a:off x="566928" y="4901184"/>
            <a:ext cx="7680960" cy="457200"/>
          </a:xfrm>
          <a:prstGeom prst="rect">
            <a:avLst/>
          </a:prstGeom>
          <a:noFill/>
          <a:ln/>
        </p:spPr>
        <p:txBody>
          <a:bodyPr wrap="square" lIns="0" tIns="0" rIns="0" bIns="0" rtlCol="0" anchor="ctr"/>
          <a:lstStyle/>
          <a:p>
            <a:pPr marL="0" indent="0">
              <a:lnSpc>
                <a:spcPct val="112000"/>
              </a:lnSpc>
              <a:buNone/>
            </a:pPr>
            <a:r>
              <a:rPr lang="en-US" sz="980" i="1" dirty="0">
                <a:solidFill>
                  <a:srgbClr val="6D8589"/>
                </a:solidFill>
                <a:latin typeface="Calibri" pitchFamily="34" charset="0"/>
                <a:ea typeface="Calibri" pitchFamily="34" charset="-122"/>
                <a:cs typeface="Calibri" pitchFamily="34" charset="-120"/>
              </a:rPr>
              <a:t>Expired windows are settled on the way into the next read rather than by a scheduled job - VerificationSweeper, throttled to one sweep every 30 seconds.</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Implementation</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The two interfaces, drawn to the same tokens the stylesheets use.</a:t>
            </a:r>
            <a:endParaRPr lang="en-US" sz="1350" dirty="0"/>
          </a:p>
        </p:txBody>
      </p:sp>
      <p:sp>
        <p:nvSpPr>
          <p:cNvPr id="4" name="Text 2"/>
          <p:cNvSpPr txBox="1"/>
          <p:nvPr/>
        </p:nvSpPr>
        <p:spPr>
          <a:xfrm>
            <a:off x="566928" y="1572768"/>
            <a:ext cx="5303520" cy="256032"/>
          </a:xfrm>
          <a:prstGeom prst="rect">
            <a:avLst/>
          </a:prstGeom>
          <a:noFill/>
          <a:ln/>
        </p:spPr>
        <p:txBody>
          <a:bodyPr wrap="square" lIns="0" tIns="0" rIns="0" bIns="0" rtlCol="0" anchor="ctr"/>
          <a:lstStyle/>
          <a:p>
            <a:pPr marL="0" indent="0">
              <a:buNone/>
            </a:pPr>
            <a:r>
              <a:rPr lang="en-US" sz="1100" b="1" dirty="0">
                <a:solidFill>
                  <a:srgbClr val="0F7C8A"/>
                </a:solidFill>
                <a:latin typeface="Calibri" pitchFamily="34" charset="0"/>
                <a:ea typeface="Calibri" pitchFamily="34" charset="-122"/>
                <a:cs typeface="Calibri" pitchFamily="34" charset="-120"/>
              </a:rPr>
              <a:t>Resident board</a:t>
            </a:r>
            <a:endParaRPr lang="en-US" sz="1100" dirty="0"/>
          </a:p>
        </p:txBody>
      </p:sp>
      <p:sp>
        <p:nvSpPr>
          <p:cNvPr id="5" name="Shape 3"/>
          <p:cNvSpPr/>
          <p:nvPr/>
        </p:nvSpPr>
        <p:spPr>
          <a:xfrm>
            <a:off x="566928" y="1883664"/>
            <a:ext cx="5394960" cy="1481328"/>
          </a:xfrm>
          <a:prstGeom prst="roundRect">
            <a:avLst>
              <a:gd name="adj" fmla="val 6173"/>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6" name="Shape 4"/>
          <p:cNvSpPr/>
          <p:nvPr/>
        </p:nvSpPr>
        <p:spPr>
          <a:xfrm>
            <a:off x="749808" y="2066544"/>
            <a:ext cx="713232" cy="914400"/>
          </a:xfrm>
          <a:prstGeom prst="roundRect">
            <a:avLst>
              <a:gd name="adj" fmla="val 11538"/>
            </a:avLst>
          </a:prstGeom>
          <a:solidFill>
            <a:srgbClr val="EDF4F4"/>
          </a:solidFill>
          <a:ln w="12700">
            <a:solidFill>
              <a:srgbClr val="D5E3E4"/>
            </a:solidFill>
            <a:prstDash val="solid"/>
          </a:ln>
        </p:spPr>
      </p:sp>
      <p:pic>
        <p:nvPicPr>
          <p:cNvPr id="7" name="Image 0" descr="preencoded.png"/>
          <p:cNvPicPr>
            <a:picLocks noChangeAspect="1"/>
          </p:cNvPicPr>
          <p:nvPr/>
        </p:nvPicPr>
        <p:blipFill>
          <a:blip r:embed="rId3"/>
          <a:stretch>
            <a:fillRect/>
          </a:stretch>
        </p:blipFill>
        <p:spPr>
          <a:xfrm>
            <a:off x="987552" y="2157984"/>
            <a:ext cx="237744" cy="237744"/>
          </a:xfrm>
          <a:prstGeom prst="rect">
            <a:avLst/>
          </a:prstGeom>
        </p:spPr>
      </p:pic>
      <p:sp>
        <p:nvSpPr>
          <p:cNvPr id="8" name="Text 5"/>
          <p:cNvSpPr txBox="1"/>
          <p:nvPr/>
        </p:nvSpPr>
        <p:spPr>
          <a:xfrm>
            <a:off x="749808" y="2395728"/>
            <a:ext cx="713232" cy="365760"/>
          </a:xfrm>
          <a:prstGeom prst="rect">
            <a:avLst/>
          </a:prstGeom>
          <a:noFill/>
          <a:ln/>
        </p:spPr>
        <p:txBody>
          <a:bodyPr wrap="square" lIns="0" tIns="0" rIns="0" bIns="0" rtlCol="0" anchor="ctr"/>
          <a:lstStyle/>
          <a:p>
            <a:pPr marL="0" indent="0" algn="ctr">
              <a:buNone/>
            </a:pPr>
            <a:r>
              <a:rPr lang="en-US" sz="1900" b="1" dirty="0">
                <a:solidFill>
                  <a:srgbClr val="D98A1F"/>
                </a:solidFill>
                <a:latin typeface="Cambria" pitchFamily="34" charset="0"/>
                <a:ea typeface="Cambria" pitchFamily="34" charset="-122"/>
                <a:cs typeface="Cambria" pitchFamily="34" charset="-120"/>
              </a:rPr>
              <a:t>103</a:t>
            </a:r>
            <a:endParaRPr lang="en-US" sz="1900" dirty="0"/>
          </a:p>
        </p:txBody>
      </p:sp>
      <p:sp>
        <p:nvSpPr>
          <p:cNvPr id="9" name="Text 6"/>
          <p:cNvSpPr txBox="1"/>
          <p:nvPr/>
        </p:nvSpPr>
        <p:spPr>
          <a:xfrm>
            <a:off x="749808" y="2743200"/>
            <a:ext cx="713232" cy="182880"/>
          </a:xfrm>
          <a:prstGeom prst="rect">
            <a:avLst/>
          </a:prstGeom>
          <a:noFill/>
          <a:ln/>
        </p:spPr>
        <p:txBody>
          <a:bodyPr wrap="square" lIns="0" tIns="0" rIns="0" bIns="0" rtlCol="0" anchor="ctr"/>
          <a:lstStyle/>
          <a:p>
            <a:pPr marL="0" indent="0" algn="ctr">
              <a:buNone/>
            </a:pPr>
            <a:r>
              <a:rPr lang="en-US" sz="760" dirty="0">
                <a:solidFill>
                  <a:srgbClr val="6D8589"/>
                </a:solidFill>
                <a:latin typeface="Calibri" pitchFamily="34" charset="0"/>
                <a:ea typeface="Calibri" pitchFamily="34" charset="-122"/>
                <a:cs typeface="Calibri" pitchFamily="34" charset="-120"/>
              </a:rPr>
              <a:t>people</a:t>
            </a:r>
            <a:endParaRPr lang="en-US" sz="760" dirty="0"/>
          </a:p>
        </p:txBody>
      </p:sp>
      <p:sp>
        <p:nvSpPr>
          <p:cNvPr id="10" name="Text 7"/>
          <p:cNvSpPr txBox="1"/>
          <p:nvPr/>
        </p:nvSpPr>
        <p:spPr>
          <a:xfrm>
            <a:off x="1591056" y="2066544"/>
            <a:ext cx="4206240" cy="274320"/>
          </a:xfrm>
          <a:prstGeom prst="rect">
            <a:avLst/>
          </a:prstGeom>
          <a:noFill/>
          <a:ln/>
        </p:spPr>
        <p:txBody>
          <a:bodyPr wrap="square" lIns="0" tIns="0" rIns="0" bIns="0" rtlCol="0" anchor="ctr"/>
          <a:lstStyle/>
          <a:p>
            <a:pPr marL="0" indent="0">
              <a:buNone/>
            </a:pPr>
            <a:r>
              <a:rPr lang="en-US" sz="1250" b="1" dirty="0">
                <a:solidFill>
                  <a:srgbClr val="0B1F22"/>
                </a:solidFill>
                <a:latin typeface="Calibri" pitchFamily="34" charset="0"/>
                <a:ea typeface="Calibri" pitchFamily="34" charset="-122"/>
                <a:cs typeface="Calibri" pitchFamily="34" charset="-120"/>
              </a:rPr>
              <a:t>Manhole cover missing at the junction</a:t>
            </a:r>
            <a:endParaRPr lang="en-US" sz="1250" dirty="0"/>
          </a:p>
        </p:txBody>
      </p:sp>
      <p:sp>
        <p:nvSpPr>
          <p:cNvPr id="11" name="Text 8"/>
          <p:cNvSpPr txBox="1"/>
          <p:nvPr/>
        </p:nvSpPr>
        <p:spPr>
          <a:xfrm>
            <a:off x="1591056" y="2359152"/>
            <a:ext cx="4206240" cy="420624"/>
          </a:xfrm>
          <a:prstGeom prst="rect">
            <a:avLst/>
          </a:prstGeom>
          <a:noFill/>
          <a:ln/>
        </p:spPr>
        <p:txBody>
          <a:bodyPr wrap="square" lIns="0" tIns="0" rIns="0" bIns="0" rtlCol="0" anchor="ctr"/>
          <a:lstStyle/>
          <a:p>
            <a:pPr marL="0" indent="0">
              <a:lnSpc>
                <a:spcPct val="110000"/>
              </a:lnSpc>
              <a:buNone/>
            </a:pPr>
            <a:r>
              <a:rPr lang="en-US" sz="940" dirty="0">
                <a:solidFill>
                  <a:srgbClr val="3D5559"/>
                </a:solidFill>
                <a:latin typeface="Calibri" pitchFamily="34" charset="0"/>
                <a:ea typeface="Calibri" pitchFamily="34" charset="-122"/>
                <a:cs typeface="Calibri" pitchFamily="34" charset="-120"/>
              </a:rPr>
              <a:t>The cover has been gone for over a month. Someone has stood a bamboo pole in it but at night you cannot see the pole either.</a:t>
            </a:r>
            <a:endParaRPr lang="en-US" sz="940" dirty="0"/>
          </a:p>
        </p:txBody>
      </p:sp>
      <p:sp>
        <p:nvSpPr>
          <p:cNvPr id="12" name="Shape 9"/>
          <p:cNvSpPr/>
          <p:nvPr/>
        </p:nvSpPr>
        <p:spPr>
          <a:xfrm>
            <a:off x="1591056" y="2834640"/>
            <a:ext cx="1042416" cy="237744"/>
          </a:xfrm>
          <a:prstGeom prst="roundRect">
            <a:avLst>
              <a:gd name="adj" fmla="val 23077"/>
            </a:avLst>
          </a:prstGeom>
          <a:solidFill>
            <a:srgbClr val="E4EFEC"/>
          </a:solidFill>
          <a:ln/>
        </p:spPr>
      </p:sp>
      <p:sp>
        <p:nvSpPr>
          <p:cNvPr id="13" name="Text 10"/>
          <p:cNvSpPr txBox="1"/>
          <p:nvPr/>
        </p:nvSpPr>
        <p:spPr>
          <a:xfrm>
            <a:off x="1591056" y="2834640"/>
            <a:ext cx="1042416" cy="237744"/>
          </a:xfrm>
          <a:prstGeom prst="rect">
            <a:avLst/>
          </a:prstGeom>
          <a:noFill/>
          <a:ln/>
        </p:spPr>
        <p:txBody>
          <a:bodyPr wrap="square" lIns="0" tIns="0" rIns="0" bIns="0" rtlCol="0" anchor="ctr"/>
          <a:lstStyle/>
          <a:p>
            <a:pPr marL="0" indent="0" algn="ctr">
              <a:buNone/>
            </a:pPr>
            <a:r>
              <a:rPr lang="en-US" sz="720" b="1" dirty="0">
                <a:solidFill>
                  <a:srgbClr val="2F6B5D"/>
                </a:solidFill>
                <a:latin typeface="Calibri" pitchFamily="34" charset="0"/>
                <a:ea typeface="Calibri" pitchFamily="34" charset="-122"/>
                <a:cs typeface="Calibri" pitchFamily="34" charset="-120"/>
              </a:rPr>
              <a:t>Drainage and sewage</a:t>
            </a:r>
            <a:endParaRPr lang="en-US" sz="720" dirty="0"/>
          </a:p>
        </p:txBody>
      </p:sp>
      <p:sp>
        <p:nvSpPr>
          <p:cNvPr id="14" name="Shape 11"/>
          <p:cNvSpPr/>
          <p:nvPr/>
        </p:nvSpPr>
        <p:spPr>
          <a:xfrm>
            <a:off x="2706624" y="2834640"/>
            <a:ext cx="768096" cy="237744"/>
          </a:xfrm>
          <a:prstGeom prst="roundRect">
            <a:avLst>
              <a:gd name="adj" fmla="val 23077"/>
            </a:avLst>
          </a:prstGeom>
          <a:solidFill>
            <a:srgbClr val="E2EDEF"/>
          </a:solidFill>
          <a:ln/>
        </p:spPr>
      </p:sp>
      <p:sp>
        <p:nvSpPr>
          <p:cNvPr id="15" name="Text 12"/>
          <p:cNvSpPr txBox="1"/>
          <p:nvPr/>
        </p:nvSpPr>
        <p:spPr>
          <a:xfrm>
            <a:off x="2706624" y="2834640"/>
            <a:ext cx="768096" cy="237744"/>
          </a:xfrm>
          <a:prstGeom prst="rect">
            <a:avLst/>
          </a:prstGeom>
          <a:noFill/>
          <a:ln/>
        </p:spPr>
        <p:txBody>
          <a:bodyPr wrap="square" lIns="0" tIns="0" rIns="0" bIns="0" rtlCol="0" anchor="ctr"/>
          <a:lstStyle/>
          <a:p>
            <a:pPr marL="0" indent="0" algn="ctr">
              <a:buNone/>
            </a:pPr>
            <a:r>
              <a:rPr lang="en-US" sz="720" b="1" dirty="0">
                <a:solidFill>
                  <a:srgbClr val="0A5B66"/>
                </a:solidFill>
                <a:latin typeface="Calibri" pitchFamily="34" charset="0"/>
                <a:ea typeface="Calibri" pitchFamily="34" charset="-122"/>
                <a:cs typeface="Calibri" pitchFamily="34" charset="-120"/>
              </a:rPr>
              <a:t>Acknowledged</a:t>
            </a:r>
            <a:endParaRPr lang="en-US" sz="720" dirty="0"/>
          </a:p>
        </p:txBody>
      </p:sp>
      <p:sp>
        <p:nvSpPr>
          <p:cNvPr id="16" name="Shape 13"/>
          <p:cNvSpPr/>
          <p:nvPr/>
        </p:nvSpPr>
        <p:spPr>
          <a:xfrm>
            <a:off x="3547872" y="2834640"/>
            <a:ext cx="566928" cy="237744"/>
          </a:xfrm>
          <a:prstGeom prst="roundRect">
            <a:avLst>
              <a:gd name="adj" fmla="val 23077"/>
            </a:avLst>
          </a:prstGeom>
          <a:solidFill>
            <a:srgbClr val="F6E3E1"/>
          </a:solidFill>
          <a:ln/>
        </p:spPr>
      </p:sp>
      <p:sp>
        <p:nvSpPr>
          <p:cNvPr id="17" name="Text 14"/>
          <p:cNvSpPr txBox="1"/>
          <p:nvPr/>
        </p:nvSpPr>
        <p:spPr>
          <a:xfrm>
            <a:off x="3547872" y="2834640"/>
            <a:ext cx="566928" cy="237744"/>
          </a:xfrm>
          <a:prstGeom prst="rect">
            <a:avLst/>
          </a:prstGeom>
          <a:noFill/>
          <a:ln/>
        </p:spPr>
        <p:txBody>
          <a:bodyPr wrap="square" lIns="0" tIns="0" rIns="0" bIns="0" rtlCol="0" anchor="ctr"/>
          <a:lstStyle/>
          <a:p>
            <a:pPr marL="0" indent="0" algn="ctr">
              <a:buNone/>
            </a:pPr>
            <a:r>
              <a:rPr lang="en-US" sz="720" b="1" dirty="0">
                <a:solidFill>
                  <a:srgbClr val="BB3B32"/>
                </a:solidFill>
                <a:latin typeface="Calibri" pitchFamily="34" charset="0"/>
                <a:ea typeface="Calibri" pitchFamily="34" charset="-122"/>
                <a:cs typeface="Calibri" pitchFamily="34" charset="-120"/>
              </a:rPr>
              <a:t>5 days late</a:t>
            </a:r>
            <a:endParaRPr lang="en-US" sz="720" dirty="0"/>
          </a:p>
        </p:txBody>
      </p:sp>
      <p:sp>
        <p:nvSpPr>
          <p:cNvPr id="18" name="Text 15"/>
          <p:cNvSpPr txBox="1"/>
          <p:nvPr/>
        </p:nvSpPr>
        <p:spPr>
          <a:xfrm>
            <a:off x="4206240" y="2834640"/>
            <a:ext cx="1609344" cy="237744"/>
          </a:xfrm>
          <a:prstGeom prst="rect">
            <a:avLst/>
          </a:prstGeom>
          <a:noFill/>
          <a:ln/>
        </p:spPr>
        <p:txBody>
          <a:bodyPr wrap="square" lIns="0" tIns="0" rIns="0" bIns="0" rtlCol="0" anchor="ctr"/>
          <a:lstStyle/>
          <a:p>
            <a:pPr marL="0" indent="0">
              <a:buNone/>
            </a:pPr>
            <a:r>
              <a:rPr lang="en-US" sz="760" dirty="0">
                <a:solidFill>
                  <a:srgbClr val="6D8589"/>
                </a:solidFill>
                <a:latin typeface="Calibri" pitchFamily="34" charset="0"/>
                <a:ea typeface="Calibri" pitchFamily="34" charset="-122"/>
                <a:cs typeface="Calibri" pitchFamily="34" charset="-120"/>
              </a:rPr>
              <a:t>Station Road   ·   3 replies   ·   25 days ago</a:t>
            </a:r>
            <a:endParaRPr lang="en-US" sz="760" dirty="0"/>
          </a:p>
        </p:txBody>
      </p:sp>
      <p:sp>
        <p:nvSpPr>
          <p:cNvPr id="19" name="Shape 16"/>
          <p:cNvSpPr/>
          <p:nvPr/>
        </p:nvSpPr>
        <p:spPr>
          <a:xfrm>
            <a:off x="566928" y="3511296"/>
            <a:ext cx="5394960" cy="877824"/>
          </a:xfrm>
          <a:prstGeom prst="roundRect">
            <a:avLst>
              <a:gd name="adj" fmla="val 10417"/>
            </a:avLst>
          </a:prstGeom>
          <a:solidFill>
            <a:srgbClr val="FBF2E2"/>
          </a:solidFill>
          <a:ln w="12700">
            <a:solidFill>
              <a:srgbClr val="EBD9B5"/>
            </a:solidFill>
            <a:prstDash val="solid"/>
          </a:ln>
        </p:spPr>
      </p:sp>
      <p:sp>
        <p:nvSpPr>
          <p:cNvPr id="20" name="Shape 17"/>
          <p:cNvSpPr/>
          <p:nvPr/>
        </p:nvSpPr>
        <p:spPr>
          <a:xfrm>
            <a:off x="749808" y="3730752"/>
            <a:ext cx="384048" cy="384048"/>
          </a:xfrm>
          <a:prstGeom prst="ellipse">
            <a:avLst/>
          </a:prstGeom>
          <a:solidFill>
            <a:srgbClr val="D98A1F"/>
          </a:solidFill>
          <a:ln/>
        </p:spPr>
      </p:sp>
      <p:pic>
        <p:nvPicPr>
          <p:cNvPr id="21" name="Image 1" descr="preencoded.png"/>
          <p:cNvPicPr>
            <a:picLocks noChangeAspect="1"/>
          </p:cNvPicPr>
          <p:nvPr/>
        </p:nvPicPr>
        <p:blipFill>
          <a:blip r:embed="rId4"/>
          <a:stretch>
            <a:fillRect/>
          </a:stretch>
        </p:blipFill>
        <p:spPr>
          <a:xfrm>
            <a:off x="840059" y="3821003"/>
            <a:ext cx="203545" cy="203545"/>
          </a:xfrm>
          <a:prstGeom prst="rect">
            <a:avLst/>
          </a:prstGeom>
        </p:spPr>
      </p:pic>
      <p:sp>
        <p:nvSpPr>
          <p:cNvPr id="22" name="Text 18"/>
          <p:cNvSpPr txBox="1"/>
          <p:nvPr/>
        </p:nvSpPr>
        <p:spPr>
          <a:xfrm>
            <a:off x="1261872" y="3657600"/>
            <a:ext cx="2743200" cy="548640"/>
          </a:xfrm>
          <a:prstGeom prst="rect">
            <a:avLst/>
          </a:prstGeom>
          <a:noFill/>
          <a:ln/>
        </p:spPr>
        <p:txBody>
          <a:bodyPr wrap="square" lIns="0" tIns="0" rIns="0" bIns="0" rtlCol="0" anchor="ctr"/>
          <a:lstStyle/>
          <a:p>
            <a:pPr marL="0" indent="0">
              <a:lnSpc>
                <a:spcPct val="110000"/>
              </a:lnSpc>
              <a:buNone/>
            </a:pPr>
            <a:r>
              <a:rPr lang="en-US" sz="960" b="1" dirty="0">
                <a:solidFill>
                  <a:srgbClr val="6B4A12"/>
                </a:solidFill>
                <a:latin typeface="Calibri" pitchFamily="34" charset="0"/>
                <a:ea typeface="Calibri" pitchFamily="34" charset="-122"/>
                <a:cs typeface="Calibri" pitchFamily="34" charset="-120"/>
              </a:rPr>
              <a:t>The ward says this is done — you backed it, so does it look fixed?</a:t>
            </a:r>
            <a:endParaRPr lang="en-US" sz="960" dirty="0"/>
          </a:p>
        </p:txBody>
      </p:sp>
      <p:sp>
        <p:nvSpPr>
          <p:cNvPr id="23" name="Shape 19"/>
          <p:cNvSpPr/>
          <p:nvPr/>
        </p:nvSpPr>
        <p:spPr>
          <a:xfrm>
            <a:off x="4114800" y="3803904"/>
            <a:ext cx="768096" cy="274320"/>
          </a:xfrm>
          <a:prstGeom prst="roundRect">
            <a:avLst>
              <a:gd name="adj" fmla="val 20000"/>
            </a:avLst>
          </a:prstGeom>
          <a:solidFill>
            <a:srgbClr val="157F5F"/>
          </a:solidFill>
          <a:ln/>
        </p:spPr>
      </p:sp>
      <p:sp>
        <p:nvSpPr>
          <p:cNvPr id="24" name="Text 20"/>
          <p:cNvSpPr txBox="1"/>
          <p:nvPr/>
        </p:nvSpPr>
        <p:spPr>
          <a:xfrm>
            <a:off x="4114800" y="3803904"/>
            <a:ext cx="768096" cy="274320"/>
          </a:xfrm>
          <a:prstGeom prst="rect">
            <a:avLst/>
          </a:prstGeom>
          <a:noFill/>
          <a:ln/>
        </p:spPr>
        <p:txBody>
          <a:bodyPr wrap="square" lIns="0" tIns="0" rIns="0" bIns="0" rtlCol="0" anchor="ctr"/>
          <a:lstStyle/>
          <a:p>
            <a:pPr marL="0" indent="0" algn="ctr">
              <a:buNone/>
            </a:pPr>
            <a:r>
              <a:rPr lang="en-US" sz="840" b="1" dirty="0">
                <a:solidFill>
                  <a:srgbClr val="FFFFFF"/>
                </a:solidFill>
                <a:latin typeface="Calibri" pitchFamily="34" charset="0"/>
                <a:ea typeface="Calibri" pitchFamily="34" charset="-122"/>
                <a:cs typeface="Calibri" pitchFamily="34" charset="-120"/>
              </a:rPr>
              <a:t>Yes, fixed</a:t>
            </a:r>
            <a:endParaRPr lang="en-US" sz="840" dirty="0"/>
          </a:p>
        </p:txBody>
      </p:sp>
      <p:sp>
        <p:nvSpPr>
          <p:cNvPr id="25" name="Shape 21"/>
          <p:cNvSpPr/>
          <p:nvPr/>
        </p:nvSpPr>
        <p:spPr>
          <a:xfrm>
            <a:off x="4974336" y="3803904"/>
            <a:ext cx="768096" cy="274320"/>
          </a:xfrm>
          <a:prstGeom prst="roundRect">
            <a:avLst>
              <a:gd name="adj" fmla="val 20000"/>
            </a:avLst>
          </a:prstGeom>
          <a:solidFill>
            <a:srgbClr val="FFFFFF"/>
          </a:solidFill>
          <a:ln/>
        </p:spPr>
      </p:sp>
      <p:sp>
        <p:nvSpPr>
          <p:cNvPr id="26" name="Text 22"/>
          <p:cNvSpPr txBox="1"/>
          <p:nvPr/>
        </p:nvSpPr>
        <p:spPr>
          <a:xfrm>
            <a:off x="4974336" y="3803904"/>
            <a:ext cx="768096" cy="274320"/>
          </a:xfrm>
          <a:prstGeom prst="rect">
            <a:avLst/>
          </a:prstGeom>
          <a:noFill/>
          <a:ln/>
        </p:spPr>
        <p:txBody>
          <a:bodyPr wrap="square" lIns="0" tIns="0" rIns="0" bIns="0" rtlCol="0" anchor="ctr"/>
          <a:lstStyle/>
          <a:p>
            <a:pPr marL="0" indent="0" algn="ctr">
              <a:buNone/>
            </a:pPr>
            <a:r>
              <a:rPr lang="en-US" sz="840" b="1" dirty="0">
                <a:solidFill>
                  <a:srgbClr val="BB3B32"/>
                </a:solidFill>
                <a:latin typeface="Calibri" pitchFamily="34" charset="0"/>
                <a:ea typeface="Calibri" pitchFamily="34" charset="-122"/>
                <a:cs typeface="Calibri" pitchFamily="34" charset="-120"/>
              </a:rPr>
              <a:t>Not fixed</a:t>
            </a:r>
            <a:endParaRPr lang="en-US" sz="840" dirty="0"/>
          </a:p>
        </p:txBody>
      </p:sp>
      <p:sp>
        <p:nvSpPr>
          <p:cNvPr id="27" name="Shape 23"/>
          <p:cNvSpPr/>
          <p:nvPr/>
        </p:nvSpPr>
        <p:spPr>
          <a:xfrm>
            <a:off x="4974336" y="3803904"/>
            <a:ext cx="768096" cy="274320"/>
          </a:xfrm>
          <a:prstGeom prst="roundRect">
            <a:avLst>
              <a:gd name="adj" fmla="val 20000"/>
            </a:avLst>
          </a:prstGeom>
          <a:ln w="9525">
            <a:solidFill>
              <a:srgbClr val="BB3B32"/>
            </a:solidFill>
            <a:prstDash val="solid"/>
          </a:ln>
        </p:spPr>
      </p:sp>
      <p:sp>
        <p:nvSpPr>
          <p:cNvPr id="28" name="Text 24"/>
          <p:cNvSpPr txBox="1"/>
          <p:nvPr/>
        </p:nvSpPr>
        <p:spPr>
          <a:xfrm>
            <a:off x="6309360" y="1572768"/>
            <a:ext cx="5303520" cy="256032"/>
          </a:xfrm>
          <a:prstGeom prst="rect">
            <a:avLst/>
          </a:prstGeom>
          <a:noFill/>
          <a:ln/>
        </p:spPr>
        <p:txBody>
          <a:bodyPr wrap="square" lIns="0" tIns="0" rIns="0" bIns="0" rtlCol="0" anchor="ctr"/>
          <a:lstStyle/>
          <a:p>
            <a:pPr marL="0" indent="0">
              <a:buNone/>
            </a:pPr>
            <a:r>
              <a:rPr lang="en-US" sz="1100" b="1" dirty="0">
                <a:solidFill>
                  <a:srgbClr val="0F7C8A"/>
                </a:solidFill>
                <a:latin typeface="Calibri" pitchFamily="34" charset="0"/>
                <a:ea typeface="Calibri" pitchFamily="34" charset="-122"/>
                <a:cs typeface="Calibri" pitchFamily="34" charset="-120"/>
              </a:rPr>
              <a:t>Ward dashboard</a:t>
            </a:r>
            <a:endParaRPr lang="en-US" sz="1100" dirty="0"/>
          </a:p>
        </p:txBody>
      </p:sp>
      <p:sp>
        <p:nvSpPr>
          <p:cNvPr id="29" name="Shape 25"/>
          <p:cNvSpPr/>
          <p:nvPr/>
        </p:nvSpPr>
        <p:spPr>
          <a:xfrm>
            <a:off x="6309360" y="1883664"/>
            <a:ext cx="989929" cy="768096"/>
          </a:xfrm>
          <a:prstGeom prst="roundRect">
            <a:avLst>
              <a:gd name="adj" fmla="val 9524"/>
            </a:avLst>
          </a:prstGeom>
          <a:solidFill>
            <a:srgbClr val="FFFFFF"/>
          </a:solidFill>
          <a:ln w="12700">
            <a:solidFill>
              <a:srgbClr val="0F7C8A"/>
            </a:solidFill>
            <a:prstDash val="solid"/>
          </a:ln>
        </p:spPr>
      </p:sp>
      <p:sp>
        <p:nvSpPr>
          <p:cNvPr id="30" name="Text 26"/>
          <p:cNvSpPr txBox="1"/>
          <p:nvPr/>
        </p:nvSpPr>
        <p:spPr>
          <a:xfrm>
            <a:off x="6309360" y="1938528"/>
            <a:ext cx="989929" cy="365760"/>
          </a:xfrm>
          <a:prstGeom prst="rect">
            <a:avLst/>
          </a:prstGeom>
          <a:noFill/>
          <a:ln/>
        </p:spPr>
        <p:txBody>
          <a:bodyPr wrap="square" lIns="0" tIns="0" rIns="0" bIns="0" rtlCol="0" anchor="ctr"/>
          <a:lstStyle/>
          <a:p>
            <a:pPr marL="0" indent="0" algn="ctr">
              <a:buNone/>
            </a:pPr>
            <a:r>
              <a:rPr lang="en-US" sz="1700" b="1" dirty="0">
                <a:solidFill>
                  <a:srgbClr val="0F7C8A"/>
                </a:solidFill>
                <a:latin typeface="Cambria" pitchFamily="34" charset="0"/>
                <a:ea typeface="Cambria" pitchFamily="34" charset="-122"/>
                <a:cs typeface="Cambria" pitchFamily="34" charset="-120"/>
              </a:rPr>
              <a:t>5</a:t>
            </a:r>
            <a:endParaRPr lang="en-US" sz="1700" dirty="0"/>
          </a:p>
        </p:txBody>
      </p:sp>
      <p:sp>
        <p:nvSpPr>
          <p:cNvPr id="31" name="Text 27"/>
          <p:cNvSpPr txBox="1"/>
          <p:nvPr/>
        </p:nvSpPr>
        <p:spPr>
          <a:xfrm>
            <a:off x="6345936" y="2304288"/>
            <a:ext cx="916777" cy="274320"/>
          </a:xfrm>
          <a:prstGeom prst="rect">
            <a:avLst/>
          </a:prstGeom>
          <a:noFill/>
          <a:ln/>
        </p:spPr>
        <p:txBody>
          <a:bodyPr wrap="square" lIns="0" tIns="0" rIns="0" bIns="0" rtlCol="0" anchor="ctr"/>
          <a:lstStyle/>
          <a:p>
            <a:pPr marL="0" indent="0" algn="ctr">
              <a:buNone/>
            </a:pPr>
            <a:r>
              <a:rPr lang="en-US" sz="740" dirty="0">
                <a:solidFill>
                  <a:srgbClr val="6D8589"/>
                </a:solidFill>
                <a:latin typeface="Calibri" pitchFamily="34" charset="0"/>
                <a:ea typeface="Calibri" pitchFamily="34" charset="-122"/>
                <a:cs typeface="Calibri" pitchFamily="34" charset="-120"/>
              </a:rPr>
              <a:t>Need a date</a:t>
            </a:r>
            <a:endParaRPr lang="en-US" sz="740" dirty="0"/>
          </a:p>
        </p:txBody>
      </p:sp>
      <p:sp>
        <p:nvSpPr>
          <p:cNvPr id="32" name="Shape 28"/>
          <p:cNvSpPr/>
          <p:nvPr/>
        </p:nvSpPr>
        <p:spPr>
          <a:xfrm>
            <a:off x="7390729" y="1883664"/>
            <a:ext cx="989929" cy="768096"/>
          </a:xfrm>
          <a:prstGeom prst="roundRect">
            <a:avLst>
              <a:gd name="adj" fmla="val 9524"/>
            </a:avLst>
          </a:prstGeom>
          <a:solidFill>
            <a:srgbClr val="FFFFFF"/>
          </a:solidFill>
          <a:ln w="12700">
            <a:solidFill>
              <a:srgbClr val="D5E3E4"/>
            </a:solidFill>
            <a:prstDash val="solid"/>
          </a:ln>
        </p:spPr>
      </p:sp>
      <p:sp>
        <p:nvSpPr>
          <p:cNvPr id="33" name="Text 29"/>
          <p:cNvSpPr txBox="1"/>
          <p:nvPr/>
        </p:nvSpPr>
        <p:spPr>
          <a:xfrm>
            <a:off x="7390729" y="1938528"/>
            <a:ext cx="989929" cy="365760"/>
          </a:xfrm>
          <a:prstGeom prst="rect">
            <a:avLst/>
          </a:prstGeom>
          <a:noFill/>
          <a:ln/>
        </p:spPr>
        <p:txBody>
          <a:bodyPr wrap="square" lIns="0" tIns="0" rIns="0" bIns="0" rtlCol="0" anchor="ctr"/>
          <a:lstStyle/>
          <a:p>
            <a:pPr marL="0" indent="0" algn="ctr">
              <a:buNone/>
            </a:pPr>
            <a:r>
              <a:rPr lang="en-US" sz="1700" b="1" dirty="0">
                <a:solidFill>
                  <a:srgbClr val="BB3B32"/>
                </a:solidFill>
                <a:latin typeface="Cambria" pitchFamily="34" charset="0"/>
                <a:ea typeface="Cambria" pitchFamily="34" charset="-122"/>
                <a:cs typeface="Cambria" pitchFamily="34" charset="-120"/>
              </a:rPr>
              <a:t>2</a:t>
            </a:r>
            <a:endParaRPr lang="en-US" sz="1700" dirty="0"/>
          </a:p>
        </p:txBody>
      </p:sp>
      <p:sp>
        <p:nvSpPr>
          <p:cNvPr id="34" name="Text 30"/>
          <p:cNvSpPr txBox="1"/>
          <p:nvPr/>
        </p:nvSpPr>
        <p:spPr>
          <a:xfrm>
            <a:off x="7427305" y="2304288"/>
            <a:ext cx="916777" cy="274320"/>
          </a:xfrm>
          <a:prstGeom prst="rect">
            <a:avLst/>
          </a:prstGeom>
          <a:noFill/>
          <a:ln/>
        </p:spPr>
        <p:txBody>
          <a:bodyPr wrap="square" lIns="0" tIns="0" rIns="0" bIns="0" rtlCol="0" anchor="ctr"/>
          <a:lstStyle/>
          <a:p>
            <a:pPr marL="0" indent="0" algn="ctr">
              <a:buNone/>
            </a:pPr>
            <a:r>
              <a:rPr lang="en-US" sz="740" dirty="0">
                <a:solidFill>
                  <a:srgbClr val="6D8589"/>
                </a:solidFill>
                <a:latin typeface="Calibri" pitchFamily="34" charset="0"/>
                <a:ea typeface="Calibri" pitchFamily="34" charset="-122"/>
                <a:cs typeface="Calibri" pitchFamily="34" charset="-120"/>
              </a:rPr>
              <a:t>Past their date</a:t>
            </a:r>
            <a:endParaRPr lang="en-US" sz="740" dirty="0"/>
          </a:p>
        </p:txBody>
      </p:sp>
      <p:sp>
        <p:nvSpPr>
          <p:cNvPr id="35" name="Shape 31"/>
          <p:cNvSpPr/>
          <p:nvPr/>
        </p:nvSpPr>
        <p:spPr>
          <a:xfrm>
            <a:off x="8472099" y="1883664"/>
            <a:ext cx="989929" cy="768096"/>
          </a:xfrm>
          <a:prstGeom prst="roundRect">
            <a:avLst>
              <a:gd name="adj" fmla="val 9524"/>
            </a:avLst>
          </a:prstGeom>
          <a:solidFill>
            <a:srgbClr val="FFFFFF"/>
          </a:solidFill>
          <a:ln w="12700">
            <a:solidFill>
              <a:srgbClr val="D5E3E4"/>
            </a:solidFill>
            <a:prstDash val="solid"/>
          </a:ln>
        </p:spPr>
      </p:sp>
      <p:sp>
        <p:nvSpPr>
          <p:cNvPr id="36" name="Text 32"/>
          <p:cNvSpPr txBox="1"/>
          <p:nvPr/>
        </p:nvSpPr>
        <p:spPr>
          <a:xfrm>
            <a:off x="8472099" y="1938528"/>
            <a:ext cx="989929" cy="365760"/>
          </a:xfrm>
          <a:prstGeom prst="rect">
            <a:avLst/>
          </a:prstGeom>
          <a:noFill/>
          <a:ln/>
        </p:spPr>
        <p:txBody>
          <a:bodyPr wrap="square" lIns="0" tIns="0" rIns="0" bIns="0" rtlCol="0" anchor="ctr"/>
          <a:lstStyle/>
          <a:p>
            <a:pPr marL="0" indent="0" algn="ctr">
              <a:buNone/>
            </a:pPr>
            <a:r>
              <a:rPr lang="en-US" sz="1700" b="1" dirty="0">
                <a:solidFill>
                  <a:srgbClr val="3D5559"/>
                </a:solidFill>
                <a:latin typeface="Cambria" pitchFamily="34" charset="0"/>
                <a:ea typeface="Cambria" pitchFamily="34" charset="-122"/>
                <a:cs typeface="Cambria" pitchFamily="34" charset="-120"/>
              </a:rPr>
              <a:t>2</a:t>
            </a:r>
            <a:endParaRPr lang="en-US" sz="1700" dirty="0"/>
          </a:p>
        </p:txBody>
      </p:sp>
      <p:sp>
        <p:nvSpPr>
          <p:cNvPr id="37" name="Text 33"/>
          <p:cNvSpPr txBox="1"/>
          <p:nvPr/>
        </p:nvSpPr>
        <p:spPr>
          <a:xfrm>
            <a:off x="8508675" y="2304288"/>
            <a:ext cx="916777" cy="274320"/>
          </a:xfrm>
          <a:prstGeom prst="rect">
            <a:avLst/>
          </a:prstGeom>
          <a:noFill/>
          <a:ln/>
        </p:spPr>
        <p:txBody>
          <a:bodyPr wrap="square" lIns="0" tIns="0" rIns="0" bIns="0" rtlCol="0" anchor="ctr"/>
          <a:lstStyle/>
          <a:p>
            <a:pPr marL="0" indent="0" algn="ctr">
              <a:buNone/>
            </a:pPr>
            <a:r>
              <a:rPr lang="en-US" sz="740" dirty="0">
                <a:solidFill>
                  <a:srgbClr val="6D8589"/>
                </a:solidFill>
                <a:latin typeface="Calibri" pitchFamily="34" charset="0"/>
                <a:ea typeface="Calibri" pitchFamily="34" charset="-122"/>
                <a:cs typeface="Calibri" pitchFamily="34" charset="-120"/>
              </a:rPr>
              <a:t>Being checked</a:t>
            </a:r>
            <a:endParaRPr lang="en-US" sz="740" dirty="0"/>
          </a:p>
        </p:txBody>
      </p:sp>
      <p:sp>
        <p:nvSpPr>
          <p:cNvPr id="38" name="Shape 34"/>
          <p:cNvSpPr/>
          <p:nvPr/>
        </p:nvSpPr>
        <p:spPr>
          <a:xfrm>
            <a:off x="9553468" y="1883664"/>
            <a:ext cx="989929" cy="768096"/>
          </a:xfrm>
          <a:prstGeom prst="roundRect">
            <a:avLst>
              <a:gd name="adj" fmla="val 9524"/>
            </a:avLst>
          </a:prstGeom>
          <a:solidFill>
            <a:srgbClr val="FFFFFF"/>
          </a:solidFill>
          <a:ln w="12700">
            <a:solidFill>
              <a:srgbClr val="D5E3E4"/>
            </a:solidFill>
            <a:prstDash val="solid"/>
          </a:ln>
        </p:spPr>
      </p:sp>
      <p:sp>
        <p:nvSpPr>
          <p:cNvPr id="39" name="Text 35"/>
          <p:cNvSpPr txBox="1"/>
          <p:nvPr/>
        </p:nvSpPr>
        <p:spPr>
          <a:xfrm>
            <a:off x="9553468" y="1938528"/>
            <a:ext cx="989929" cy="365760"/>
          </a:xfrm>
          <a:prstGeom prst="rect">
            <a:avLst/>
          </a:prstGeom>
          <a:noFill/>
          <a:ln/>
        </p:spPr>
        <p:txBody>
          <a:bodyPr wrap="square" lIns="0" tIns="0" rIns="0" bIns="0" rtlCol="0" anchor="ctr"/>
          <a:lstStyle/>
          <a:p>
            <a:pPr marL="0" indent="0" algn="ctr">
              <a:buNone/>
            </a:pPr>
            <a:r>
              <a:rPr lang="en-US" sz="1700" b="1" dirty="0">
                <a:solidFill>
                  <a:srgbClr val="B26A00"/>
                </a:solidFill>
                <a:latin typeface="Cambria" pitchFamily="34" charset="0"/>
                <a:ea typeface="Cambria" pitchFamily="34" charset="-122"/>
                <a:cs typeface="Cambria" pitchFamily="34" charset="-120"/>
              </a:rPr>
              <a:t>1</a:t>
            </a:r>
            <a:endParaRPr lang="en-US" sz="1700" dirty="0"/>
          </a:p>
        </p:txBody>
      </p:sp>
      <p:sp>
        <p:nvSpPr>
          <p:cNvPr id="40" name="Text 36"/>
          <p:cNvSpPr txBox="1"/>
          <p:nvPr/>
        </p:nvSpPr>
        <p:spPr>
          <a:xfrm>
            <a:off x="9590044" y="2304288"/>
            <a:ext cx="916777" cy="274320"/>
          </a:xfrm>
          <a:prstGeom prst="rect">
            <a:avLst/>
          </a:prstGeom>
          <a:noFill/>
          <a:ln/>
        </p:spPr>
        <p:txBody>
          <a:bodyPr wrap="square" lIns="0" tIns="0" rIns="0" bIns="0" rtlCol="0" anchor="ctr"/>
          <a:lstStyle/>
          <a:p>
            <a:pPr marL="0" indent="0" algn="ctr">
              <a:buNone/>
            </a:pPr>
            <a:r>
              <a:rPr lang="en-US" sz="740" dirty="0">
                <a:solidFill>
                  <a:srgbClr val="6D8589"/>
                </a:solidFill>
                <a:latin typeface="Calibri" pitchFamily="34" charset="0"/>
                <a:ea typeface="Calibri" pitchFamily="34" charset="-122"/>
                <a:cs typeface="Calibri" pitchFamily="34" charset="-120"/>
              </a:rPr>
              <a:t>Disputed</a:t>
            </a:r>
            <a:endParaRPr lang="en-US" sz="740" dirty="0"/>
          </a:p>
        </p:txBody>
      </p:sp>
      <p:sp>
        <p:nvSpPr>
          <p:cNvPr id="41" name="Shape 37"/>
          <p:cNvSpPr/>
          <p:nvPr/>
        </p:nvSpPr>
        <p:spPr>
          <a:xfrm>
            <a:off x="10634838" y="1883664"/>
            <a:ext cx="989929" cy="768096"/>
          </a:xfrm>
          <a:prstGeom prst="roundRect">
            <a:avLst>
              <a:gd name="adj" fmla="val 9524"/>
            </a:avLst>
          </a:prstGeom>
          <a:solidFill>
            <a:srgbClr val="FFFFFF"/>
          </a:solidFill>
          <a:ln w="12700">
            <a:solidFill>
              <a:srgbClr val="D5E3E4"/>
            </a:solidFill>
            <a:prstDash val="solid"/>
          </a:ln>
        </p:spPr>
      </p:sp>
      <p:sp>
        <p:nvSpPr>
          <p:cNvPr id="42" name="Text 38"/>
          <p:cNvSpPr txBox="1"/>
          <p:nvPr/>
        </p:nvSpPr>
        <p:spPr>
          <a:xfrm>
            <a:off x="10634838" y="1938528"/>
            <a:ext cx="989929" cy="365760"/>
          </a:xfrm>
          <a:prstGeom prst="rect">
            <a:avLst/>
          </a:prstGeom>
          <a:noFill/>
          <a:ln/>
        </p:spPr>
        <p:txBody>
          <a:bodyPr wrap="square" lIns="0" tIns="0" rIns="0" bIns="0" rtlCol="0" anchor="ctr"/>
          <a:lstStyle/>
          <a:p>
            <a:pPr marL="0" indent="0" algn="ctr">
              <a:buNone/>
            </a:pPr>
            <a:r>
              <a:rPr lang="en-US" sz="1700" b="1" dirty="0">
                <a:solidFill>
                  <a:srgbClr val="157F5F"/>
                </a:solidFill>
                <a:latin typeface="Cambria" pitchFamily="34" charset="0"/>
                <a:ea typeface="Cambria" pitchFamily="34" charset="-122"/>
                <a:cs typeface="Cambria" pitchFamily="34" charset="-120"/>
              </a:rPr>
              <a:t>2</a:t>
            </a:r>
            <a:endParaRPr lang="en-US" sz="1700" dirty="0"/>
          </a:p>
        </p:txBody>
      </p:sp>
      <p:sp>
        <p:nvSpPr>
          <p:cNvPr id="43" name="Text 39"/>
          <p:cNvSpPr txBox="1"/>
          <p:nvPr/>
        </p:nvSpPr>
        <p:spPr>
          <a:xfrm>
            <a:off x="10671414" y="2304288"/>
            <a:ext cx="916777" cy="274320"/>
          </a:xfrm>
          <a:prstGeom prst="rect">
            <a:avLst/>
          </a:prstGeom>
          <a:noFill/>
          <a:ln/>
        </p:spPr>
        <p:txBody>
          <a:bodyPr wrap="square" lIns="0" tIns="0" rIns="0" bIns="0" rtlCol="0" anchor="ctr"/>
          <a:lstStyle/>
          <a:p>
            <a:pPr marL="0" indent="0" algn="ctr">
              <a:buNone/>
            </a:pPr>
            <a:r>
              <a:rPr lang="en-US" sz="740" dirty="0">
                <a:solidFill>
                  <a:srgbClr val="6D8589"/>
                </a:solidFill>
                <a:latin typeface="Calibri" pitchFamily="34" charset="0"/>
                <a:ea typeface="Calibri" pitchFamily="34" charset="-122"/>
                <a:cs typeface="Calibri" pitchFamily="34" charset="-120"/>
              </a:rPr>
              <a:t>Confirmed fixed</a:t>
            </a:r>
            <a:endParaRPr lang="en-US" sz="740" dirty="0"/>
          </a:p>
        </p:txBody>
      </p:sp>
      <p:sp>
        <p:nvSpPr>
          <p:cNvPr id="44" name="Shape 40"/>
          <p:cNvSpPr/>
          <p:nvPr/>
        </p:nvSpPr>
        <p:spPr>
          <a:xfrm>
            <a:off x="6309360" y="2779776"/>
            <a:ext cx="5315407" cy="1609344"/>
          </a:xfrm>
          <a:prstGeom prst="roundRect">
            <a:avLst>
              <a:gd name="adj" fmla="val 5682"/>
            </a:avLst>
          </a:prstGeom>
          <a:solidFill>
            <a:srgbClr val="FFFFFF"/>
          </a:solidFill>
          <a:ln w="12700">
            <a:solidFill>
              <a:srgbClr val="D5E3E4"/>
            </a:solidFill>
            <a:prstDash val="solid"/>
          </a:ln>
          <a:effectLst>
            <a:outerShdw blurRad="127000" dist="25400" dir="5400000" algn="bl" rotWithShape="0">
              <a:srgbClr val="0B1F22">
                <a:alpha val="10000"/>
              </a:srgbClr>
            </a:outerShdw>
          </a:effectLst>
        </p:spPr>
      </p:sp>
      <p:sp>
        <p:nvSpPr>
          <p:cNvPr id="45" name="Shape 41"/>
          <p:cNvSpPr/>
          <p:nvPr/>
        </p:nvSpPr>
        <p:spPr>
          <a:xfrm>
            <a:off x="6309360" y="2779776"/>
            <a:ext cx="5315407" cy="274320"/>
          </a:xfrm>
          <a:prstGeom prst="rect">
            <a:avLst/>
          </a:prstGeom>
          <a:solidFill>
            <a:srgbClr val="EDF4F4"/>
          </a:solidFill>
          <a:ln/>
        </p:spPr>
      </p:sp>
      <p:sp>
        <p:nvSpPr>
          <p:cNvPr id="46" name="Text 42"/>
          <p:cNvSpPr txBox="1"/>
          <p:nvPr/>
        </p:nvSpPr>
        <p:spPr>
          <a:xfrm>
            <a:off x="6437376" y="2779776"/>
            <a:ext cx="1005840" cy="274320"/>
          </a:xfrm>
          <a:prstGeom prst="rect">
            <a:avLst/>
          </a:prstGeom>
          <a:noFill/>
          <a:ln/>
        </p:spPr>
        <p:txBody>
          <a:bodyPr wrap="square" lIns="0" tIns="0" rIns="0" bIns="0" rtlCol="0" anchor="ctr"/>
          <a:lstStyle/>
          <a:p>
            <a:pPr marL="0" indent="0">
              <a:buNone/>
            </a:pPr>
            <a:r>
              <a:rPr lang="en-US" sz="780" b="1" dirty="0">
                <a:solidFill>
                  <a:srgbClr val="6D8589"/>
                </a:solidFill>
                <a:latin typeface="Calibri" pitchFamily="34" charset="0"/>
                <a:ea typeface="Calibri" pitchFamily="34" charset="-122"/>
                <a:cs typeface="Calibri" pitchFamily="34" charset="-120"/>
              </a:rPr>
              <a:t>Report</a:t>
            </a:r>
            <a:endParaRPr lang="en-US" sz="780" dirty="0"/>
          </a:p>
        </p:txBody>
      </p:sp>
      <p:sp>
        <p:nvSpPr>
          <p:cNvPr id="47" name="Text 43"/>
          <p:cNvSpPr txBox="1"/>
          <p:nvPr/>
        </p:nvSpPr>
        <p:spPr>
          <a:xfrm>
            <a:off x="8814816" y="2779776"/>
            <a:ext cx="1005840" cy="274320"/>
          </a:xfrm>
          <a:prstGeom prst="rect">
            <a:avLst/>
          </a:prstGeom>
          <a:noFill/>
          <a:ln/>
        </p:spPr>
        <p:txBody>
          <a:bodyPr wrap="square" lIns="0" tIns="0" rIns="0" bIns="0" rtlCol="0" anchor="ctr"/>
          <a:lstStyle/>
          <a:p>
            <a:pPr marL="0" indent="0">
              <a:buNone/>
            </a:pPr>
            <a:r>
              <a:rPr lang="en-US" sz="780" b="1" dirty="0">
                <a:solidFill>
                  <a:srgbClr val="6D8589"/>
                </a:solidFill>
                <a:latin typeface="Calibri" pitchFamily="34" charset="0"/>
                <a:ea typeface="Calibri" pitchFamily="34" charset="-122"/>
                <a:cs typeface="Calibri" pitchFamily="34" charset="-120"/>
              </a:rPr>
              <a:t>Backing</a:t>
            </a:r>
            <a:endParaRPr lang="en-US" sz="780" dirty="0"/>
          </a:p>
        </p:txBody>
      </p:sp>
      <p:sp>
        <p:nvSpPr>
          <p:cNvPr id="48" name="Text 44"/>
          <p:cNvSpPr txBox="1"/>
          <p:nvPr/>
        </p:nvSpPr>
        <p:spPr>
          <a:xfrm>
            <a:off x="9564624" y="2779776"/>
            <a:ext cx="1005840" cy="274320"/>
          </a:xfrm>
          <a:prstGeom prst="rect">
            <a:avLst/>
          </a:prstGeom>
          <a:noFill/>
          <a:ln/>
        </p:spPr>
        <p:txBody>
          <a:bodyPr wrap="square" lIns="0" tIns="0" rIns="0" bIns="0" rtlCol="0" anchor="ctr"/>
          <a:lstStyle/>
          <a:p>
            <a:pPr marL="0" indent="0">
              <a:buNone/>
            </a:pPr>
            <a:r>
              <a:rPr lang="en-US" sz="780" b="1" dirty="0">
                <a:solidFill>
                  <a:srgbClr val="6D8589"/>
                </a:solidFill>
                <a:latin typeface="Calibri" pitchFamily="34" charset="0"/>
                <a:ea typeface="Calibri" pitchFamily="34" charset="-122"/>
                <a:cs typeface="Calibri" pitchFamily="34" charset="-120"/>
              </a:rPr>
              <a:t>Promised</a:t>
            </a:r>
            <a:endParaRPr lang="en-US" sz="780" dirty="0"/>
          </a:p>
        </p:txBody>
      </p:sp>
      <p:sp>
        <p:nvSpPr>
          <p:cNvPr id="49" name="Text 45"/>
          <p:cNvSpPr txBox="1"/>
          <p:nvPr/>
        </p:nvSpPr>
        <p:spPr>
          <a:xfrm>
            <a:off x="10424160" y="2779776"/>
            <a:ext cx="1005840" cy="274320"/>
          </a:xfrm>
          <a:prstGeom prst="rect">
            <a:avLst/>
          </a:prstGeom>
          <a:noFill/>
          <a:ln/>
        </p:spPr>
        <p:txBody>
          <a:bodyPr wrap="square" lIns="0" tIns="0" rIns="0" bIns="0" rtlCol="0" anchor="ctr"/>
          <a:lstStyle/>
          <a:p>
            <a:pPr marL="0" indent="0">
              <a:buNone/>
            </a:pPr>
            <a:r>
              <a:rPr lang="en-US" sz="780" b="1" dirty="0">
                <a:solidFill>
                  <a:srgbClr val="6D8589"/>
                </a:solidFill>
                <a:latin typeface="Calibri" pitchFamily="34" charset="0"/>
                <a:ea typeface="Calibri" pitchFamily="34" charset="-122"/>
                <a:cs typeface="Calibri" pitchFamily="34" charset="-120"/>
              </a:rPr>
              <a:t>What now</a:t>
            </a:r>
            <a:endParaRPr lang="en-US" sz="780" dirty="0"/>
          </a:p>
        </p:txBody>
      </p:sp>
      <p:sp>
        <p:nvSpPr>
          <p:cNvPr id="50" name="Text 46"/>
          <p:cNvSpPr txBox="1"/>
          <p:nvPr/>
        </p:nvSpPr>
        <p:spPr>
          <a:xfrm>
            <a:off x="6437376" y="3127248"/>
            <a:ext cx="2286000" cy="274320"/>
          </a:xfrm>
          <a:prstGeom prst="rect">
            <a:avLst/>
          </a:prstGeom>
          <a:noFill/>
          <a:ln/>
        </p:spPr>
        <p:txBody>
          <a:bodyPr wrap="square" lIns="0" tIns="0" rIns="0" bIns="0" rtlCol="0" anchor="ctr"/>
          <a:lstStyle/>
          <a:p>
            <a:pPr marL="0" indent="0">
              <a:buNone/>
            </a:pPr>
            <a:r>
              <a:rPr lang="en-US" sz="860" b="1" dirty="0">
                <a:solidFill>
                  <a:srgbClr val="0B1F22"/>
                </a:solidFill>
                <a:latin typeface="Calibri" pitchFamily="34" charset="0"/>
                <a:ea typeface="Calibri" pitchFamily="34" charset="-122"/>
                <a:cs typeface="Calibri" pitchFamily="34" charset="-120"/>
              </a:rPr>
              <a:t>Pothole at the school crossing</a:t>
            </a:r>
            <a:endParaRPr lang="en-US" sz="860" dirty="0"/>
          </a:p>
        </p:txBody>
      </p:sp>
      <p:sp>
        <p:nvSpPr>
          <p:cNvPr id="51" name="Text 47"/>
          <p:cNvSpPr txBox="1"/>
          <p:nvPr/>
        </p:nvSpPr>
        <p:spPr>
          <a:xfrm>
            <a:off x="8814816" y="3127248"/>
            <a:ext cx="548640" cy="274320"/>
          </a:xfrm>
          <a:prstGeom prst="rect">
            <a:avLst/>
          </a:prstGeom>
          <a:noFill/>
          <a:ln/>
        </p:spPr>
        <p:txBody>
          <a:bodyPr wrap="square" lIns="0" tIns="0" rIns="0" bIns="0" rtlCol="0" anchor="ctr"/>
          <a:lstStyle/>
          <a:p>
            <a:pPr marL="0" indent="0">
              <a:buNone/>
            </a:pPr>
            <a:r>
              <a:rPr lang="en-US" sz="1000" b="1" dirty="0">
                <a:solidFill>
                  <a:srgbClr val="D98A1F"/>
                </a:solidFill>
                <a:latin typeface="Calibri" pitchFamily="34" charset="0"/>
                <a:ea typeface="Calibri" pitchFamily="34" charset="-122"/>
                <a:cs typeface="Calibri" pitchFamily="34" charset="-120"/>
              </a:rPr>
              <a:t>86</a:t>
            </a:r>
            <a:endParaRPr lang="en-US" sz="1000" dirty="0"/>
          </a:p>
        </p:txBody>
      </p:sp>
      <p:sp>
        <p:nvSpPr>
          <p:cNvPr id="52" name="Text 48"/>
          <p:cNvSpPr txBox="1"/>
          <p:nvPr/>
        </p:nvSpPr>
        <p:spPr>
          <a:xfrm>
            <a:off x="9564624" y="3127248"/>
            <a:ext cx="548640" cy="274320"/>
          </a:xfrm>
          <a:prstGeom prst="rect">
            <a:avLst/>
          </a:prstGeom>
          <a:noFill/>
          <a:ln/>
        </p:spPr>
        <p:txBody>
          <a:bodyPr wrap="square" lIns="0" tIns="0" rIns="0" bIns="0" rtlCol="0" anchor="ctr"/>
          <a:lstStyle/>
          <a:p>
            <a:pPr marL="0" indent="0">
              <a:buNone/>
            </a:pPr>
            <a:r>
              <a:rPr lang="en-US" sz="900" dirty="0">
                <a:solidFill>
                  <a:srgbClr val="6D8589"/>
                </a:solidFill>
                <a:latin typeface="Calibri" pitchFamily="34" charset="0"/>
                <a:ea typeface="Calibri" pitchFamily="34" charset="-122"/>
                <a:cs typeface="Calibri" pitchFamily="34" charset="-120"/>
              </a:rPr>
              <a:t>—</a:t>
            </a:r>
            <a:endParaRPr lang="en-US" sz="900" dirty="0"/>
          </a:p>
        </p:txBody>
      </p:sp>
      <p:sp>
        <p:nvSpPr>
          <p:cNvPr id="53" name="Shape 49"/>
          <p:cNvSpPr/>
          <p:nvPr/>
        </p:nvSpPr>
        <p:spPr>
          <a:xfrm>
            <a:off x="10424160" y="3154680"/>
            <a:ext cx="676656" cy="237744"/>
          </a:xfrm>
          <a:prstGeom prst="roundRect">
            <a:avLst>
              <a:gd name="adj" fmla="val 23077"/>
            </a:avLst>
          </a:prstGeom>
          <a:solidFill>
            <a:srgbClr val="0F7C8A"/>
          </a:solidFill>
          <a:ln/>
        </p:spPr>
      </p:sp>
      <p:sp>
        <p:nvSpPr>
          <p:cNvPr id="54" name="Text 50"/>
          <p:cNvSpPr txBox="1"/>
          <p:nvPr/>
        </p:nvSpPr>
        <p:spPr>
          <a:xfrm>
            <a:off x="10424160" y="3154680"/>
            <a:ext cx="676656" cy="237744"/>
          </a:xfrm>
          <a:prstGeom prst="rect">
            <a:avLst/>
          </a:prstGeom>
          <a:noFill/>
          <a:ln/>
        </p:spPr>
        <p:txBody>
          <a:bodyPr wrap="square" lIns="0" tIns="0" rIns="0" bIns="0"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Pick up</a:t>
            </a:r>
            <a:endParaRPr lang="en-US" sz="780" dirty="0"/>
          </a:p>
        </p:txBody>
      </p:sp>
      <p:sp>
        <p:nvSpPr>
          <p:cNvPr id="55" name="Text 51"/>
          <p:cNvSpPr txBox="1"/>
          <p:nvPr/>
        </p:nvSpPr>
        <p:spPr>
          <a:xfrm>
            <a:off x="6437376" y="3529584"/>
            <a:ext cx="2286000" cy="274320"/>
          </a:xfrm>
          <a:prstGeom prst="rect">
            <a:avLst/>
          </a:prstGeom>
          <a:noFill/>
          <a:ln/>
        </p:spPr>
        <p:txBody>
          <a:bodyPr wrap="square" lIns="0" tIns="0" rIns="0" bIns="0" rtlCol="0" anchor="ctr"/>
          <a:lstStyle/>
          <a:p>
            <a:pPr marL="0" indent="0">
              <a:buNone/>
            </a:pPr>
            <a:r>
              <a:rPr lang="en-US" sz="860" b="1" dirty="0">
                <a:solidFill>
                  <a:srgbClr val="0B1F22"/>
                </a:solidFill>
                <a:latin typeface="Calibri" pitchFamily="34" charset="0"/>
                <a:ea typeface="Calibri" pitchFamily="34" charset="-122"/>
                <a:cs typeface="Calibri" pitchFamily="34" charset="-120"/>
              </a:rPr>
              <a:t>Supply runs brown every morning</a:t>
            </a:r>
            <a:endParaRPr lang="en-US" sz="860" dirty="0"/>
          </a:p>
        </p:txBody>
      </p:sp>
      <p:sp>
        <p:nvSpPr>
          <p:cNvPr id="56" name="Text 52"/>
          <p:cNvSpPr txBox="1"/>
          <p:nvPr/>
        </p:nvSpPr>
        <p:spPr>
          <a:xfrm>
            <a:off x="8814816" y="3529584"/>
            <a:ext cx="548640" cy="274320"/>
          </a:xfrm>
          <a:prstGeom prst="rect">
            <a:avLst/>
          </a:prstGeom>
          <a:noFill/>
          <a:ln/>
        </p:spPr>
        <p:txBody>
          <a:bodyPr wrap="square" lIns="0" tIns="0" rIns="0" bIns="0" rtlCol="0" anchor="ctr"/>
          <a:lstStyle/>
          <a:p>
            <a:pPr marL="0" indent="0">
              <a:buNone/>
            </a:pPr>
            <a:r>
              <a:rPr lang="en-US" sz="1000" b="1" dirty="0">
                <a:solidFill>
                  <a:srgbClr val="D98A1F"/>
                </a:solidFill>
                <a:latin typeface="Calibri" pitchFamily="34" charset="0"/>
                <a:ea typeface="Calibri" pitchFamily="34" charset="-122"/>
                <a:cs typeface="Calibri" pitchFamily="34" charset="-120"/>
              </a:rPr>
              <a:t>52</a:t>
            </a:r>
            <a:endParaRPr lang="en-US" sz="1000" dirty="0"/>
          </a:p>
        </p:txBody>
      </p:sp>
      <p:sp>
        <p:nvSpPr>
          <p:cNvPr id="57" name="Text 53"/>
          <p:cNvSpPr txBox="1"/>
          <p:nvPr/>
        </p:nvSpPr>
        <p:spPr>
          <a:xfrm>
            <a:off x="9564624" y="3529584"/>
            <a:ext cx="548640" cy="274320"/>
          </a:xfrm>
          <a:prstGeom prst="rect">
            <a:avLst/>
          </a:prstGeom>
          <a:noFill/>
          <a:ln/>
        </p:spPr>
        <p:txBody>
          <a:bodyPr wrap="square" lIns="0" tIns="0" rIns="0" bIns="0" rtlCol="0" anchor="ctr"/>
          <a:lstStyle/>
          <a:p>
            <a:pPr marL="0" indent="0">
              <a:buNone/>
            </a:pPr>
            <a:r>
              <a:rPr lang="en-US" sz="900" dirty="0">
                <a:solidFill>
                  <a:srgbClr val="6D8589"/>
                </a:solidFill>
                <a:latin typeface="Calibri" pitchFamily="34" charset="0"/>
                <a:ea typeface="Calibri" pitchFamily="34" charset="-122"/>
                <a:cs typeface="Calibri" pitchFamily="34" charset="-120"/>
              </a:rPr>
              <a:t>—</a:t>
            </a:r>
            <a:endParaRPr lang="en-US" sz="900" dirty="0"/>
          </a:p>
        </p:txBody>
      </p:sp>
      <p:sp>
        <p:nvSpPr>
          <p:cNvPr id="58" name="Shape 54"/>
          <p:cNvSpPr/>
          <p:nvPr/>
        </p:nvSpPr>
        <p:spPr>
          <a:xfrm>
            <a:off x="10424160" y="3557016"/>
            <a:ext cx="676656" cy="237744"/>
          </a:xfrm>
          <a:prstGeom prst="roundRect">
            <a:avLst>
              <a:gd name="adj" fmla="val 23077"/>
            </a:avLst>
          </a:prstGeom>
          <a:solidFill>
            <a:srgbClr val="0F7C8A"/>
          </a:solidFill>
          <a:ln/>
        </p:spPr>
      </p:sp>
      <p:sp>
        <p:nvSpPr>
          <p:cNvPr id="59" name="Text 55"/>
          <p:cNvSpPr txBox="1"/>
          <p:nvPr/>
        </p:nvSpPr>
        <p:spPr>
          <a:xfrm>
            <a:off x="10424160" y="3557016"/>
            <a:ext cx="676656" cy="237744"/>
          </a:xfrm>
          <a:prstGeom prst="rect">
            <a:avLst/>
          </a:prstGeom>
          <a:noFill/>
          <a:ln/>
        </p:spPr>
        <p:txBody>
          <a:bodyPr wrap="square" lIns="0" tIns="0" rIns="0" bIns="0"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Pick up</a:t>
            </a:r>
            <a:endParaRPr lang="en-US" sz="780" dirty="0"/>
          </a:p>
        </p:txBody>
      </p:sp>
      <p:sp>
        <p:nvSpPr>
          <p:cNvPr id="60" name="Text 56"/>
          <p:cNvSpPr txBox="1"/>
          <p:nvPr/>
        </p:nvSpPr>
        <p:spPr>
          <a:xfrm>
            <a:off x="6437376" y="3931920"/>
            <a:ext cx="2286000" cy="274320"/>
          </a:xfrm>
          <a:prstGeom prst="rect">
            <a:avLst/>
          </a:prstGeom>
          <a:noFill/>
          <a:ln/>
        </p:spPr>
        <p:txBody>
          <a:bodyPr wrap="square" lIns="0" tIns="0" rIns="0" bIns="0" rtlCol="0" anchor="ctr"/>
          <a:lstStyle/>
          <a:p>
            <a:pPr marL="0" indent="0">
              <a:buNone/>
            </a:pPr>
            <a:r>
              <a:rPr lang="en-US" sz="860" b="1" dirty="0">
                <a:solidFill>
                  <a:srgbClr val="0B1F22"/>
                </a:solidFill>
                <a:latin typeface="Calibri" pitchFamily="34" charset="0"/>
                <a:ea typeface="Calibri" pitchFamily="34" charset="-122"/>
                <a:cs typeface="Calibri" pitchFamily="34" charset="-120"/>
              </a:rPr>
              <a:t>Transformer sparks every evening</a:t>
            </a:r>
            <a:endParaRPr lang="en-US" sz="860" dirty="0"/>
          </a:p>
        </p:txBody>
      </p:sp>
      <p:sp>
        <p:nvSpPr>
          <p:cNvPr id="61" name="Text 57"/>
          <p:cNvSpPr txBox="1"/>
          <p:nvPr/>
        </p:nvSpPr>
        <p:spPr>
          <a:xfrm>
            <a:off x="8814816" y="3931920"/>
            <a:ext cx="548640" cy="274320"/>
          </a:xfrm>
          <a:prstGeom prst="rect">
            <a:avLst/>
          </a:prstGeom>
          <a:noFill/>
          <a:ln/>
        </p:spPr>
        <p:txBody>
          <a:bodyPr wrap="square" lIns="0" tIns="0" rIns="0" bIns="0" rtlCol="0" anchor="ctr"/>
          <a:lstStyle/>
          <a:p>
            <a:pPr marL="0" indent="0">
              <a:buNone/>
            </a:pPr>
            <a:r>
              <a:rPr lang="en-US" sz="1000" b="1" dirty="0">
                <a:solidFill>
                  <a:srgbClr val="D98A1F"/>
                </a:solidFill>
                <a:latin typeface="Calibri" pitchFamily="34" charset="0"/>
                <a:ea typeface="Calibri" pitchFamily="34" charset="-122"/>
                <a:cs typeface="Calibri" pitchFamily="34" charset="-120"/>
              </a:rPr>
              <a:t>47</a:t>
            </a:r>
            <a:endParaRPr lang="en-US" sz="1000" dirty="0"/>
          </a:p>
        </p:txBody>
      </p:sp>
      <p:sp>
        <p:nvSpPr>
          <p:cNvPr id="62" name="Text 58"/>
          <p:cNvSpPr txBox="1"/>
          <p:nvPr/>
        </p:nvSpPr>
        <p:spPr>
          <a:xfrm>
            <a:off x="9564624" y="3931920"/>
            <a:ext cx="548640" cy="274320"/>
          </a:xfrm>
          <a:prstGeom prst="rect">
            <a:avLst/>
          </a:prstGeom>
          <a:noFill/>
          <a:ln/>
        </p:spPr>
        <p:txBody>
          <a:bodyPr wrap="square" lIns="0" tIns="0" rIns="0" bIns="0" rtlCol="0" anchor="ctr"/>
          <a:lstStyle/>
          <a:p>
            <a:pPr marL="0" indent="0">
              <a:buNone/>
            </a:pPr>
            <a:r>
              <a:rPr lang="en-US" sz="900" dirty="0">
                <a:solidFill>
                  <a:srgbClr val="6D8589"/>
                </a:solidFill>
                <a:latin typeface="Calibri" pitchFamily="34" charset="0"/>
                <a:ea typeface="Calibri" pitchFamily="34" charset="-122"/>
                <a:cs typeface="Calibri" pitchFamily="34" charset="-120"/>
              </a:rPr>
              <a:t>—</a:t>
            </a:r>
            <a:endParaRPr lang="en-US" sz="900" dirty="0"/>
          </a:p>
        </p:txBody>
      </p:sp>
      <p:sp>
        <p:nvSpPr>
          <p:cNvPr id="63" name="Shape 59"/>
          <p:cNvSpPr/>
          <p:nvPr/>
        </p:nvSpPr>
        <p:spPr>
          <a:xfrm>
            <a:off x="10424160" y="3959352"/>
            <a:ext cx="676656" cy="237744"/>
          </a:xfrm>
          <a:prstGeom prst="roundRect">
            <a:avLst>
              <a:gd name="adj" fmla="val 23077"/>
            </a:avLst>
          </a:prstGeom>
          <a:solidFill>
            <a:srgbClr val="0F7C8A"/>
          </a:solidFill>
          <a:ln/>
        </p:spPr>
      </p:sp>
      <p:sp>
        <p:nvSpPr>
          <p:cNvPr id="64" name="Text 60"/>
          <p:cNvSpPr txBox="1"/>
          <p:nvPr/>
        </p:nvSpPr>
        <p:spPr>
          <a:xfrm>
            <a:off x="10424160" y="3959352"/>
            <a:ext cx="676656" cy="237744"/>
          </a:xfrm>
          <a:prstGeom prst="rect">
            <a:avLst/>
          </a:prstGeom>
          <a:noFill/>
          <a:ln/>
        </p:spPr>
        <p:txBody>
          <a:bodyPr wrap="square" lIns="0" tIns="0" rIns="0" bIns="0"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Pick up</a:t>
            </a:r>
            <a:endParaRPr lang="en-US" sz="780" dirty="0"/>
          </a:p>
        </p:txBody>
      </p:sp>
      <p:sp>
        <p:nvSpPr>
          <p:cNvPr id="65" name="Shape 61"/>
          <p:cNvSpPr/>
          <p:nvPr/>
        </p:nvSpPr>
        <p:spPr>
          <a:xfrm>
            <a:off x="6309360" y="4535424"/>
            <a:ext cx="5315407" cy="1042416"/>
          </a:xfrm>
          <a:prstGeom prst="roundRect">
            <a:avLst>
              <a:gd name="adj" fmla="val 8772"/>
            </a:avLst>
          </a:prstGeom>
          <a:solidFill>
            <a:srgbClr val="EDF4F4"/>
          </a:solidFill>
          <a:ln w="12700">
            <a:solidFill>
              <a:srgbClr val="D5E3E4"/>
            </a:solidFill>
            <a:prstDash val="solid"/>
          </a:ln>
        </p:spPr>
      </p:sp>
      <p:sp>
        <p:nvSpPr>
          <p:cNvPr id="66" name="Text 62"/>
          <p:cNvSpPr txBox="1"/>
          <p:nvPr/>
        </p:nvSpPr>
        <p:spPr>
          <a:xfrm>
            <a:off x="6510528" y="4626864"/>
            <a:ext cx="4913071" cy="877824"/>
          </a:xfrm>
          <a:prstGeom prst="rect">
            <a:avLst/>
          </a:prstGeom>
          <a:noFill/>
          <a:ln/>
        </p:spPr>
        <p:txBody>
          <a:bodyPr wrap="square" lIns="0" tIns="0" rIns="0" bIns="0" rtlCol="0" anchor="ctr"/>
          <a:lstStyle/>
          <a:p>
            <a:pPr marL="0" indent="0">
              <a:lnSpc>
                <a:spcPct val="114000"/>
              </a:lnSpc>
              <a:buNone/>
            </a:pPr>
            <a:r>
              <a:rPr lang="en-US" sz="960" b="1" dirty="0">
                <a:solidFill>
                  <a:srgbClr val="0B1F22"/>
                </a:solidFill>
                <a:latin typeface="Calibri" pitchFamily="34" charset="0"/>
                <a:ea typeface="Calibri" pitchFamily="34" charset="-122"/>
                <a:cs typeface="Calibri" pitchFamily="34" charset="-120"/>
              </a:rPr>
              <a:t>Also implemented  </a:t>
            </a:r>
            <a:r>
              <a:rPr lang="en-US" sz="960" dirty="0">
                <a:solidFill>
                  <a:srgbClr val="3D5559"/>
                </a:solidFill>
                <a:latin typeface="Calibri" pitchFamily="34" charset="0"/>
                <a:ea typeface="Calibri" pitchFamily="34" charset="-122"/>
                <a:cs typeface="Calibri" pitchFamily="34" charset="-120"/>
              </a:rPr>
              <a:t>light and dark themes on a shared token set, a nine-step type scale, keyboard focus states, responsive layouts down to phone width, and two zero-install HTML previews that run the real stylesheets with no server.</a:t>
            </a:r>
            <a:endParaRPr lang="en-US" sz="960" dirty="0"/>
          </a:p>
        </p:txBody>
      </p:sp>
      <p:graphicFrame>
        <p:nvGraphicFramePr>
          <p:cNvPr id="67" name="Chart 0"/>
          <p:cNvGraphicFramePr/>
          <p:nvPr/>
        </p:nvGraphicFramePr>
        <p:xfrm>
          <a:off x="566928" y="4517136"/>
          <a:ext cx="5394960" cy="1389888"/>
        </p:xfrm>
        <a:graphic>
          <a:graphicData uri="http://schemas.openxmlformats.org/drawingml/2006/chart">
            <c:chart xmlns:c="http://schemas.openxmlformats.org/drawingml/2006/chart" xmlns:r="http://schemas.openxmlformats.org/officeDocument/2006/relationships" r:id="rId5"/>
          </a:graphicData>
        </a:graphic>
      </p:graphicFrame>
      <p:sp>
        <p:nvSpPr>
          <p:cNvPr id="68" name="Text 63"/>
          <p:cNvSpPr txBox="1"/>
          <p:nvPr/>
        </p:nvSpPr>
        <p:spPr>
          <a:xfrm>
            <a:off x="6309360" y="5687568"/>
            <a:ext cx="5315407" cy="402336"/>
          </a:xfrm>
          <a:prstGeom prst="rect">
            <a:avLst/>
          </a:prstGeom>
          <a:noFill/>
          <a:ln/>
        </p:spPr>
        <p:txBody>
          <a:bodyPr wrap="square" lIns="0" tIns="0" rIns="0" bIns="0" rtlCol="0" anchor="ctr"/>
          <a:lstStyle/>
          <a:p>
            <a:pPr marL="0" indent="0">
              <a:lnSpc>
                <a:spcPct val="110000"/>
              </a:lnSpc>
              <a:buNone/>
            </a:pPr>
            <a:r>
              <a:rPr lang="en-US" sz="880" i="1" dirty="0">
                <a:solidFill>
                  <a:srgbClr val="6D8589"/>
                </a:solidFill>
                <a:latin typeface="Calibri" pitchFamily="34" charset="0"/>
                <a:ea typeface="Calibri" pitchFamily="34" charset="-122"/>
                <a:cs typeface="Calibri" pitchFamily="34" charset="-120"/>
              </a:rPr>
              <a:t>Both panels are drawn to the project’s own tokens rather than photographed — replace them with live screenshots before the viva.</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Advantages</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What the design buys, and the evidence for each.</a:t>
            </a:r>
            <a:endParaRPr lang="en-US" sz="1350" dirty="0"/>
          </a:p>
        </p:txBody>
      </p:sp>
      <p:sp>
        <p:nvSpPr>
          <p:cNvPr id="4" name="Shape 2"/>
          <p:cNvSpPr/>
          <p:nvPr/>
        </p:nvSpPr>
        <p:spPr>
          <a:xfrm>
            <a:off x="566928" y="1645920"/>
            <a:ext cx="5327752" cy="1188720"/>
          </a:xfrm>
          <a:prstGeom prst="roundRect">
            <a:avLst>
              <a:gd name="adj" fmla="val 7692"/>
            </a:avLst>
          </a:prstGeom>
          <a:solidFill>
            <a:srgbClr val="EDF4F4"/>
          </a:solidFill>
          <a:ln w="12700">
            <a:solidFill>
              <a:srgbClr val="D5E3E4"/>
            </a:solidFill>
            <a:prstDash val="solid"/>
          </a:ln>
        </p:spPr>
      </p:sp>
      <p:sp>
        <p:nvSpPr>
          <p:cNvPr id="5" name="Shape 3"/>
          <p:cNvSpPr/>
          <p:nvPr/>
        </p:nvSpPr>
        <p:spPr>
          <a:xfrm>
            <a:off x="804672" y="1883664"/>
            <a:ext cx="420624" cy="420624"/>
          </a:xfrm>
          <a:prstGeom prst="ellipse">
            <a:avLst/>
          </a:prstGeom>
          <a:solidFill>
            <a:srgbClr val="D98A1F"/>
          </a:solidFill>
          <a:ln/>
        </p:spPr>
      </p:sp>
      <p:pic>
        <p:nvPicPr>
          <p:cNvPr id="6" name="Image 0" descr="preencoded.png"/>
          <p:cNvPicPr>
            <a:picLocks noChangeAspect="1"/>
          </p:cNvPicPr>
          <p:nvPr/>
        </p:nvPicPr>
        <p:blipFill>
          <a:blip r:embed="rId3"/>
          <a:stretch>
            <a:fillRect/>
          </a:stretch>
        </p:blipFill>
        <p:spPr>
          <a:xfrm>
            <a:off x="903519" y="1982511"/>
            <a:ext cx="222931" cy="222931"/>
          </a:xfrm>
          <a:prstGeom prst="rect">
            <a:avLst/>
          </a:prstGeom>
        </p:spPr>
      </p:pic>
      <p:sp>
        <p:nvSpPr>
          <p:cNvPr id="7" name="Text 4"/>
          <p:cNvSpPr txBox="1"/>
          <p:nvPr/>
        </p:nvSpPr>
        <p:spPr>
          <a:xfrm>
            <a:off x="1353312" y="1856232"/>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Completion is verified, not asserted</a:t>
            </a:r>
            <a:endParaRPr lang="en-US" sz="1300" dirty="0"/>
          </a:p>
        </p:txBody>
      </p:sp>
      <p:sp>
        <p:nvSpPr>
          <p:cNvPr id="8" name="Text 5"/>
          <p:cNvSpPr txBox="1"/>
          <p:nvPr/>
        </p:nvSpPr>
        <p:spPr>
          <a:xfrm>
            <a:off x="804672" y="2395728"/>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The party that did the work cannot close the report alone. A completion figure therefore reflects repairs rather than paperwork.</a:t>
            </a:r>
            <a:endParaRPr lang="en-US" sz="1040" dirty="0"/>
          </a:p>
        </p:txBody>
      </p:sp>
      <p:sp>
        <p:nvSpPr>
          <p:cNvPr id="9" name="Shape 6"/>
          <p:cNvSpPr/>
          <p:nvPr/>
        </p:nvSpPr>
        <p:spPr>
          <a:xfrm>
            <a:off x="6297016" y="1645920"/>
            <a:ext cx="5327752" cy="1188720"/>
          </a:xfrm>
          <a:prstGeom prst="roundRect">
            <a:avLst>
              <a:gd name="adj" fmla="val 7692"/>
            </a:avLst>
          </a:prstGeom>
          <a:solidFill>
            <a:srgbClr val="FFFFFF"/>
          </a:solidFill>
          <a:ln w="12700">
            <a:solidFill>
              <a:srgbClr val="D5E3E4"/>
            </a:solidFill>
            <a:prstDash val="solid"/>
          </a:ln>
        </p:spPr>
      </p:sp>
      <p:sp>
        <p:nvSpPr>
          <p:cNvPr id="10" name="Shape 7"/>
          <p:cNvSpPr/>
          <p:nvPr/>
        </p:nvSpPr>
        <p:spPr>
          <a:xfrm>
            <a:off x="6534760" y="1883664"/>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6633606" y="1982511"/>
            <a:ext cx="222931" cy="222931"/>
          </a:xfrm>
          <a:prstGeom prst="rect">
            <a:avLst/>
          </a:prstGeom>
        </p:spPr>
      </p:pic>
      <p:sp>
        <p:nvSpPr>
          <p:cNvPr id="12" name="Text 8"/>
          <p:cNvSpPr txBox="1"/>
          <p:nvPr/>
        </p:nvSpPr>
        <p:spPr>
          <a:xfrm>
            <a:off x="7083400" y="1856232"/>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Security fails closed</a:t>
            </a:r>
            <a:endParaRPr lang="en-US" sz="1300" dirty="0"/>
          </a:p>
        </p:txBody>
      </p:sp>
      <p:sp>
        <p:nvSpPr>
          <p:cNvPr id="13" name="Text 9"/>
          <p:cNvSpPr txBox="1"/>
          <p:nvPr/>
        </p:nvSpPr>
        <p:spPr>
          <a:xfrm>
            <a:off x="6534760" y="2395728"/>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Access is default-deny: a new endpoint is unreachable until it is listed. Admin routes are checked in the filter chain and again in the service layer.</a:t>
            </a:r>
            <a:endParaRPr lang="en-US" sz="1040" dirty="0"/>
          </a:p>
        </p:txBody>
      </p:sp>
      <p:sp>
        <p:nvSpPr>
          <p:cNvPr id="14" name="Shape 10"/>
          <p:cNvSpPr/>
          <p:nvPr/>
        </p:nvSpPr>
        <p:spPr>
          <a:xfrm>
            <a:off x="566928" y="2962656"/>
            <a:ext cx="5327752" cy="1188720"/>
          </a:xfrm>
          <a:prstGeom prst="roundRect">
            <a:avLst>
              <a:gd name="adj" fmla="val 7692"/>
            </a:avLst>
          </a:prstGeom>
          <a:solidFill>
            <a:srgbClr val="EDF4F4"/>
          </a:solidFill>
          <a:ln w="12700">
            <a:solidFill>
              <a:srgbClr val="D5E3E4"/>
            </a:solidFill>
            <a:prstDash val="solid"/>
          </a:ln>
        </p:spPr>
      </p:sp>
      <p:sp>
        <p:nvSpPr>
          <p:cNvPr id="15" name="Shape 11"/>
          <p:cNvSpPr/>
          <p:nvPr/>
        </p:nvSpPr>
        <p:spPr>
          <a:xfrm>
            <a:off x="804672" y="3200400"/>
            <a:ext cx="420624" cy="420624"/>
          </a:xfrm>
          <a:prstGeom prst="ellipse">
            <a:avLst/>
          </a:prstGeom>
          <a:solidFill>
            <a:srgbClr val="0F7C8A"/>
          </a:solidFill>
          <a:ln/>
        </p:spPr>
      </p:sp>
      <p:pic>
        <p:nvPicPr>
          <p:cNvPr id="16" name="Image 2" descr="preencoded.png"/>
          <p:cNvPicPr>
            <a:picLocks noChangeAspect="1"/>
          </p:cNvPicPr>
          <p:nvPr/>
        </p:nvPicPr>
        <p:blipFill>
          <a:blip r:embed="rId5"/>
          <a:stretch>
            <a:fillRect/>
          </a:stretch>
        </p:blipFill>
        <p:spPr>
          <a:xfrm>
            <a:off x="903519" y="3299247"/>
            <a:ext cx="222931" cy="222931"/>
          </a:xfrm>
          <a:prstGeom prst="rect">
            <a:avLst/>
          </a:prstGeom>
        </p:spPr>
      </p:pic>
      <p:sp>
        <p:nvSpPr>
          <p:cNvPr id="17" name="Text 12"/>
          <p:cNvSpPr txBox="1"/>
          <p:nvPr/>
        </p:nvSpPr>
        <p:spPr>
          <a:xfrm>
            <a:off x="1353312" y="3172968"/>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Commitments are public</a:t>
            </a:r>
            <a:endParaRPr lang="en-US" sz="1300" dirty="0"/>
          </a:p>
        </p:txBody>
      </p:sp>
      <p:sp>
        <p:nvSpPr>
          <p:cNvPr id="18" name="Text 13"/>
          <p:cNvSpPr txBox="1"/>
          <p:nvPr/>
        </p:nvSpPr>
        <p:spPr>
          <a:xfrm>
            <a:off x="804672" y="3712464"/>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The promised date is published on the report itself, and a date that passes is counted on the dashboard as overdue rather than quietly forgotten.</a:t>
            </a:r>
            <a:endParaRPr lang="en-US" sz="1040" dirty="0"/>
          </a:p>
        </p:txBody>
      </p:sp>
      <p:sp>
        <p:nvSpPr>
          <p:cNvPr id="19" name="Shape 14"/>
          <p:cNvSpPr/>
          <p:nvPr/>
        </p:nvSpPr>
        <p:spPr>
          <a:xfrm>
            <a:off x="6297016" y="2962656"/>
            <a:ext cx="5327752" cy="1188720"/>
          </a:xfrm>
          <a:prstGeom prst="roundRect">
            <a:avLst>
              <a:gd name="adj" fmla="val 7692"/>
            </a:avLst>
          </a:prstGeom>
          <a:solidFill>
            <a:srgbClr val="FFFFFF"/>
          </a:solidFill>
          <a:ln w="12700">
            <a:solidFill>
              <a:srgbClr val="D5E3E4"/>
            </a:solidFill>
            <a:prstDash val="solid"/>
          </a:ln>
        </p:spPr>
      </p:sp>
      <p:sp>
        <p:nvSpPr>
          <p:cNvPr id="20" name="Shape 15"/>
          <p:cNvSpPr/>
          <p:nvPr/>
        </p:nvSpPr>
        <p:spPr>
          <a:xfrm>
            <a:off x="6534760" y="3200400"/>
            <a:ext cx="420624" cy="420624"/>
          </a:xfrm>
          <a:prstGeom prst="ellipse">
            <a:avLst/>
          </a:prstGeom>
          <a:solidFill>
            <a:srgbClr val="0F7C8A"/>
          </a:solidFill>
          <a:ln/>
        </p:spPr>
      </p:sp>
      <p:pic>
        <p:nvPicPr>
          <p:cNvPr id="21" name="Image 3" descr="preencoded.png"/>
          <p:cNvPicPr>
            <a:picLocks noChangeAspect="1"/>
          </p:cNvPicPr>
          <p:nvPr/>
        </p:nvPicPr>
        <p:blipFill>
          <a:blip r:embed="rId6"/>
          <a:stretch>
            <a:fillRect/>
          </a:stretch>
        </p:blipFill>
        <p:spPr>
          <a:xfrm>
            <a:off x="6633606" y="3299247"/>
            <a:ext cx="222931" cy="222931"/>
          </a:xfrm>
          <a:prstGeom prst="rect">
            <a:avLst/>
          </a:prstGeom>
        </p:spPr>
      </p:pic>
      <p:sp>
        <p:nvSpPr>
          <p:cNvPr id="22" name="Text 16"/>
          <p:cNvSpPr txBox="1"/>
          <p:nvPr/>
        </p:nvSpPr>
        <p:spPr>
          <a:xfrm>
            <a:off x="7083400" y="3172968"/>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No scheduler to operate</a:t>
            </a:r>
            <a:endParaRPr lang="en-US" sz="1300" dirty="0"/>
          </a:p>
        </p:txBody>
      </p:sp>
      <p:sp>
        <p:nvSpPr>
          <p:cNvPr id="23" name="Text 17"/>
          <p:cNvSpPr txBox="1"/>
          <p:nvPr/>
        </p:nvSpPr>
        <p:spPr>
          <a:xfrm>
            <a:off x="6534760" y="3712464"/>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Expired windows settle on the next read, throttled to one sweep every 30 seconds, so the rule holds with nothing extra running.</a:t>
            </a:r>
            <a:endParaRPr lang="en-US" sz="1040" dirty="0"/>
          </a:p>
        </p:txBody>
      </p:sp>
      <p:sp>
        <p:nvSpPr>
          <p:cNvPr id="24" name="Shape 18"/>
          <p:cNvSpPr/>
          <p:nvPr/>
        </p:nvSpPr>
        <p:spPr>
          <a:xfrm>
            <a:off x="566928" y="4279392"/>
            <a:ext cx="5327752" cy="1188720"/>
          </a:xfrm>
          <a:prstGeom prst="roundRect">
            <a:avLst>
              <a:gd name="adj" fmla="val 7692"/>
            </a:avLst>
          </a:prstGeom>
          <a:solidFill>
            <a:srgbClr val="EDF4F4"/>
          </a:solidFill>
          <a:ln w="12700">
            <a:solidFill>
              <a:srgbClr val="D5E3E4"/>
            </a:solidFill>
            <a:prstDash val="solid"/>
          </a:ln>
        </p:spPr>
      </p:sp>
      <p:sp>
        <p:nvSpPr>
          <p:cNvPr id="25" name="Shape 19"/>
          <p:cNvSpPr/>
          <p:nvPr/>
        </p:nvSpPr>
        <p:spPr>
          <a:xfrm>
            <a:off x="804672" y="4517136"/>
            <a:ext cx="420624" cy="420624"/>
          </a:xfrm>
          <a:prstGeom prst="ellipse">
            <a:avLst/>
          </a:prstGeom>
          <a:solidFill>
            <a:srgbClr val="0F7C8A"/>
          </a:solidFill>
          <a:ln/>
        </p:spPr>
      </p:sp>
      <p:pic>
        <p:nvPicPr>
          <p:cNvPr id="26" name="Image 4" descr="preencoded.png"/>
          <p:cNvPicPr>
            <a:picLocks noChangeAspect="1"/>
          </p:cNvPicPr>
          <p:nvPr/>
        </p:nvPicPr>
        <p:blipFill>
          <a:blip r:embed="rId7"/>
          <a:stretch>
            <a:fillRect/>
          </a:stretch>
        </p:blipFill>
        <p:spPr>
          <a:xfrm>
            <a:off x="903519" y="4615983"/>
            <a:ext cx="222931" cy="222931"/>
          </a:xfrm>
          <a:prstGeom prst="rect">
            <a:avLst/>
          </a:prstGeom>
        </p:spPr>
      </p:pic>
      <p:sp>
        <p:nvSpPr>
          <p:cNvPr id="27" name="Text 20"/>
          <p:cNvSpPr txBox="1"/>
          <p:nvPr/>
        </p:nvSpPr>
        <p:spPr>
          <a:xfrm>
            <a:off x="1353312" y="4489704"/>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Only the affected decide</a:t>
            </a:r>
            <a:endParaRPr lang="en-US" sz="1300" dirty="0"/>
          </a:p>
        </p:txBody>
      </p:sp>
      <p:sp>
        <p:nvSpPr>
          <p:cNvPr id="28" name="Text 21"/>
          <p:cNvSpPr txBox="1"/>
          <p:nvPr/>
        </p:nvSpPr>
        <p:spPr>
          <a:xfrm>
            <a:off x="804672" y="5029200"/>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Verification is limited to accounts holding a backing, checked against the vote table at the moment of answering - so a passer-by cannot settle a street they do not live on.</a:t>
            </a:r>
            <a:endParaRPr lang="en-US" sz="1040" dirty="0"/>
          </a:p>
        </p:txBody>
      </p:sp>
      <p:sp>
        <p:nvSpPr>
          <p:cNvPr id="29" name="Shape 22"/>
          <p:cNvSpPr/>
          <p:nvPr/>
        </p:nvSpPr>
        <p:spPr>
          <a:xfrm>
            <a:off x="6297016" y="4279392"/>
            <a:ext cx="5327752" cy="1188720"/>
          </a:xfrm>
          <a:prstGeom prst="roundRect">
            <a:avLst>
              <a:gd name="adj" fmla="val 7692"/>
            </a:avLst>
          </a:prstGeom>
          <a:solidFill>
            <a:srgbClr val="FFFFFF"/>
          </a:solidFill>
          <a:ln w="12700">
            <a:solidFill>
              <a:srgbClr val="D5E3E4"/>
            </a:solidFill>
            <a:prstDash val="solid"/>
          </a:ln>
        </p:spPr>
      </p:sp>
      <p:sp>
        <p:nvSpPr>
          <p:cNvPr id="30" name="Shape 23"/>
          <p:cNvSpPr/>
          <p:nvPr/>
        </p:nvSpPr>
        <p:spPr>
          <a:xfrm>
            <a:off x="6534760" y="4517136"/>
            <a:ext cx="420624" cy="420624"/>
          </a:xfrm>
          <a:prstGeom prst="ellipse">
            <a:avLst/>
          </a:prstGeom>
          <a:solidFill>
            <a:srgbClr val="0F7C8A"/>
          </a:solidFill>
          <a:ln/>
        </p:spPr>
      </p:sp>
      <p:pic>
        <p:nvPicPr>
          <p:cNvPr id="31" name="Image 5" descr="preencoded.png"/>
          <p:cNvPicPr>
            <a:picLocks noChangeAspect="1"/>
          </p:cNvPicPr>
          <p:nvPr/>
        </p:nvPicPr>
        <p:blipFill>
          <a:blip r:embed="rId8"/>
          <a:stretch>
            <a:fillRect/>
          </a:stretch>
        </p:blipFill>
        <p:spPr>
          <a:xfrm>
            <a:off x="6633606" y="4615983"/>
            <a:ext cx="222931" cy="222931"/>
          </a:xfrm>
          <a:prstGeom prst="rect">
            <a:avLst/>
          </a:prstGeom>
        </p:spPr>
      </p:pic>
      <p:sp>
        <p:nvSpPr>
          <p:cNvPr id="32" name="Text 24"/>
          <p:cNvSpPr txBox="1"/>
          <p:nvPr/>
        </p:nvSpPr>
        <p:spPr>
          <a:xfrm>
            <a:off x="7083400" y="4489704"/>
            <a:ext cx="4303624" cy="457200"/>
          </a:xfrm>
          <a:prstGeom prst="rect">
            <a:avLst/>
          </a:prstGeom>
          <a:noFill/>
          <a:ln/>
        </p:spPr>
        <p:txBody>
          <a:bodyPr wrap="square" lIns="0" tIns="0" rIns="0" bIns="0" rtlCol="0" anchor="ctr"/>
          <a:lstStyle/>
          <a:p>
            <a:pPr marL="0" indent="0">
              <a:buNone/>
            </a:pPr>
            <a:r>
              <a:rPr lang="en-US" sz="1300" b="1" dirty="0">
                <a:solidFill>
                  <a:srgbClr val="0B1F22"/>
                </a:solidFill>
                <a:latin typeface="Cambria" pitchFamily="34" charset="0"/>
                <a:ea typeface="Cambria" pitchFamily="34" charset="-122"/>
                <a:cs typeface="Cambria" pitchFamily="34" charset="-120"/>
              </a:rPr>
              <a:t>Two interfaces, one language</a:t>
            </a:r>
            <a:endParaRPr lang="en-US" sz="1300" dirty="0"/>
          </a:p>
        </p:txBody>
      </p:sp>
      <p:sp>
        <p:nvSpPr>
          <p:cNvPr id="33" name="Text 25"/>
          <p:cNvSpPr txBox="1"/>
          <p:nvPr/>
        </p:nvSpPr>
        <p:spPr>
          <a:xfrm>
            <a:off x="6534760" y="5029200"/>
            <a:ext cx="4852264" cy="201168"/>
          </a:xfrm>
          <a:prstGeom prst="rect">
            <a:avLst/>
          </a:prstGeom>
          <a:noFill/>
          <a:ln/>
        </p:spPr>
        <p:txBody>
          <a:bodyPr wrap="square" lIns="0" tIns="0" rIns="0" bIns="0" rtlCol="0" anchor="t"/>
          <a:lstStyle/>
          <a:p>
            <a:pPr marL="0" indent="0">
              <a:lnSpc>
                <a:spcPct val="116000"/>
              </a:lnSpc>
              <a:buNone/>
            </a:pPr>
            <a:r>
              <a:rPr lang="en-US" sz="1040" dirty="0">
                <a:solidFill>
                  <a:srgbClr val="3D5559"/>
                </a:solidFill>
                <a:latin typeface="Calibri" pitchFamily="34" charset="0"/>
                <a:ea typeface="Calibri" pitchFamily="34" charset="-122"/>
                <a:cs typeface="Calibri" pitchFamily="34" charset="-120"/>
              </a:rPr>
              <a:t>Board and dashboard share a token set, so they look related while behaving differently - a feed for reading, a worklist for clearing.</a:t>
            </a:r>
            <a:endParaRPr lang="en-US" sz="10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0B1F22"/>
                </a:solidFill>
                <a:latin typeface="Cambria" pitchFamily="34" charset="0"/>
                <a:ea typeface="Cambria" pitchFamily="34" charset="-122"/>
                <a:cs typeface="Cambria" pitchFamily="34" charset="-120"/>
              </a:rPr>
              <a:t>Future scope</a:t>
            </a:r>
            <a:endParaRPr lang="en-US" sz="3400" dirty="0"/>
          </a:p>
        </p:txBody>
      </p:sp>
      <p:sp>
        <p:nvSpPr>
          <p:cNvPr id="3" name="Text 1"/>
          <p:cNvSpPr txBox="1"/>
          <p:nvPr/>
        </p:nvSpPr>
        <p:spPr>
          <a:xfrm>
            <a:off x="566928" y="1088136"/>
            <a:ext cx="11057839" cy="310896"/>
          </a:xfrm>
          <a:prstGeom prst="rect">
            <a:avLst/>
          </a:prstGeom>
          <a:noFill/>
          <a:ln/>
        </p:spPr>
        <p:txBody>
          <a:bodyPr wrap="square" lIns="0" tIns="0" rIns="0" bIns="0" rtlCol="0" anchor="ctr"/>
          <a:lstStyle/>
          <a:p>
            <a:pPr marL="0" indent="0">
              <a:buNone/>
            </a:pPr>
            <a:r>
              <a:rPr lang="en-US" sz="1350" i="1" dirty="0">
                <a:solidFill>
                  <a:srgbClr val="6D8589"/>
                </a:solidFill>
                <a:latin typeface="Calibri" pitchFamily="34" charset="0"/>
                <a:ea typeface="Calibri" pitchFamily="34" charset="-122"/>
                <a:cs typeface="Calibri" pitchFamily="34" charset="-120"/>
              </a:rPr>
              <a:t>Not built in this version — listed honestly, with why each one matters.</a:t>
            </a:r>
            <a:endParaRPr lang="en-US" sz="1350" dirty="0"/>
          </a:p>
        </p:txBody>
      </p:sp>
      <p:sp>
        <p:nvSpPr>
          <p:cNvPr id="4" name="Shape 2"/>
          <p:cNvSpPr/>
          <p:nvPr/>
        </p:nvSpPr>
        <p:spPr>
          <a:xfrm>
            <a:off x="566928" y="1682496"/>
            <a:ext cx="3533546" cy="1737360"/>
          </a:xfrm>
          <a:prstGeom prst="roundRect">
            <a:avLst>
              <a:gd name="adj" fmla="val 5263"/>
            </a:avLst>
          </a:prstGeom>
          <a:solidFill>
            <a:srgbClr val="FFFFFF"/>
          </a:solidFill>
          <a:ln w="12700">
            <a:solidFill>
              <a:srgbClr val="D5E3E4"/>
            </a:solidFill>
            <a:prstDash val="solid"/>
          </a:ln>
        </p:spPr>
      </p:sp>
      <p:sp>
        <p:nvSpPr>
          <p:cNvPr id="5" name="Shape 3"/>
          <p:cNvSpPr/>
          <p:nvPr/>
        </p:nvSpPr>
        <p:spPr>
          <a:xfrm>
            <a:off x="804672" y="1920240"/>
            <a:ext cx="420624" cy="420624"/>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03519" y="2019087"/>
            <a:ext cx="222931" cy="222931"/>
          </a:xfrm>
          <a:prstGeom prst="rect">
            <a:avLst/>
          </a:prstGeom>
        </p:spPr>
      </p:pic>
      <p:sp>
        <p:nvSpPr>
          <p:cNvPr id="7" name="Text 4"/>
          <p:cNvSpPr txBox="1"/>
          <p:nvPr/>
        </p:nvSpPr>
        <p:spPr>
          <a:xfrm>
            <a:off x="1353312" y="1892808"/>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Notifications</a:t>
            </a:r>
            <a:endParaRPr lang="en-US" sz="1350" dirty="0"/>
          </a:p>
        </p:txBody>
      </p:sp>
      <p:sp>
        <p:nvSpPr>
          <p:cNvPr id="8" name="Text 5"/>
          <p:cNvSpPr txBox="1"/>
          <p:nvPr/>
        </p:nvSpPr>
        <p:spPr>
          <a:xfrm>
            <a:off x="804672" y="2432304"/>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Email or SMS when a report you back is picked up, scheduled, or enters its verification window. Today a resident has to come back and look.</a:t>
            </a:r>
            <a:endParaRPr lang="en-US" sz="1080" dirty="0"/>
          </a:p>
        </p:txBody>
      </p:sp>
      <p:sp>
        <p:nvSpPr>
          <p:cNvPr id="9" name="Shape 6"/>
          <p:cNvSpPr/>
          <p:nvPr/>
        </p:nvSpPr>
        <p:spPr>
          <a:xfrm>
            <a:off x="4329074" y="1682496"/>
            <a:ext cx="3533546" cy="1737360"/>
          </a:xfrm>
          <a:prstGeom prst="roundRect">
            <a:avLst>
              <a:gd name="adj" fmla="val 5263"/>
            </a:avLst>
          </a:prstGeom>
          <a:solidFill>
            <a:srgbClr val="FFFFFF"/>
          </a:solidFill>
          <a:ln w="12700">
            <a:solidFill>
              <a:srgbClr val="D5E3E4"/>
            </a:solidFill>
            <a:prstDash val="solid"/>
          </a:ln>
        </p:spPr>
      </p:sp>
      <p:sp>
        <p:nvSpPr>
          <p:cNvPr id="10" name="Shape 7"/>
          <p:cNvSpPr/>
          <p:nvPr/>
        </p:nvSpPr>
        <p:spPr>
          <a:xfrm>
            <a:off x="4566818" y="1920240"/>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4665665" y="2019087"/>
            <a:ext cx="222931" cy="222931"/>
          </a:xfrm>
          <a:prstGeom prst="rect">
            <a:avLst/>
          </a:prstGeom>
        </p:spPr>
      </p:pic>
      <p:sp>
        <p:nvSpPr>
          <p:cNvPr id="12" name="Text 8"/>
          <p:cNvSpPr txBox="1"/>
          <p:nvPr/>
        </p:nvSpPr>
        <p:spPr>
          <a:xfrm>
            <a:off x="5115458" y="1892808"/>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Photographs and location</a:t>
            </a:r>
            <a:endParaRPr lang="en-US" sz="1350" dirty="0"/>
          </a:p>
        </p:txBody>
      </p:sp>
      <p:sp>
        <p:nvSpPr>
          <p:cNvPr id="13" name="Text 9"/>
          <p:cNvSpPr txBox="1"/>
          <p:nvPr/>
        </p:nvSpPr>
        <p:spPr>
          <a:xfrm>
            <a:off x="4566818" y="2432304"/>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An image and a map pin on each report. Both would make duplicate detection possible, which is currently manual.</a:t>
            </a:r>
            <a:endParaRPr lang="en-US" sz="1080" dirty="0"/>
          </a:p>
        </p:txBody>
      </p:sp>
      <p:sp>
        <p:nvSpPr>
          <p:cNvPr id="14" name="Shape 10"/>
          <p:cNvSpPr/>
          <p:nvPr/>
        </p:nvSpPr>
        <p:spPr>
          <a:xfrm>
            <a:off x="8091221" y="1682496"/>
            <a:ext cx="3533546" cy="1737360"/>
          </a:xfrm>
          <a:prstGeom prst="roundRect">
            <a:avLst>
              <a:gd name="adj" fmla="val 5263"/>
            </a:avLst>
          </a:prstGeom>
          <a:solidFill>
            <a:srgbClr val="EDF4F4"/>
          </a:solidFill>
          <a:ln w="12700">
            <a:solidFill>
              <a:srgbClr val="D5E3E4"/>
            </a:solidFill>
            <a:prstDash val="solid"/>
          </a:ln>
        </p:spPr>
      </p:sp>
      <p:sp>
        <p:nvSpPr>
          <p:cNvPr id="15" name="Shape 11"/>
          <p:cNvSpPr/>
          <p:nvPr/>
        </p:nvSpPr>
        <p:spPr>
          <a:xfrm>
            <a:off x="8328965" y="1920240"/>
            <a:ext cx="420624" cy="420624"/>
          </a:xfrm>
          <a:prstGeom prst="ellipse">
            <a:avLst/>
          </a:prstGeom>
          <a:solidFill>
            <a:srgbClr val="0F7C8A"/>
          </a:solidFill>
          <a:ln/>
        </p:spPr>
      </p:sp>
      <p:pic>
        <p:nvPicPr>
          <p:cNvPr id="16" name="Image 2" descr="preencoded.png"/>
          <p:cNvPicPr>
            <a:picLocks noChangeAspect="1"/>
          </p:cNvPicPr>
          <p:nvPr/>
        </p:nvPicPr>
        <p:blipFill>
          <a:blip r:embed="rId5"/>
          <a:stretch>
            <a:fillRect/>
          </a:stretch>
        </p:blipFill>
        <p:spPr>
          <a:xfrm>
            <a:off x="8427811" y="2019087"/>
            <a:ext cx="222931" cy="222931"/>
          </a:xfrm>
          <a:prstGeom prst="rect">
            <a:avLst/>
          </a:prstGeom>
        </p:spPr>
      </p:pic>
      <p:sp>
        <p:nvSpPr>
          <p:cNvPr id="17" name="Text 12"/>
          <p:cNvSpPr txBox="1"/>
          <p:nvPr/>
        </p:nvSpPr>
        <p:spPr>
          <a:xfrm>
            <a:off x="8877605" y="1892808"/>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Email verification and reset</a:t>
            </a:r>
            <a:endParaRPr lang="en-US" sz="1350" dirty="0"/>
          </a:p>
        </p:txBody>
      </p:sp>
      <p:sp>
        <p:nvSpPr>
          <p:cNvPr id="18" name="Text 13"/>
          <p:cNvSpPr txBox="1"/>
          <p:nvPr/>
        </p:nvSpPr>
        <p:spPr>
          <a:xfrm>
            <a:off x="8328965" y="2432304"/>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Deliberately out of scope for this version. Needed before real accounts, since there is currently no way to recover a password.</a:t>
            </a:r>
            <a:endParaRPr lang="en-US" sz="1080" dirty="0"/>
          </a:p>
        </p:txBody>
      </p:sp>
      <p:sp>
        <p:nvSpPr>
          <p:cNvPr id="19" name="Shape 14"/>
          <p:cNvSpPr/>
          <p:nvPr/>
        </p:nvSpPr>
        <p:spPr>
          <a:xfrm>
            <a:off x="566928" y="3657600"/>
            <a:ext cx="3533546" cy="1737360"/>
          </a:xfrm>
          <a:prstGeom prst="roundRect">
            <a:avLst>
              <a:gd name="adj" fmla="val 5263"/>
            </a:avLst>
          </a:prstGeom>
          <a:solidFill>
            <a:srgbClr val="FFFFFF"/>
          </a:solidFill>
          <a:ln w="12700">
            <a:solidFill>
              <a:srgbClr val="D5E3E4"/>
            </a:solidFill>
            <a:prstDash val="solid"/>
          </a:ln>
        </p:spPr>
      </p:sp>
      <p:sp>
        <p:nvSpPr>
          <p:cNvPr id="20" name="Shape 15"/>
          <p:cNvSpPr/>
          <p:nvPr/>
        </p:nvSpPr>
        <p:spPr>
          <a:xfrm>
            <a:off x="804672" y="3895344"/>
            <a:ext cx="420624" cy="420624"/>
          </a:xfrm>
          <a:prstGeom prst="ellipse">
            <a:avLst/>
          </a:prstGeom>
          <a:solidFill>
            <a:srgbClr val="0F7C8A"/>
          </a:solidFill>
          <a:ln/>
        </p:spPr>
      </p:sp>
      <p:pic>
        <p:nvPicPr>
          <p:cNvPr id="21" name="Image 3" descr="preencoded.png"/>
          <p:cNvPicPr>
            <a:picLocks noChangeAspect="1"/>
          </p:cNvPicPr>
          <p:nvPr/>
        </p:nvPicPr>
        <p:blipFill>
          <a:blip r:embed="rId6"/>
          <a:stretch>
            <a:fillRect/>
          </a:stretch>
        </p:blipFill>
        <p:spPr>
          <a:xfrm>
            <a:off x="903519" y="3994191"/>
            <a:ext cx="222931" cy="222931"/>
          </a:xfrm>
          <a:prstGeom prst="rect">
            <a:avLst/>
          </a:prstGeom>
        </p:spPr>
      </p:pic>
      <p:sp>
        <p:nvSpPr>
          <p:cNvPr id="22" name="Text 16"/>
          <p:cNvSpPr txBox="1"/>
          <p:nvPr/>
        </p:nvSpPr>
        <p:spPr>
          <a:xfrm>
            <a:off x="1353312" y="386791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Multiple wards and languages</a:t>
            </a:r>
            <a:endParaRPr lang="en-US" sz="1350" dirty="0"/>
          </a:p>
        </p:txBody>
      </p:sp>
      <p:sp>
        <p:nvSpPr>
          <p:cNvPr id="23" name="Text 17"/>
          <p:cNvSpPr txBox="1"/>
          <p:nvPr/>
        </p:nvSpPr>
        <p:spPr>
          <a:xfrm>
            <a:off x="804672" y="4407408"/>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One board per ward with its own moderators, and Nepali and Hindi alongside English.</a:t>
            </a:r>
            <a:endParaRPr lang="en-US" sz="1080" dirty="0"/>
          </a:p>
        </p:txBody>
      </p:sp>
      <p:sp>
        <p:nvSpPr>
          <p:cNvPr id="24" name="Shape 18"/>
          <p:cNvSpPr/>
          <p:nvPr/>
        </p:nvSpPr>
        <p:spPr>
          <a:xfrm>
            <a:off x="4329074" y="3657600"/>
            <a:ext cx="3533546" cy="1737360"/>
          </a:xfrm>
          <a:prstGeom prst="roundRect">
            <a:avLst>
              <a:gd name="adj" fmla="val 5263"/>
            </a:avLst>
          </a:prstGeom>
          <a:solidFill>
            <a:srgbClr val="FFFFFF"/>
          </a:solidFill>
          <a:ln w="12700">
            <a:solidFill>
              <a:srgbClr val="D5E3E4"/>
            </a:solidFill>
            <a:prstDash val="solid"/>
          </a:ln>
        </p:spPr>
      </p:sp>
      <p:sp>
        <p:nvSpPr>
          <p:cNvPr id="25" name="Shape 19"/>
          <p:cNvSpPr/>
          <p:nvPr/>
        </p:nvSpPr>
        <p:spPr>
          <a:xfrm>
            <a:off x="4566818" y="3895344"/>
            <a:ext cx="420624" cy="420624"/>
          </a:xfrm>
          <a:prstGeom prst="ellipse">
            <a:avLst/>
          </a:prstGeom>
          <a:solidFill>
            <a:srgbClr val="0F7C8A"/>
          </a:solidFill>
          <a:ln/>
        </p:spPr>
      </p:sp>
      <p:pic>
        <p:nvPicPr>
          <p:cNvPr id="26" name="Image 4" descr="preencoded.png"/>
          <p:cNvPicPr>
            <a:picLocks noChangeAspect="1"/>
          </p:cNvPicPr>
          <p:nvPr/>
        </p:nvPicPr>
        <p:blipFill>
          <a:blip r:embed="rId7"/>
          <a:stretch>
            <a:fillRect/>
          </a:stretch>
        </p:blipFill>
        <p:spPr>
          <a:xfrm>
            <a:off x="4665665" y="3994191"/>
            <a:ext cx="222931" cy="222931"/>
          </a:xfrm>
          <a:prstGeom prst="rect">
            <a:avLst/>
          </a:prstGeom>
        </p:spPr>
      </p:pic>
      <p:sp>
        <p:nvSpPr>
          <p:cNvPr id="27" name="Text 20"/>
          <p:cNvSpPr txBox="1"/>
          <p:nvPr/>
        </p:nvSpPr>
        <p:spPr>
          <a:xfrm>
            <a:off x="5115458" y="386791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Ward performance reporting</a:t>
            </a:r>
            <a:endParaRPr lang="en-US" sz="1350" dirty="0"/>
          </a:p>
        </p:txBody>
      </p:sp>
      <p:sp>
        <p:nvSpPr>
          <p:cNvPr id="28" name="Text 21"/>
          <p:cNvSpPr txBox="1"/>
          <p:nvPr/>
        </p:nvSpPr>
        <p:spPr>
          <a:xfrm>
            <a:off x="4566818" y="4407408"/>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Median time from report to confirmed fix, per category and per ward, built from data the lifecycle already records.</a:t>
            </a:r>
            <a:endParaRPr lang="en-US" sz="1080" dirty="0"/>
          </a:p>
        </p:txBody>
      </p:sp>
      <p:sp>
        <p:nvSpPr>
          <p:cNvPr id="29" name="Shape 22"/>
          <p:cNvSpPr/>
          <p:nvPr/>
        </p:nvSpPr>
        <p:spPr>
          <a:xfrm>
            <a:off x="8091221" y="3657600"/>
            <a:ext cx="3533546" cy="1737360"/>
          </a:xfrm>
          <a:prstGeom prst="roundRect">
            <a:avLst>
              <a:gd name="adj" fmla="val 5263"/>
            </a:avLst>
          </a:prstGeom>
          <a:solidFill>
            <a:srgbClr val="FFFFFF"/>
          </a:solidFill>
          <a:ln w="12700">
            <a:solidFill>
              <a:srgbClr val="D5E3E4"/>
            </a:solidFill>
            <a:prstDash val="solid"/>
          </a:ln>
        </p:spPr>
      </p:sp>
      <p:sp>
        <p:nvSpPr>
          <p:cNvPr id="30" name="Shape 23"/>
          <p:cNvSpPr/>
          <p:nvPr/>
        </p:nvSpPr>
        <p:spPr>
          <a:xfrm>
            <a:off x="8328965" y="3895344"/>
            <a:ext cx="420624" cy="420624"/>
          </a:xfrm>
          <a:prstGeom prst="ellipse">
            <a:avLst/>
          </a:prstGeom>
          <a:solidFill>
            <a:srgbClr val="0F7C8A"/>
          </a:solidFill>
          <a:ln/>
        </p:spPr>
      </p:sp>
      <p:pic>
        <p:nvPicPr>
          <p:cNvPr id="31" name="Image 5" descr="preencoded.png"/>
          <p:cNvPicPr>
            <a:picLocks noChangeAspect="1"/>
          </p:cNvPicPr>
          <p:nvPr/>
        </p:nvPicPr>
        <p:blipFill>
          <a:blip r:embed="rId8"/>
          <a:stretch>
            <a:fillRect/>
          </a:stretch>
        </p:blipFill>
        <p:spPr>
          <a:xfrm>
            <a:off x="8427811" y="3994191"/>
            <a:ext cx="222931" cy="222931"/>
          </a:xfrm>
          <a:prstGeom prst="rect">
            <a:avLst/>
          </a:prstGeom>
        </p:spPr>
      </p:pic>
      <p:sp>
        <p:nvSpPr>
          <p:cNvPr id="32" name="Text 24"/>
          <p:cNvSpPr txBox="1"/>
          <p:nvPr/>
        </p:nvSpPr>
        <p:spPr>
          <a:xfrm>
            <a:off x="8877605" y="3867912"/>
            <a:ext cx="2509418" cy="457200"/>
          </a:xfrm>
          <a:prstGeom prst="rect">
            <a:avLst/>
          </a:prstGeom>
          <a:noFill/>
          <a:ln/>
        </p:spPr>
        <p:txBody>
          <a:bodyPr wrap="square" lIns="0" tIns="0" rIns="0" bIns="0" rtlCol="0" anchor="ctr"/>
          <a:lstStyle/>
          <a:p>
            <a:pPr marL="0" indent="0">
              <a:buNone/>
            </a:pPr>
            <a:r>
              <a:rPr lang="en-US" sz="1350" b="1" dirty="0">
                <a:solidFill>
                  <a:srgbClr val="0B1F22"/>
                </a:solidFill>
                <a:latin typeface="Cambria" pitchFamily="34" charset="0"/>
                <a:ea typeface="Cambria" pitchFamily="34" charset="-122"/>
                <a:cs typeface="Cambria" pitchFamily="34" charset="-120"/>
              </a:rPr>
              <a:t>Mobile application</a:t>
            </a:r>
            <a:endParaRPr lang="en-US" sz="1350" dirty="0"/>
          </a:p>
        </p:txBody>
      </p:sp>
      <p:sp>
        <p:nvSpPr>
          <p:cNvPr id="33" name="Text 25"/>
          <p:cNvSpPr txBox="1"/>
          <p:nvPr/>
        </p:nvSpPr>
        <p:spPr>
          <a:xfrm>
            <a:off x="8328965" y="4407408"/>
            <a:ext cx="3058058" cy="749808"/>
          </a:xfrm>
          <a:prstGeom prst="rect">
            <a:avLst/>
          </a:prstGeom>
          <a:noFill/>
          <a:ln/>
        </p:spPr>
        <p:txBody>
          <a:bodyPr wrap="square" lIns="0" tIns="0" rIns="0" bIns="0" rtlCol="0" anchor="t"/>
          <a:lstStyle/>
          <a:p>
            <a:pPr marL="0" indent="0">
              <a:lnSpc>
                <a:spcPct val="116000"/>
              </a:lnSpc>
              <a:buNone/>
            </a:pPr>
            <a:r>
              <a:rPr lang="en-US" sz="1080" dirty="0">
                <a:solidFill>
                  <a:srgbClr val="3D5559"/>
                </a:solidFill>
                <a:latin typeface="Calibri" pitchFamily="34" charset="0"/>
                <a:ea typeface="Calibri" pitchFamily="34" charset="-122"/>
                <a:cs typeface="Calibri" pitchFamily="34" charset="-120"/>
              </a:rPr>
              <a:t>The API is already stateless and token-based, so a native client needs no server changes.</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2229"/>
        </a:solidFill>
        <a:effectLst/>
      </p:bgPr>
    </p:bg>
    <p:spTree>
      <p:nvGrpSpPr>
        <p:cNvPr id="1" name=""/>
        <p:cNvGrpSpPr/>
        <p:nvPr/>
      </p:nvGrpSpPr>
      <p:grpSpPr>
        <a:xfrm>
          <a:off x="0" y="0"/>
          <a:ext cx="0" cy="0"/>
          <a:chOff x="0" y="0"/>
          <a:chExt cx="0" cy="0"/>
        </a:xfrm>
      </p:grpSpPr>
      <p:sp>
        <p:nvSpPr>
          <p:cNvPr id="2" name="Text 0"/>
          <p:cNvSpPr txBox="1"/>
          <p:nvPr/>
        </p:nvSpPr>
        <p:spPr>
          <a:xfrm>
            <a:off x="566928" y="402336"/>
            <a:ext cx="11057839" cy="713232"/>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566928" y="1316736"/>
            <a:ext cx="7589520" cy="914400"/>
          </a:xfrm>
          <a:prstGeom prst="rect">
            <a:avLst/>
          </a:prstGeom>
          <a:noFill/>
          <a:ln/>
        </p:spPr>
        <p:txBody>
          <a:bodyPr wrap="square" lIns="0" tIns="0" rIns="0" bIns="0" rtlCol="0" anchor="ctr"/>
          <a:lstStyle/>
          <a:p>
            <a:pPr marL="0" indent="0">
              <a:lnSpc>
                <a:spcPct val="126000"/>
              </a:lnSpc>
              <a:buNone/>
            </a:pPr>
            <a:r>
              <a:rPr lang="en-US" sz="1600" dirty="0">
                <a:solidFill>
                  <a:srgbClr val="E8F1F1"/>
                </a:solidFill>
                <a:latin typeface="Calibri" pitchFamily="34" charset="0"/>
                <a:ea typeface="Calibri" pitchFamily="34" charset="-122"/>
                <a:cs typeface="Calibri" pitchFamily="34" charset="-120"/>
              </a:rPr>
              <a:t>Nagarik takes a familiar idea — a public board for local problems — and adds the step that is usually missing: after the ward marks a repair done, the people who reported it decide whether it held.</a:t>
            </a:r>
            <a:endParaRPr lang="en-US" sz="1600" dirty="0"/>
          </a:p>
        </p:txBody>
      </p:sp>
      <p:sp>
        <p:nvSpPr>
          <p:cNvPr id="4" name="Shape 2"/>
          <p:cNvSpPr/>
          <p:nvPr/>
        </p:nvSpPr>
        <p:spPr>
          <a:xfrm>
            <a:off x="566928" y="2505456"/>
            <a:ext cx="3466490" cy="1883664"/>
          </a:xfrm>
          <a:prstGeom prst="roundRect">
            <a:avLst>
              <a:gd name="adj" fmla="val 5825"/>
            </a:avLst>
          </a:prstGeom>
          <a:solidFill>
            <a:srgbClr val="0C3139"/>
          </a:solidFill>
          <a:ln w="12700">
            <a:solidFill>
              <a:srgbClr val="1B4A52"/>
            </a:solidFill>
            <a:prstDash val="solid"/>
          </a:ln>
        </p:spPr>
      </p:sp>
      <p:sp>
        <p:nvSpPr>
          <p:cNvPr id="5" name="Shape 3"/>
          <p:cNvSpPr/>
          <p:nvPr/>
        </p:nvSpPr>
        <p:spPr>
          <a:xfrm>
            <a:off x="804672" y="2706624"/>
            <a:ext cx="420624" cy="420624"/>
          </a:xfrm>
          <a:prstGeom prst="ellipse">
            <a:avLst/>
          </a:prstGeom>
          <a:solidFill>
            <a:srgbClr val="0F7C8A"/>
          </a:solidFill>
          <a:ln/>
        </p:spPr>
      </p:sp>
      <p:pic>
        <p:nvPicPr>
          <p:cNvPr id="6" name="Image 0" descr="preencoded.png"/>
          <p:cNvPicPr>
            <a:picLocks noChangeAspect="1"/>
          </p:cNvPicPr>
          <p:nvPr/>
        </p:nvPicPr>
        <p:blipFill>
          <a:blip r:embed="rId3"/>
          <a:stretch>
            <a:fillRect/>
          </a:stretch>
        </p:blipFill>
        <p:spPr>
          <a:xfrm>
            <a:off x="903519" y="2805471"/>
            <a:ext cx="222931" cy="222931"/>
          </a:xfrm>
          <a:prstGeom prst="rect">
            <a:avLst/>
          </a:prstGeom>
        </p:spPr>
      </p:pic>
      <p:sp>
        <p:nvSpPr>
          <p:cNvPr id="7" name="Text 4"/>
          <p:cNvSpPr txBox="1"/>
          <p:nvPr/>
        </p:nvSpPr>
        <p:spPr>
          <a:xfrm>
            <a:off x="804672" y="3236976"/>
            <a:ext cx="2991002" cy="292608"/>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 working lifecycle</a:t>
            </a:r>
            <a:endParaRPr lang="en-US" sz="1350" dirty="0"/>
          </a:p>
        </p:txBody>
      </p:sp>
      <p:sp>
        <p:nvSpPr>
          <p:cNvPr id="8" name="Text 5"/>
          <p:cNvSpPr txBox="1"/>
          <p:nvPr/>
        </p:nvSpPr>
        <p:spPr>
          <a:xfrm>
            <a:off x="804672" y="3547872"/>
            <a:ext cx="2991002" cy="768096"/>
          </a:xfrm>
          <a:prstGeom prst="rect">
            <a:avLst/>
          </a:prstGeom>
          <a:noFill/>
          <a:ln/>
        </p:spPr>
        <p:txBody>
          <a:bodyPr wrap="square" lIns="0" tIns="0" rIns="0" bIns="0" rtlCol="0" anchor="ctr"/>
          <a:lstStyle/>
          <a:p>
            <a:pPr marL="0" indent="0">
              <a:lnSpc>
                <a:spcPct val="114000"/>
              </a:lnSpc>
              <a:buNone/>
            </a:pPr>
            <a:r>
              <a:rPr lang="en-US" sz="1040" dirty="0">
                <a:solidFill>
                  <a:srgbClr val="9FBDC1"/>
                </a:solidFill>
                <a:latin typeface="Calibri" pitchFamily="34" charset="0"/>
                <a:ea typeface="Calibri" pitchFamily="34" charset="-122"/>
                <a:cs typeface="Calibri" pitchFamily="34" charset="-120"/>
              </a:rPr>
              <a:t>Six states with named transitions, a time-boxed verification window, and a documented rule for every way it can settle.</a:t>
            </a:r>
            <a:endParaRPr lang="en-US" sz="1040" dirty="0"/>
          </a:p>
        </p:txBody>
      </p:sp>
      <p:sp>
        <p:nvSpPr>
          <p:cNvPr id="9" name="Shape 6"/>
          <p:cNvSpPr/>
          <p:nvPr/>
        </p:nvSpPr>
        <p:spPr>
          <a:xfrm>
            <a:off x="4362602" y="2505456"/>
            <a:ext cx="3466490" cy="1883664"/>
          </a:xfrm>
          <a:prstGeom prst="roundRect">
            <a:avLst>
              <a:gd name="adj" fmla="val 5825"/>
            </a:avLst>
          </a:prstGeom>
          <a:solidFill>
            <a:srgbClr val="0C3139"/>
          </a:solidFill>
          <a:ln w="12700">
            <a:solidFill>
              <a:srgbClr val="1B4A52"/>
            </a:solidFill>
            <a:prstDash val="solid"/>
          </a:ln>
        </p:spPr>
      </p:sp>
      <p:sp>
        <p:nvSpPr>
          <p:cNvPr id="10" name="Shape 7"/>
          <p:cNvSpPr/>
          <p:nvPr/>
        </p:nvSpPr>
        <p:spPr>
          <a:xfrm>
            <a:off x="4600346" y="2706624"/>
            <a:ext cx="420624" cy="420624"/>
          </a:xfrm>
          <a:prstGeom prst="ellipse">
            <a:avLst/>
          </a:prstGeom>
          <a:solidFill>
            <a:srgbClr val="0F7C8A"/>
          </a:solidFill>
          <a:ln/>
        </p:spPr>
      </p:sp>
      <p:pic>
        <p:nvPicPr>
          <p:cNvPr id="11" name="Image 1" descr="preencoded.png"/>
          <p:cNvPicPr>
            <a:picLocks noChangeAspect="1"/>
          </p:cNvPicPr>
          <p:nvPr/>
        </p:nvPicPr>
        <p:blipFill>
          <a:blip r:embed="rId4"/>
          <a:stretch>
            <a:fillRect/>
          </a:stretch>
        </p:blipFill>
        <p:spPr>
          <a:xfrm>
            <a:off x="4699193" y="2805471"/>
            <a:ext cx="222931" cy="222931"/>
          </a:xfrm>
          <a:prstGeom prst="rect">
            <a:avLst/>
          </a:prstGeom>
        </p:spPr>
      </p:pic>
      <p:sp>
        <p:nvSpPr>
          <p:cNvPr id="12" name="Text 8"/>
          <p:cNvSpPr txBox="1"/>
          <p:nvPr/>
        </p:nvSpPr>
        <p:spPr>
          <a:xfrm>
            <a:off x="4600346" y="3236976"/>
            <a:ext cx="2991002" cy="292608"/>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Built to be run</a:t>
            </a:r>
            <a:endParaRPr lang="en-US" sz="1350" dirty="0"/>
          </a:p>
        </p:txBody>
      </p:sp>
      <p:sp>
        <p:nvSpPr>
          <p:cNvPr id="13" name="Text 9"/>
          <p:cNvSpPr txBox="1"/>
          <p:nvPr/>
        </p:nvSpPr>
        <p:spPr>
          <a:xfrm>
            <a:off x="4600346" y="3547872"/>
            <a:ext cx="2991002" cy="768096"/>
          </a:xfrm>
          <a:prstGeom prst="rect">
            <a:avLst/>
          </a:prstGeom>
          <a:noFill/>
          <a:ln/>
        </p:spPr>
        <p:txBody>
          <a:bodyPr wrap="square" lIns="0" tIns="0" rIns="0" bIns="0" rtlCol="0" anchor="ctr"/>
          <a:lstStyle/>
          <a:p>
            <a:pPr marL="0" indent="0">
              <a:lnSpc>
                <a:spcPct val="114000"/>
              </a:lnSpc>
              <a:buNone/>
            </a:pPr>
            <a:r>
              <a:rPr lang="en-US" sz="1040" dirty="0">
                <a:solidFill>
                  <a:srgbClr val="9FBDC1"/>
                </a:solidFill>
                <a:latin typeface="Calibri" pitchFamily="34" charset="0"/>
                <a:ea typeface="Calibri" pitchFamily="34" charset="-122"/>
                <a:cs typeface="Calibri" pitchFamily="34" charset="-120"/>
              </a:rPr>
              <a:t>Email and password accounts, hashed credentials, token auth, role-separated routes, and a seeded database so it demonstrates on first start.</a:t>
            </a:r>
            <a:endParaRPr lang="en-US" sz="1040" dirty="0"/>
          </a:p>
        </p:txBody>
      </p:sp>
      <p:sp>
        <p:nvSpPr>
          <p:cNvPr id="14" name="Shape 10"/>
          <p:cNvSpPr/>
          <p:nvPr/>
        </p:nvSpPr>
        <p:spPr>
          <a:xfrm>
            <a:off x="8158277" y="2505456"/>
            <a:ext cx="3466490" cy="1883664"/>
          </a:xfrm>
          <a:prstGeom prst="roundRect">
            <a:avLst>
              <a:gd name="adj" fmla="val 5825"/>
            </a:avLst>
          </a:prstGeom>
          <a:solidFill>
            <a:srgbClr val="0C3139"/>
          </a:solidFill>
          <a:ln w="12700">
            <a:solidFill>
              <a:srgbClr val="1B4A52"/>
            </a:solidFill>
            <a:prstDash val="solid"/>
          </a:ln>
        </p:spPr>
      </p:sp>
      <p:sp>
        <p:nvSpPr>
          <p:cNvPr id="15" name="Shape 11"/>
          <p:cNvSpPr/>
          <p:nvPr/>
        </p:nvSpPr>
        <p:spPr>
          <a:xfrm>
            <a:off x="8396021" y="2706624"/>
            <a:ext cx="420624" cy="420624"/>
          </a:xfrm>
          <a:prstGeom prst="ellipse">
            <a:avLst/>
          </a:prstGeom>
          <a:solidFill>
            <a:srgbClr val="0F7C8A"/>
          </a:solidFill>
          <a:ln/>
        </p:spPr>
      </p:sp>
      <p:pic>
        <p:nvPicPr>
          <p:cNvPr id="16" name="Image 2" descr="preencoded.png"/>
          <p:cNvPicPr>
            <a:picLocks noChangeAspect="1"/>
          </p:cNvPicPr>
          <p:nvPr/>
        </p:nvPicPr>
        <p:blipFill>
          <a:blip r:embed="rId5"/>
          <a:stretch>
            <a:fillRect/>
          </a:stretch>
        </p:blipFill>
        <p:spPr>
          <a:xfrm>
            <a:off x="8494867" y="2805471"/>
            <a:ext cx="222931" cy="222931"/>
          </a:xfrm>
          <a:prstGeom prst="rect">
            <a:avLst/>
          </a:prstGeom>
        </p:spPr>
      </p:pic>
      <p:sp>
        <p:nvSpPr>
          <p:cNvPr id="17" name="Text 12"/>
          <p:cNvSpPr txBox="1"/>
          <p:nvPr/>
        </p:nvSpPr>
        <p:spPr>
          <a:xfrm>
            <a:off x="8396021" y="3236976"/>
            <a:ext cx="2991002" cy="292608"/>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Two purpose-built interfaces</a:t>
            </a:r>
            <a:endParaRPr lang="en-US" sz="1350" dirty="0"/>
          </a:p>
        </p:txBody>
      </p:sp>
      <p:sp>
        <p:nvSpPr>
          <p:cNvPr id="18" name="Text 13"/>
          <p:cNvSpPr txBox="1"/>
          <p:nvPr/>
        </p:nvSpPr>
        <p:spPr>
          <a:xfrm>
            <a:off x="8396021" y="3547872"/>
            <a:ext cx="2991002" cy="768096"/>
          </a:xfrm>
          <a:prstGeom prst="rect">
            <a:avLst/>
          </a:prstGeom>
          <a:noFill/>
          <a:ln/>
        </p:spPr>
        <p:txBody>
          <a:bodyPr wrap="square" lIns="0" tIns="0" rIns="0" bIns="0" rtlCol="0" anchor="ctr"/>
          <a:lstStyle/>
          <a:p>
            <a:pPr marL="0" indent="0">
              <a:lnSpc>
                <a:spcPct val="114000"/>
              </a:lnSpc>
              <a:buNone/>
            </a:pPr>
            <a:r>
              <a:rPr lang="en-US" sz="1040" dirty="0">
                <a:solidFill>
                  <a:srgbClr val="9FBDC1"/>
                </a:solidFill>
                <a:latin typeface="Calibri" pitchFamily="34" charset="0"/>
                <a:ea typeface="Calibri" pitchFamily="34" charset="-122"/>
                <a:cs typeface="Calibri" pitchFamily="34" charset="-120"/>
              </a:rPr>
              <a:t>A reading board and a dense moderator worklist, sharing one design system across light and dark themes.</a:t>
            </a:r>
            <a:endParaRPr lang="en-US" sz="1040" dirty="0"/>
          </a:p>
        </p:txBody>
      </p:sp>
      <p:sp>
        <p:nvSpPr>
          <p:cNvPr id="19" name="Text 14"/>
          <p:cNvSpPr txBox="1"/>
          <p:nvPr/>
        </p:nvSpPr>
        <p:spPr>
          <a:xfrm>
            <a:off x="566928" y="4718304"/>
            <a:ext cx="11057839"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0" name="Text 15"/>
          <p:cNvSpPr txBox="1"/>
          <p:nvPr/>
        </p:nvSpPr>
        <p:spPr>
          <a:xfrm>
            <a:off x="566928" y="5376672"/>
            <a:ext cx="11057839" cy="310896"/>
          </a:xfrm>
          <a:prstGeom prst="rect">
            <a:avLst/>
          </a:prstGeom>
          <a:noFill/>
          <a:ln/>
        </p:spPr>
        <p:txBody>
          <a:bodyPr wrap="square" lIns="0" tIns="0" rIns="0" bIns="0" rtlCol="0" anchor="ctr"/>
          <a:lstStyle/>
          <a:p>
            <a:pPr marL="0" indent="0">
              <a:buNone/>
            </a:pPr>
            <a:r>
              <a:rPr lang="en-US" sz="1400" dirty="0">
                <a:solidFill>
                  <a:srgbClr val="17A2AC"/>
                </a:solidFill>
                <a:latin typeface="Calibri" pitchFamily="34" charset="0"/>
                <a:ea typeface="Calibri" pitchFamily="34" charset="-122"/>
                <a:cs typeface="Calibri" pitchFamily="34" charset="-120"/>
              </a:rPr>
              <a:t>Questions are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4425</Words>
  <Application>Microsoft Office PowerPoint</Application>
  <PresentationFormat>Widescreen</PresentationFormat>
  <Paragraphs>320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Nagarik - civic issue reporting and verification</dc:title>
  <dc:subject>PptxGenJS Presentation</dc:subject>
  <dc:creator>Nagarik project</dc:creator>
  <cp:lastModifiedBy>Ayush Marathe</cp:lastModifiedBy>
  <cp:revision>1</cp:revision>
  <dcterms:created xsi:type="dcterms:W3CDTF">2026-10-09T11:14:57Z</dcterms:created>
  <dcterms:modified xsi:type="dcterms:W3CDTF">2026-10-09T11:46:03Z</dcterms:modified>
</cp:coreProperties>
</file>